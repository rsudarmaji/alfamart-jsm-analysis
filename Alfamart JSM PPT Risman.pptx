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81" r:id="rId5"/>
    <p:sldId id="282" r:id="rId6"/>
    <p:sldId id="283" r:id="rId7"/>
    <p:sldId id="302" r:id="rId8"/>
    <p:sldId id="285" r:id="rId9"/>
    <p:sldId id="286" r:id="rId10"/>
    <p:sldId id="303" r:id="rId11"/>
    <p:sldId id="306" r:id="rId12"/>
    <p:sldId id="307" r:id="rId13"/>
    <p:sldId id="308" r:id="rId14"/>
    <p:sldId id="309" r:id="rId15"/>
    <p:sldId id="310" r:id="rId16"/>
    <p:sldId id="311" r:id="rId17"/>
    <p:sldId id="312" r:id="rId18"/>
    <p:sldId id="304" r:id="rId19"/>
    <p:sldId id="313" r:id="rId20"/>
    <p:sldId id="314" r:id="rId21"/>
    <p:sldId id="305"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71719"/>
    <a:srgbClr val="ED1B24"/>
    <a:srgbClr val="2B5CAA"/>
    <a:srgbClr val="EAF6EE"/>
    <a:srgbClr val="FFD919"/>
    <a:srgbClr val="22547A"/>
    <a:srgbClr val="E0E3E7"/>
    <a:srgbClr val="FAFAFA"/>
    <a:srgbClr val="1A192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10"/>
    <p:restoredTop sz="94745"/>
  </p:normalViewPr>
  <p:slideViewPr>
    <p:cSldViewPr snapToGrid="0" snapToObjects="1">
      <p:cViewPr varScale="1">
        <p:scale>
          <a:sx n="106" d="100"/>
          <a:sy n="106" d="100"/>
        </p:scale>
        <p:origin x="1232" y="168"/>
      </p:cViewPr>
      <p:guideLst>
        <p:guide orient="horz" pos="2183"/>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barChart>
        <c:barDir val="bar"/>
        <c:grouping val="clustered"/>
        <c:varyColors val="1"/>
        <c:ser>
          <c:idx val="0"/>
          <c:order val="0"/>
          <c:tx>
            <c:strRef>
              <c:f>Sheet1!$B$1</c:f>
              <c:strCache>
                <c:ptCount val="1"/>
                <c:pt idx="0">
                  <c:v>Stores</c:v>
                </c:pt>
              </c:strCache>
            </c:strRef>
          </c:tx>
          <c:spPr>
            <a:solidFill>
              <a:srgbClr val="295B87"/>
            </a:solidFill>
            <a:ln>
              <a:solidFill>
                <a:srgbClr val="295B87"/>
              </a:solidFill>
            </a:ln>
          </c:spPr>
          <c:invertIfNegative val="1"/>
          <c:dPt>
            <c:idx val="1"/>
            <c:invertIfNegative val="1"/>
            <c:bubble3D val="0"/>
            <c:spPr>
              <a:solidFill>
                <a:srgbClr val="CC141F"/>
              </a:solidFill>
              <a:ln>
                <a:solidFill>
                  <a:srgbClr val="CC141F"/>
                </a:solidFill>
              </a:ln>
            </c:spPr>
            <c:extLst>
              <c:ext xmlns:c16="http://schemas.microsoft.com/office/drawing/2014/chart" uri="{C3380CC4-5D6E-409C-BE32-E72D297353CC}">
                <c16:uniqueId val="{00000001-09A7-6C46-B7CB-C4327A5C3F42}"/>
              </c:ext>
            </c:extLst>
          </c:dPt>
          <c:cat>
            <c:strRef>
              <c:f>Sheet1!$A$2:$A$6</c:f>
              <c:strCache>
                <c:ptCount val="5"/>
                <c:pt idx="0">
                  <c:v>Indomaret</c:v>
                </c:pt>
                <c:pt idx="1">
                  <c:v>Alfamart</c:v>
                </c:pt>
                <c:pt idx="2">
                  <c:v>Alfamidi</c:v>
                </c:pt>
                <c:pt idx="3">
                  <c:v>Circle K</c:v>
                </c:pt>
                <c:pt idx="4">
                  <c:v>Lawson</c:v>
                </c:pt>
              </c:strCache>
            </c:strRef>
          </c:cat>
          <c:val>
            <c:numRef>
              <c:f>Sheet1!$B$2:$B$6</c:f>
              <c:numCache>
                <c:formatCode>General</c:formatCode>
                <c:ptCount val="5"/>
                <c:pt idx="0">
                  <c:v>22682</c:v>
                </c:pt>
                <c:pt idx="1">
                  <c:v>20120</c:v>
                </c:pt>
                <c:pt idx="2">
                  <c:v>2373</c:v>
                </c:pt>
                <c:pt idx="3">
                  <c:v>500</c:v>
                </c:pt>
                <c:pt idx="4">
                  <c:v>374</c:v>
                </c:pt>
              </c:numCache>
            </c:numRef>
          </c:val>
          <c:extLst>
            <c:ext xmlns:c14="http://schemas.microsoft.com/office/drawing/2007/8/2/chart" uri="{6F2FDCE9-48DA-4B69-8628-5D25D57E5C99}">
              <c14:invertSolidFillFmt>
                <c14:spPr xmlns:c14="http://schemas.microsoft.com/office/drawing/2007/8/2/chart">
                  <a:solidFill>
                    <a:srgbClr val="FFFFFF"/>
                  </a:solidFill>
                  <a:ln>
                    <a:solidFill>
                      <a:srgbClr val="295B87"/>
                    </a:solidFill>
                  </a:ln>
                </c14:spPr>
              </c14:invertSolidFillFmt>
            </c:ext>
            <c:ext xmlns:c16="http://schemas.microsoft.com/office/drawing/2014/chart" uri="{C3380CC4-5D6E-409C-BE32-E72D297353CC}">
              <c16:uniqueId val="{00000002-09A7-6C46-B7CB-C4327A5C3F4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n-JP"/>
          </a:p>
        </c:txPr>
        <c:crossAx val="-2113994440"/>
        <c:crosses val="autoZero"/>
        <c:auto val="1"/>
        <c:lblAlgn val="ctr"/>
        <c:lblOffset val="100"/>
        <c:noMultiLvlLbl val="0"/>
      </c:catAx>
      <c:valAx>
        <c:axId val="-2113994440"/>
        <c:scaling>
          <c:orientation val="minMax"/>
        </c:scaling>
        <c:delete val="0"/>
        <c:axPos val="b"/>
        <c:majorGridlines>
          <c:spPr>
            <a:ln>
              <a:solidFill>
                <a:srgbClr val="EBEDF1"/>
              </a:solidFill>
            </a:ln>
          </c:spPr>
        </c:majorGridlines>
        <c:numFmt formatCode="General" sourceLinked="1"/>
        <c:majorTickMark val="out"/>
        <c:minorTickMark val="none"/>
        <c:tickLblPos val="nextTo"/>
        <c:txPr>
          <a:bodyPr/>
          <a:lstStyle/>
          <a:p>
            <a:pPr>
              <a:defRPr sz="900"/>
            </a:pPr>
            <a:endParaRPr lang="en-JP"/>
          </a:p>
        </c:txPr>
        <c:crossAx val="-2068027336"/>
        <c:crosses val="autoZero"/>
        <c:crossBetween val="between"/>
      </c:valAx>
    </c:plotArea>
    <c:plotVisOnly val="1"/>
    <c:dispBlanksAs val="gap"/>
    <c:showDLblsOverMax val="1"/>
  </c:chart>
  <c:txPr>
    <a:bodyPr/>
    <a:lstStyle/>
    <a:p>
      <a:pPr>
        <a:defRPr sz="1800"/>
      </a:pPr>
      <a:endParaRPr lang="en-JP"/>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overlay val="0"/>
    </c:title>
    <c:autoTitleDeleted val="0"/>
    <c:plotArea>
      <c:layout/>
      <c:lineChart>
        <c:grouping val="standard"/>
        <c:varyColors val="0"/>
        <c:ser>
          <c:idx val="0"/>
          <c:order val="0"/>
          <c:tx>
            <c:strRef>
              <c:f>Sheet1!$B$1</c:f>
              <c:strCache>
                <c:ptCount val="1"/>
                <c:pt idx="0">
                  <c:v>Net revenue (Rp tn)</c:v>
                </c:pt>
              </c:strCache>
            </c:strRef>
          </c:tx>
          <c:spPr>
            <a:ln w="31750">
              <a:solidFill>
                <a:srgbClr val="CC141F"/>
              </a:solidFill>
            </a:ln>
          </c:spPr>
          <c:marker>
            <c:symbol val="diamond"/>
            <c:size val="6"/>
            <c:spPr>
              <a:solidFill>
                <a:srgbClr val="CC141F"/>
              </a:solidFill>
              <a:ln>
                <a:solidFill>
                  <a:srgbClr val="CC141F"/>
                </a:solidFill>
              </a:ln>
            </c:spPr>
          </c:marker>
          <c:cat>
            <c:strRef>
              <c:f>Sheet1!$A$2:$A$9</c:f>
              <c:strCache>
                <c:ptCount val="8"/>
                <c:pt idx="0">
                  <c:v>2018</c:v>
                </c:pt>
                <c:pt idx="1">
                  <c:v>2019</c:v>
                </c:pt>
                <c:pt idx="2">
                  <c:v>2020</c:v>
                </c:pt>
                <c:pt idx="3">
                  <c:v>2021</c:v>
                </c:pt>
                <c:pt idx="4">
                  <c:v>2022</c:v>
                </c:pt>
                <c:pt idx="5">
                  <c:v>2023</c:v>
                </c:pt>
                <c:pt idx="6">
                  <c:v>2024</c:v>
                </c:pt>
                <c:pt idx="7">
                  <c:v>2025</c:v>
                </c:pt>
              </c:strCache>
            </c:strRef>
          </c:cat>
          <c:val>
            <c:numRef>
              <c:f>Sheet1!$B$2:$B$9</c:f>
              <c:numCache>
                <c:formatCode>General</c:formatCode>
                <c:ptCount val="8"/>
                <c:pt idx="0">
                  <c:v>66.819999999999993</c:v>
                </c:pt>
                <c:pt idx="1">
                  <c:v>72.94</c:v>
                </c:pt>
                <c:pt idx="2">
                  <c:v>75.83</c:v>
                </c:pt>
                <c:pt idx="3">
                  <c:v>84.9</c:v>
                </c:pt>
                <c:pt idx="4">
                  <c:v>96.92</c:v>
                </c:pt>
                <c:pt idx="5">
                  <c:v>106.94</c:v>
                </c:pt>
                <c:pt idx="6">
                  <c:v>118.23</c:v>
                </c:pt>
                <c:pt idx="7">
                  <c:v>126.74</c:v>
                </c:pt>
              </c:numCache>
            </c:numRef>
          </c:val>
          <c:smooth val="0"/>
          <c:extLst>
            <c:ext xmlns:c16="http://schemas.microsoft.com/office/drawing/2014/chart" uri="{C3380CC4-5D6E-409C-BE32-E72D297353CC}">
              <c16:uniqueId val="{00000000-6D7D-0C46-B9C3-17AEAD0834B5}"/>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900"/>
            </a:pPr>
            <a:endParaRPr lang="en-JP"/>
          </a:p>
        </c:txPr>
        <c:crossAx val="2140495176"/>
        <c:crosses val="autoZero"/>
        <c:auto val="1"/>
        <c:lblAlgn val="ctr"/>
        <c:lblOffset val="100"/>
        <c:noMultiLvlLbl val="0"/>
      </c:catAx>
      <c:valAx>
        <c:axId val="2140495176"/>
        <c:scaling>
          <c:orientation val="minMax"/>
          <c:max val="130"/>
          <c:min val="60"/>
        </c:scaling>
        <c:delete val="0"/>
        <c:axPos val="l"/>
        <c:majorGridlines>
          <c:spPr>
            <a:ln>
              <a:solidFill>
                <a:srgbClr val="EBEDF1"/>
              </a:solidFill>
            </a:ln>
          </c:spPr>
        </c:majorGridlines>
        <c:numFmt formatCode="General" sourceLinked="1"/>
        <c:majorTickMark val="out"/>
        <c:minorTickMark val="none"/>
        <c:tickLblPos val="nextTo"/>
        <c:txPr>
          <a:bodyPr/>
          <a:lstStyle/>
          <a:p>
            <a:pPr>
              <a:defRPr sz="900"/>
            </a:pPr>
            <a:endParaRPr lang="en-JP"/>
          </a:p>
        </c:txPr>
        <c:crossAx val="2118791784"/>
        <c:crosses val="autoZero"/>
        <c:crossBetween val="between"/>
        <c:majorUnit val="10"/>
      </c:valAx>
    </c:plotArea>
    <c:plotVisOnly val="1"/>
    <c:dispBlanksAs val="gap"/>
    <c:showDLblsOverMax val="0"/>
  </c:chart>
  <c:txPr>
    <a:bodyPr/>
    <a:lstStyle/>
    <a:p>
      <a:pPr>
        <a:defRPr sz="1800"/>
      </a:pPr>
      <a:endParaRPr lang="en-JP"/>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JSM Day</c:v>
                </c:pt>
              </c:strCache>
            </c:strRef>
          </c:tx>
          <c:spPr>
            <a:ln w="31750" cap="flat">
              <a:solidFill>
                <a:srgbClr val="D51C1C"/>
              </a:solidFill>
              <a:prstDash val="solid"/>
              <a:round/>
            </a:ln>
            <a:effectLst/>
          </c:spPr>
          <c:marker>
            <c:symbol val="circle"/>
            <c:size val="6"/>
            <c:spPr>
              <a:solidFill>
                <a:srgbClr val="D51C1C"/>
              </a:solidFill>
              <a:ln w="9525" cap="flat">
                <a:solidFill>
                  <a:srgbClr val="D51C1C"/>
                </a:solidFill>
                <a:prstDash val="solid"/>
                <a:round/>
              </a:ln>
              <a:effectLst/>
            </c:spPr>
          </c:marker>
          <c:cat>
            <c:strRef>
              <c:f>Sheet1!$A$2:$A$11</c:f>
              <c:strCache>
                <c:ptCount val="10"/>
                <c:pt idx="0">
                  <c:v>10</c:v>
                </c:pt>
                <c:pt idx="1">
                  <c:v>20</c:v>
                </c:pt>
                <c:pt idx="2">
                  <c:v>30</c:v>
                </c:pt>
                <c:pt idx="3">
                  <c:v>40</c:v>
                </c:pt>
                <c:pt idx="4">
                  <c:v>50</c:v>
                </c:pt>
                <c:pt idx="5">
                  <c:v>60</c:v>
                </c:pt>
                <c:pt idx="6">
                  <c:v>70</c:v>
                </c:pt>
                <c:pt idx="7">
                  <c:v>80</c:v>
                </c:pt>
                <c:pt idx="8">
                  <c:v>90</c:v>
                </c:pt>
                <c:pt idx="9">
                  <c:v>100</c:v>
                </c:pt>
              </c:strCache>
            </c:strRef>
          </c:cat>
          <c:val>
            <c:numRef>
              <c:f>Sheet1!$B$2:$B$11</c:f>
              <c:numCache>
                <c:formatCode>General</c:formatCode>
                <c:ptCount val="10"/>
                <c:pt idx="0">
                  <c:v>41.981999999999999</c:v>
                </c:pt>
                <c:pt idx="1">
                  <c:v>37.201999999999998</c:v>
                </c:pt>
                <c:pt idx="2">
                  <c:v>30.103999999999999</c:v>
                </c:pt>
                <c:pt idx="3">
                  <c:v>25.106000000000002</c:v>
                </c:pt>
                <c:pt idx="4">
                  <c:v>19.908999999999999</c:v>
                </c:pt>
                <c:pt idx="5">
                  <c:v>14.807</c:v>
                </c:pt>
                <c:pt idx="6">
                  <c:v>9.61</c:v>
                </c:pt>
                <c:pt idx="7">
                  <c:v>4.5190000000000001</c:v>
                </c:pt>
                <c:pt idx="8">
                  <c:v>4.2999999999999997E-2</c:v>
                </c:pt>
                <c:pt idx="9">
                  <c:v>4.2999999999999997E-2</c:v>
                </c:pt>
              </c:numCache>
            </c:numRef>
          </c:val>
          <c:smooth val="0"/>
          <c:extLst>
            <c:ext xmlns:c16="http://schemas.microsoft.com/office/drawing/2014/chart" uri="{C3380CC4-5D6E-409C-BE32-E72D297353CC}">
              <c16:uniqueId val="{00000000-D800-C84F-BDA4-80D2122BB958}"/>
            </c:ext>
          </c:extLst>
        </c:ser>
        <c:ser>
          <c:idx val="1"/>
          <c:order val="1"/>
          <c:tx>
            <c:strRef>
              <c:f>Sheet1!$C$1</c:f>
              <c:strCache>
                <c:ptCount val="1"/>
                <c:pt idx="0">
                  <c:v>Non JSM Day</c:v>
                </c:pt>
              </c:strCache>
            </c:strRef>
          </c:tx>
          <c:spPr>
            <a:ln w="31750" cap="flat">
              <a:solidFill>
                <a:srgbClr val="2B5CAA"/>
              </a:solidFill>
              <a:prstDash val="solid"/>
              <a:round/>
            </a:ln>
            <a:effectLst/>
          </c:spPr>
          <c:marker>
            <c:symbol val="circle"/>
            <c:size val="6"/>
            <c:spPr>
              <a:solidFill>
                <a:srgbClr val="1F2033"/>
              </a:solidFill>
              <a:ln w="9525" cap="flat">
                <a:solidFill>
                  <a:srgbClr val="1F2033"/>
                </a:solidFill>
                <a:prstDash val="solid"/>
                <a:round/>
              </a:ln>
              <a:effectLst/>
            </c:spPr>
          </c:marker>
          <c:cat>
            <c:strRef>
              <c:f>Sheet1!$A$2:$A$11</c:f>
              <c:strCache>
                <c:ptCount val="10"/>
                <c:pt idx="0">
                  <c:v>10</c:v>
                </c:pt>
                <c:pt idx="1">
                  <c:v>20</c:v>
                </c:pt>
                <c:pt idx="2">
                  <c:v>30</c:v>
                </c:pt>
                <c:pt idx="3">
                  <c:v>40</c:v>
                </c:pt>
                <c:pt idx="4">
                  <c:v>50</c:v>
                </c:pt>
                <c:pt idx="5">
                  <c:v>60</c:v>
                </c:pt>
                <c:pt idx="6">
                  <c:v>70</c:v>
                </c:pt>
                <c:pt idx="7">
                  <c:v>80</c:v>
                </c:pt>
                <c:pt idx="8">
                  <c:v>90</c:v>
                </c:pt>
                <c:pt idx="9">
                  <c:v>100</c:v>
                </c:pt>
              </c:strCache>
            </c:strRef>
          </c:cat>
          <c:val>
            <c:numRef>
              <c:f>Sheet1!$C$2:$C$11</c:f>
              <c:numCache>
                <c:formatCode>General</c:formatCode>
                <c:ptCount val="10"/>
                <c:pt idx="0">
                  <c:v>16.588000000000001</c:v>
                </c:pt>
                <c:pt idx="1">
                  <c:v>12.494999999999999</c:v>
                </c:pt>
                <c:pt idx="2">
                  <c:v>7.9109999999999996</c:v>
                </c:pt>
                <c:pt idx="3">
                  <c:v>6.5350000000000001</c:v>
                </c:pt>
                <c:pt idx="4">
                  <c:v>5.2270000000000003</c:v>
                </c:pt>
                <c:pt idx="5">
                  <c:v>3.847</c:v>
                </c:pt>
                <c:pt idx="6">
                  <c:v>2.4209999999999998</c:v>
                </c:pt>
                <c:pt idx="7">
                  <c:v>1.1459999999999999</c:v>
                </c:pt>
                <c:pt idx="8">
                  <c:v>7.4999999999999997E-2</c:v>
                </c:pt>
                <c:pt idx="9">
                  <c:v>7.4999999999999997E-2</c:v>
                </c:pt>
              </c:numCache>
            </c:numRef>
          </c:val>
          <c:smooth val="0"/>
          <c:extLst>
            <c:ext xmlns:c16="http://schemas.microsoft.com/office/drawing/2014/chart" uri="{C3380CC4-5D6E-409C-BE32-E72D297353CC}">
              <c16:uniqueId val="{00000001-D800-C84F-BDA4-80D2122BB95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r>
                  <a:rPr lang="en-ID" sz="900">
                    <a:solidFill>
                      <a:srgbClr val="23232B"/>
                    </a:solidFill>
                    <a:latin typeface="Aptos"/>
                  </a:rPr>
                  <a:t>Quantity threshold (units)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ptos"/>
              </a:defRPr>
            </a:pPr>
            <a:endParaRPr lang="en-JP"/>
          </a:p>
        </c:txPr>
        <c:crossAx val="2094734552"/>
        <c:crosses val="autoZero"/>
        <c:auto val="1"/>
        <c:lblAlgn val="ctr"/>
        <c:lblOffset val="100"/>
        <c:noMultiLvlLbl val="1"/>
      </c:catAx>
      <c:valAx>
        <c:axId val="2094734552"/>
        <c:scaling>
          <c:orientation val="minMax"/>
          <c:max val="45"/>
          <c:min val="0"/>
        </c:scaling>
        <c:delete val="0"/>
        <c:axPos val="l"/>
        <c:majorGridlines>
          <c:spPr>
            <a:ln w="12700" cap="flat">
              <a:solidFill>
                <a:srgbClr val="888888"/>
              </a:solidFill>
              <a:prstDash val="solid"/>
              <a:round/>
            </a:ln>
          </c:spPr>
        </c:majorGridlines>
        <c:title>
          <c:tx>
            <c:rich>
              <a:bodyPr/>
              <a:lstStyle/>
              <a:p>
                <a:r>
                  <a:rPr lang="en-ID" sz="900">
                    <a:solidFill>
                      <a:srgbClr val="23232B"/>
                    </a:solidFill>
                    <a:latin typeface="Aptos"/>
                  </a:rPr>
                  <a:t>Transactions above threshold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JP"/>
          </a:p>
        </c:txPr>
        <c:crossAx val="2094734554"/>
        <c:crosses val="autoZero"/>
        <c:crossBetween val="between"/>
        <c:majorUnit val="10"/>
      </c:valAx>
      <c:spPr>
        <a:noFill/>
        <a:ln w="12700" cap="flat">
          <a:solidFill>
            <a:srgbClr val="D9D2C7"/>
          </a:solid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ED1B24"/>
              </a:solidFill>
              <a:effectLst/>
            </c:spPr>
            <c:extLst>
              <c:ext xmlns:c16="http://schemas.microsoft.com/office/drawing/2014/chart" uri="{C3380CC4-5D6E-409C-BE32-E72D297353CC}">
                <c16:uniqueId val="{00000001-655C-2A47-AB2E-E3CBDF2C38EE}"/>
              </c:ext>
            </c:extLst>
          </c:dPt>
          <c:dPt>
            <c:idx val="1"/>
            <c:bubble3D val="0"/>
            <c:spPr>
              <a:solidFill>
                <a:srgbClr val="D9D2C7"/>
              </a:solidFill>
              <a:effectLst/>
            </c:spPr>
            <c:extLst>
              <c:ext xmlns:c16="http://schemas.microsoft.com/office/drawing/2014/chart" uri="{C3380CC4-5D6E-409C-BE32-E72D297353CC}">
                <c16:uniqueId val="{00000003-655C-2A47-AB2E-E3CBDF2C38EE}"/>
              </c:ext>
            </c:extLst>
          </c:dPt>
          <c:dLbls>
            <c:dLbl>
              <c:idx val="0"/>
              <c:numFmt formatCode="0%" sourceLinked="0"/>
              <c:spPr/>
              <c:txPr>
                <a:bodyPr/>
                <a:lstStyle/>
                <a:p>
                  <a:pPr>
                    <a:defRPr sz="1200" b="0" i="0" u="none" strike="noStrike">
                      <a:solidFill>
                        <a:srgbClr val="000000"/>
                      </a:solidFill>
                      <a:latin typeface="Arial"/>
                    </a:defRPr>
                  </a:pPr>
                  <a:endParaRPr lang="en-JP"/>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55C-2A47-AB2E-E3CBDF2C38EE}"/>
                </c:ext>
              </c:extLst>
            </c:dLbl>
            <c:dLbl>
              <c:idx val="1"/>
              <c:numFmt formatCode="0%" sourceLinked="0"/>
              <c:spPr/>
              <c:txPr>
                <a:bodyPr/>
                <a:lstStyle/>
                <a:p>
                  <a:pPr>
                    <a:defRPr sz="1200" b="0" i="0" u="none" strike="noStrike">
                      <a:solidFill>
                        <a:srgbClr val="000000"/>
                      </a:solidFill>
                      <a:latin typeface="Arial"/>
                    </a:defRPr>
                  </a:pPr>
                  <a:endParaRPr lang="en-JP"/>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55C-2A47-AB2E-E3CBDF2C38EE}"/>
                </c:ext>
              </c:extLst>
            </c:dLbl>
            <c:numFmt formatCode="0%" sourceLinked="0"/>
            <c:spPr>
              <a:noFill/>
              <a:ln>
                <a:noFill/>
              </a:ln>
              <a:effectLst/>
            </c:spPr>
            <c:txPr>
              <a:bodyPr/>
              <a:lstStyle/>
              <a:p>
                <a:pPr>
                  <a:defRPr sz="1800" b="0" i="0" u="none" strike="noStrike">
                    <a:solidFill>
                      <a:srgbClr val="000000"/>
                    </a:solidFill>
                    <a:latin typeface="Arial"/>
                  </a:defRPr>
                </a:pPr>
                <a:endParaRPr lang="en-JP"/>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High volume</c:v>
                </c:pt>
                <c:pt idx="1">
                  <c:v>Other</c:v>
                </c:pt>
              </c:strCache>
            </c:strRef>
          </c:cat>
          <c:val>
            <c:numRef>
              <c:f>Sheet1!$B$2:$B$3</c:f>
              <c:numCache>
                <c:formatCode>General</c:formatCode>
                <c:ptCount val="2"/>
                <c:pt idx="0">
                  <c:v>74.14</c:v>
                </c:pt>
                <c:pt idx="1">
                  <c:v>25.86</c:v>
                </c:pt>
              </c:numCache>
            </c:numRef>
          </c:val>
          <c:extLst>
            <c:ext xmlns:c16="http://schemas.microsoft.com/office/drawing/2014/chart" uri="{C3380CC4-5D6E-409C-BE32-E72D297353CC}">
              <c16:uniqueId val="{00000004-655C-2A47-AB2E-E3CBDF2C38EE}"/>
            </c:ext>
          </c:extLst>
        </c:ser>
        <c:dLbls>
          <c:showLegendKey val="0"/>
          <c:showVal val="0"/>
          <c:showCatName val="0"/>
          <c:showSerName val="0"/>
          <c:showPercent val="0"/>
          <c:showBubbleSize val="0"/>
          <c:showLeaderLines val="0"/>
        </c:dLbls>
        <c:firstSliceAng val="0"/>
        <c:holeSize val="67"/>
      </c:doughnutChart>
      <c:spPr>
        <a:noFill/>
        <a:ln w="12700" cap="flat">
          <a:solidFill>
            <a:srgbClr val="FFFFFF"/>
          </a:solid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Affected transactions (%)</c:v>
                </c:pt>
              </c:strCache>
            </c:strRef>
          </c:tx>
          <c:spPr>
            <a:solidFill>
              <a:srgbClr val="2B5CAA"/>
            </a:solidFill>
            <a:ln>
              <a:solidFill>
                <a:srgbClr val="23547A"/>
              </a:solidFill>
            </a:ln>
            <a:effectLst/>
          </c:spPr>
          <c:invertIfNegative val="0"/>
          <c:dLbls>
            <c:numFmt formatCode="0.00&quot;%&quot;" sourceLinked="0"/>
            <c:spPr>
              <a:noFill/>
              <a:ln>
                <a:noFill/>
              </a:ln>
              <a:effectLst/>
            </c:spPr>
            <c:txPr>
              <a:bodyPr/>
              <a:lstStyle/>
              <a:p>
                <a:pPr>
                  <a:defRPr sz="900" b="0" i="0" u="none" strike="noStrike">
                    <a:solidFill>
                      <a:srgbClr val="000000"/>
                    </a:solidFill>
                    <a:latin typeface="Arial"/>
                  </a:defRPr>
                </a:pPr>
                <a:endParaRPr lang="en-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Limit 10</c:v>
                </c:pt>
                <c:pt idx="1">
                  <c:v>Limit 20</c:v>
                </c:pt>
                <c:pt idx="2">
                  <c:v>Limit 30</c:v>
                </c:pt>
                <c:pt idx="3">
                  <c:v>Limit 40</c:v>
                </c:pt>
              </c:strCache>
            </c:strRef>
          </c:cat>
          <c:val>
            <c:numRef>
              <c:f>Sheet1!$B$2:$B$5</c:f>
              <c:numCache>
                <c:formatCode>General</c:formatCode>
                <c:ptCount val="4"/>
                <c:pt idx="0">
                  <c:v>41.96</c:v>
                </c:pt>
                <c:pt idx="1">
                  <c:v>37.18</c:v>
                </c:pt>
                <c:pt idx="2">
                  <c:v>30.07</c:v>
                </c:pt>
                <c:pt idx="3">
                  <c:v>25.07</c:v>
                </c:pt>
              </c:numCache>
            </c:numRef>
          </c:val>
          <c:extLst>
            <c:ext xmlns:c16="http://schemas.microsoft.com/office/drawing/2014/chart" uri="{C3380CC4-5D6E-409C-BE32-E72D297353CC}">
              <c16:uniqueId val="{00000000-DF8A-9441-B82E-48CEC4D47EFE}"/>
            </c:ext>
          </c:extLst>
        </c:ser>
        <c:ser>
          <c:idx val="1"/>
          <c:order val="1"/>
          <c:tx>
            <c:strRef>
              <c:f>Sheet1!$C$1</c:f>
              <c:strCache>
                <c:ptCount val="1"/>
                <c:pt idx="0">
                  <c:v>Discount exposure reduction (%)</c:v>
                </c:pt>
              </c:strCache>
            </c:strRef>
          </c:tx>
          <c:spPr>
            <a:solidFill>
              <a:srgbClr val="ED1B24"/>
            </a:solidFill>
            <a:ln>
              <a:solidFill>
                <a:srgbClr val="D51C1C"/>
              </a:solidFill>
            </a:ln>
            <a:effectLst/>
          </c:spPr>
          <c:invertIfNegative val="0"/>
          <c:dLbls>
            <c:numFmt formatCode="0.00&quot;%&quot;" sourceLinked="0"/>
            <c:spPr>
              <a:noFill/>
              <a:ln>
                <a:noFill/>
              </a:ln>
              <a:effectLst/>
            </c:spPr>
            <c:txPr>
              <a:bodyPr/>
              <a:lstStyle/>
              <a:p>
                <a:pPr>
                  <a:defRPr sz="900" b="0" i="0" u="none" strike="noStrike">
                    <a:solidFill>
                      <a:srgbClr val="000000"/>
                    </a:solidFill>
                    <a:latin typeface="Arial"/>
                  </a:defRPr>
                </a:pPr>
                <a:endParaRPr lang="en-JP"/>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Limit 10</c:v>
                </c:pt>
                <c:pt idx="1">
                  <c:v>Limit 20</c:v>
                </c:pt>
                <c:pt idx="2">
                  <c:v>Limit 30</c:v>
                </c:pt>
                <c:pt idx="3">
                  <c:v>Limit 40</c:v>
                </c:pt>
              </c:strCache>
            </c:strRef>
          </c:cat>
          <c:val>
            <c:numRef>
              <c:f>Sheet1!$C$2:$C$5</c:f>
              <c:numCache>
                <c:formatCode>General</c:formatCode>
                <c:ptCount val="4"/>
                <c:pt idx="0">
                  <c:v>74.569999999999993</c:v>
                </c:pt>
                <c:pt idx="1">
                  <c:v>56.42</c:v>
                </c:pt>
                <c:pt idx="2">
                  <c:v>41.05</c:v>
                </c:pt>
                <c:pt idx="3">
                  <c:v>28.35</c:v>
                </c:pt>
              </c:numCache>
            </c:numRef>
          </c:val>
          <c:extLst>
            <c:ext xmlns:c16="http://schemas.microsoft.com/office/drawing/2014/chart" uri="{C3380CC4-5D6E-409C-BE32-E72D297353CC}">
              <c16:uniqueId val="{00000001-DF8A-9441-B82E-48CEC4D47EF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JP"/>
          </a:p>
        </c:txPr>
        <c:crossAx val="2094734552"/>
        <c:crosses val="autoZero"/>
        <c:auto val="1"/>
        <c:lblAlgn val="ctr"/>
        <c:lblOffset val="100"/>
        <c:noMultiLvlLbl val="1"/>
      </c:catAx>
      <c:valAx>
        <c:axId val="2094734552"/>
        <c:scaling>
          <c:orientation val="minMax"/>
          <c:max val="8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JP"/>
          </a:p>
        </c:txPr>
        <c:crossAx val="2094734554"/>
        <c:crosses val="autoZero"/>
        <c:crossBetween val="between"/>
        <c:majorUnit val="20"/>
      </c:valAx>
      <c:spPr>
        <a:noFill/>
        <a:ln w="12700" cap="flat">
          <a:solidFill>
            <a:srgbClr val="D9D2C7"/>
          </a:solid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07AF5A-A671-7145-A5EC-C5DB00398789}" type="datetimeFigureOut">
              <a:rPr lang="en-US" smtClean="0"/>
              <a:t>10/19/26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046B24-6F7A-9147-A829-0D06C8AFEB57}" type="slidenum">
              <a:rPr lang="en-US" smtClean="0"/>
              <a:t>‹#›</a:t>
            </a:fld>
            <a:endParaRPr lang="en-US"/>
          </a:p>
        </p:txBody>
      </p:sp>
    </p:spTree>
    <p:extLst>
      <p:ext uri="{BB962C8B-B14F-4D97-AF65-F5344CB8AC3E}">
        <p14:creationId xmlns:p14="http://schemas.microsoft.com/office/powerpoint/2010/main" val="1367677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587B80A-68C7-77FA-1A48-926E882805E5}"/>
              </a:ext>
            </a:extLst>
          </p:cNvPr>
          <p:cNvSpPr/>
          <p:nvPr/>
        </p:nvSpPr>
        <p:spPr>
          <a:xfrm>
            <a:off x="-1" y="-1"/>
            <a:ext cx="12192001" cy="6858001"/>
          </a:xfrm>
          <a:prstGeom prst="rect">
            <a:avLst/>
          </a:prstGeom>
          <a:gradFill flip="none" rotWithShape="1">
            <a:gsLst>
              <a:gs pos="0">
                <a:srgbClr val="E0E3E7"/>
              </a:gs>
              <a:gs pos="100000">
                <a:srgbClr val="FAFAFA"/>
              </a:gs>
            </a:gsLst>
            <a:lin ang="5400000" scaled="1"/>
            <a:tileRec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Box 3"/>
          <p:cNvSpPr txBox="1"/>
          <p:nvPr/>
        </p:nvSpPr>
        <p:spPr>
          <a:xfrm>
            <a:off x="6823715" y="2397750"/>
            <a:ext cx="4839466" cy="1107996"/>
          </a:xfrm>
          <a:prstGeom prst="rect">
            <a:avLst/>
          </a:prstGeom>
          <a:noFill/>
        </p:spPr>
        <p:txBody>
          <a:bodyPr wrap="none" lIns="0" tIns="0" rIns="0" bIns="0">
            <a:spAutoFit/>
          </a:bodyPr>
          <a:lstStyle/>
          <a:p>
            <a:r>
              <a:rPr lang="en-ID" sz="3200" b="1" dirty="0">
                <a:effectLst>
                  <a:outerShdw blurRad="50800" dist="38100" dir="10800000" algn="r" rotWithShape="0">
                    <a:prstClr val="black">
                      <a:alpha val="40000"/>
                    </a:prstClr>
                  </a:outerShdw>
                </a:effectLst>
              </a:rPr>
              <a:t>Optimizing JSM Promotions:</a:t>
            </a:r>
            <a:endParaRPr lang="en-ID" sz="3200" dirty="0">
              <a:effectLst>
                <a:outerShdw blurRad="50800" dist="38100" dir="10800000" algn="r" rotWithShape="0">
                  <a:prstClr val="black">
                    <a:alpha val="40000"/>
                  </a:prstClr>
                </a:outerShdw>
              </a:effectLst>
            </a:endParaRPr>
          </a:p>
          <a:p>
            <a:r>
              <a:rPr lang="en-ID" sz="2000" b="1" dirty="0">
                <a:effectLst>
                  <a:outerShdw blurRad="50800" dist="38100" dir="10800000" algn="r" rotWithShape="0">
                    <a:prstClr val="black">
                      <a:alpha val="40000"/>
                    </a:prstClr>
                  </a:outerShdw>
                </a:effectLst>
              </a:rPr>
              <a:t>High-Volume Purchase Analysis and Discount </a:t>
            </a:r>
          </a:p>
          <a:p>
            <a:r>
              <a:rPr lang="en-ID" sz="2000" b="1" dirty="0">
                <a:effectLst>
                  <a:outerShdw blurRad="50800" dist="38100" dir="10800000" algn="r" rotWithShape="0">
                    <a:prstClr val="black">
                      <a:alpha val="40000"/>
                    </a:prstClr>
                  </a:outerShdw>
                </a:effectLst>
              </a:rPr>
              <a:t>Protection Strategy</a:t>
            </a:r>
            <a:endParaRPr lang="en-ID" sz="2000" dirty="0">
              <a:effectLst>
                <a:outerShdw blurRad="50800" dist="38100" dir="10800000" algn="r" rotWithShape="0">
                  <a:prstClr val="black">
                    <a:alpha val="40000"/>
                  </a:prstClr>
                </a:outerShdw>
              </a:effectLst>
            </a:endParaRPr>
          </a:p>
        </p:txBody>
      </p:sp>
      <p:sp>
        <p:nvSpPr>
          <p:cNvPr id="6" name="TextBox 5"/>
          <p:cNvSpPr txBox="1"/>
          <p:nvPr/>
        </p:nvSpPr>
        <p:spPr>
          <a:xfrm>
            <a:off x="6823715" y="3961310"/>
            <a:ext cx="1811393" cy="265778"/>
          </a:xfrm>
          <a:prstGeom prst="rect">
            <a:avLst/>
          </a:prstGeom>
          <a:noFill/>
        </p:spPr>
        <p:txBody>
          <a:bodyPr wrap="none" lIns="0" tIns="0" rIns="0" bIns="0">
            <a:spAutoFit/>
          </a:bodyPr>
          <a:lstStyle/>
          <a:p>
            <a:pPr>
              <a:spcBef>
                <a:spcPts val="0"/>
              </a:spcBef>
              <a:spcAft>
                <a:spcPts val="0"/>
              </a:spcAft>
            </a:pPr>
            <a:r>
              <a:rPr lang="en-US" sz="1727" b="0" i="0" dirty="0">
                <a:latin typeface="Arial"/>
              </a:rPr>
              <a:t>Risman </a:t>
            </a:r>
            <a:r>
              <a:rPr lang="en-US" sz="1727" b="0" i="0" dirty="0" err="1">
                <a:latin typeface="Arial"/>
              </a:rPr>
              <a:t>Sudarmaji</a:t>
            </a:r>
            <a:endParaRPr sz="1727" b="0" i="0" dirty="0">
              <a:latin typeface="Arial"/>
            </a:endParaRPr>
          </a:p>
        </p:txBody>
      </p:sp>
      <p:cxnSp>
        <p:nvCxnSpPr>
          <p:cNvPr id="11" name="Straight Connector 10">
            <a:extLst>
              <a:ext uri="{FF2B5EF4-FFF2-40B4-BE49-F238E27FC236}">
                <a16:creationId xmlns:a16="http://schemas.microsoft.com/office/drawing/2014/main" id="{68C1E959-7AD7-1EDF-1A3B-6ADCCDCC83BE}"/>
              </a:ext>
            </a:extLst>
          </p:cNvPr>
          <p:cNvCxnSpPr>
            <a:cxnSpLocks/>
          </p:cNvCxnSpPr>
          <p:nvPr/>
        </p:nvCxnSpPr>
        <p:spPr>
          <a:xfrm>
            <a:off x="6823715" y="3657600"/>
            <a:ext cx="4839466" cy="0"/>
          </a:xfrm>
          <a:prstGeom prst="line">
            <a:avLst/>
          </a:prstGeom>
          <a:ln w="41275">
            <a:solidFill>
              <a:srgbClr val="C71719"/>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4427322D-F8F3-F2AF-60BA-FEAC8F5B6C54}"/>
              </a:ext>
            </a:extLst>
          </p:cNvPr>
          <p:cNvPicPr>
            <a:picLocks noChangeAspect="1"/>
          </p:cNvPicPr>
          <p:nvPr/>
        </p:nvPicPr>
        <p:blipFill>
          <a:blip r:embed="rId2"/>
          <a:srcRect l="1751"/>
          <a:stretch>
            <a:fillRect/>
          </a:stretch>
        </p:blipFill>
        <p:spPr>
          <a:xfrm>
            <a:off x="-1" y="0"/>
            <a:ext cx="6294897"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02.png"/>
          <p:cNvPicPr>
            <a:picLocks noChangeAspect="1"/>
          </p:cNvPicPr>
          <p:nvPr/>
        </p:nvPicPr>
        <p:blipFill>
          <a:blip r:embed="rId2"/>
          <a:stretch>
            <a:fillRect/>
          </a:stretch>
        </p:blipFill>
        <p:spPr>
          <a:xfrm>
            <a:off x="0" y="0"/>
            <a:ext cx="12191999" cy="6858000"/>
          </a:xfrm>
          <a:prstGeom prst="rect">
            <a:avLst/>
          </a:prstGeom>
        </p:spPr>
      </p:pic>
      <p:sp>
        <p:nvSpPr>
          <p:cNvPr id="3" name="TextBox 2"/>
          <p:cNvSpPr txBox="1"/>
          <p:nvPr/>
        </p:nvSpPr>
        <p:spPr>
          <a:xfrm>
            <a:off x="604519" y="661585"/>
            <a:ext cx="2221762" cy="615425"/>
          </a:xfrm>
          <a:prstGeom prst="rect">
            <a:avLst/>
          </a:prstGeom>
          <a:noFill/>
        </p:spPr>
        <p:txBody>
          <a:bodyPr wrap="none" lIns="0" tIns="0" rIns="0" bIns="0">
            <a:spAutoFit/>
          </a:bodyPr>
          <a:lstStyle/>
          <a:p>
            <a:pPr>
              <a:spcBef>
                <a:spcPts val="0"/>
              </a:spcBef>
              <a:spcAft>
                <a:spcPts val="0"/>
              </a:spcAft>
            </a:pPr>
            <a:r>
              <a:rPr sz="3999" b="1" i="0" dirty="0">
                <a:solidFill>
                  <a:srgbClr val="ED1B24"/>
                </a:solidFill>
                <a:latin typeface="Arial"/>
              </a:rPr>
              <a:t>Contents</a:t>
            </a:r>
          </a:p>
        </p:txBody>
      </p:sp>
      <p:sp>
        <p:nvSpPr>
          <p:cNvPr id="4" name="TextBox 3"/>
          <p:cNvSpPr txBox="1"/>
          <p:nvPr/>
        </p:nvSpPr>
        <p:spPr>
          <a:xfrm>
            <a:off x="604519" y="1965497"/>
            <a:ext cx="416781" cy="450444"/>
          </a:xfrm>
          <a:prstGeom prst="rect">
            <a:avLst/>
          </a:prstGeom>
          <a:noFill/>
        </p:spPr>
        <p:txBody>
          <a:bodyPr wrap="none" lIns="0" tIns="0" rIns="0" bIns="0">
            <a:spAutoFit/>
          </a:bodyPr>
          <a:lstStyle/>
          <a:p>
            <a:pPr>
              <a:spcBef>
                <a:spcPts val="0"/>
              </a:spcBef>
              <a:spcAft>
                <a:spcPts val="0"/>
              </a:spcAft>
            </a:pPr>
            <a:r>
              <a:rPr sz="2927" b="1" i="0" dirty="0">
                <a:solidFill>
                  <a:srgbClr val="ED1B24"/>
                </a:solidFill>
                <a:latin typeface="Arial"/>
              </a:rPr>
              <a:t>01</a:t>
            </a:r>
          </a:p>
        </p:txBody>
      </p:sp>
      <p:sp>
        <p:nvSpPr>
          <p:cNvPr id="5" name="TextBox 4"/>
          <p:cNvSpPr txBox="1"/>
          <p:nvPr/>
        </p:nvSpPr>
        <p:spPr>
          <a:xfrm>
            <a:off x="1555902" y="2142235"/>
            <a:ext cx="1719510" cy="246221"/>
          </a:xfrm>
          <a:prstGeom prst="rect">
            <a:avLst/>
          </a:prstGeom>
          <a:noFill/>
        </p:spPr>
        <p:txBody>
          <a:bodyPr wrap="none" lIns="0" tIns="0" rIns="0" bIns="0">
            <a:spAutoFit/>
          </a:bodyPr>
          <a:lstStyle/>
          <a:p>
            <a:pPr>
              <a:spcBef>
                <a:spcPts val="0"/>
              </a:spcBef>
              <a:spcAft>
                <a:spcPts val="0"/>
              </a:spcAft>
            </a:pPr>
            <a:r>
              <a:rPr lang="en-ID" sz="1600" b="1" dirty="0"/>
              <a:t>Background Context</a:t>
            </a:r>
            <a:endParaRPr sz="1535" b="1" i="0" dirty="0">
              <a:solidFill>
                <a:srgbClr val="1A1A2E"/>
              </a:solidFill>
              <a:latin typeface="Arial"/>
            </a:endParaRPr>
          </a:p>
        </p:txBody>
      </p:sp>
      <p:sp>
        <p:nvSpPr>
          <p:cNvPr id="6" name="TextBox 5"/>
          <p:cNvSpPr txBox="1"/>
          <p:nvPr/>
        </p:nvSpPr>
        <p:spPr>
          <a:xfrm>
            <a:off x="604519" y="3159940"/>
            <a:ext cx="416781" cy="451021"/>
          </a:xfrm>
          <a:prstGeom prst="rect">
            <a:avLst/>
          </a:prstGeom>
          <a:noFill/>
        </p:spPr>
        <p:txBody>
          <a:bodyPr wrap="none" lIns="0" tIns="0" rIns="0" bIns="0">
            <a:spAutoFit/>
          </a:bodyPr>
          <a:lstStyle/>
          <a:p>
            <a:pPr>
              <a:spcBef>
                <a:spcPts val="0"/>
              </a:spcBef>
              <a:spcAft>
                <a:spcPts val="0"/>
              </a:spcAft>
            </a:pPr>
            <a:r>
              <a:rPr sz="2931" b="1" i="0" dirty="0">
                <a:solidFill>
                  <a:srgbClr val="ED1B24"/>
                </a:solidFill>
                <a:latin typeface="Arial"/>
              </a:rPr>
              <a:t>02</a:t>
            </a:r>
          </a:p>
        </p:txBody>
      </p:sp>
      <p:sp>
        <p:nvSpPr>
          <p:cNvPr id="7" name="TextBox 6"/>
          <p:cNvSpPr txBox="1"/>
          <p:nvPr/>
        </p:nvSpPr>
        <p:spPr>
          <a:xfrm>
            <a:off x="1555902" y="3337051"/>
            <a:ext cx="1702902" cy="246221"/>
          </a:xfrm>
          <a:prstGeom prst="rect">
            <a:avLst/>
          </a:prstGeom>
          <a:noFill/>
        </p:spPr>
        <p:txBody>
          <a:bodyPr wrap="none" lIns="0" tIns="0" rIns="0" bIns="0">
            <a:spAutoFit/>
          </a:bodyPr>
          <a:lstStyle/>
          <a:p>
            <a:pPr>
              <a:spcBef>
                <a:spcPts val="0"/>
              </a:spcBef>
              <a:spcAft>
                <a:spcPts val="0"/>
              </a:spcAft>
            </a:pPr>
            <a:r>
              <a:rPr lang="en-ID" sz="1600" b="1" dirty="0"/>
              <a:t>Data Understanding</a:t>
            </a:r>
            <a:endParaRPr sz="1535" b="1" i="0" dirty="0">
              <a:solidFill>
                <a:srgbClr val="1A1A2E"/>
              </a:solidFill>
              <a:latin typeface="Arial"/>
            </a:endParaRPr>
          </a:p>
        </p:txBody>
      </p:sp>
      <p:sp>
        <p:nvSpPr>
          <p:cNvPr id="8" name="TextBox 7"/>
          <p:cNvSpPr txBox="1"/>
          <p:nvPr/>
        </p:nvSpPr>
        <p:spPr>
          <a:xfrm>
            <a:off x="604519" y="4355095"/>
            <a:ext cx="416781" cy="451021"/>
          </a:xfrm>
          <a:prstGeom prst="rect">
            <a:avLst/>
          </a:prstGeom>
          <a:noFill/>
        </p:spPr>
        <p:txBody>
          <a:bodyPr wrap="none" lIns="0" tIns="0" rIns="0" bIns="0">
            <a:spAutoFit/>
          </a:bodyPr>
          <a:lstStyle/>
          <a:p>
            <a:pPr>
              <a:spcBef>
                <a:spcPts val="0"/>
              </a:spcBef>
              <a:spcAft>
                <a:spcPts val="0"/>
              </a:spcAft>
            </a:pPr>
            <a:r>
              <a:rPr sz="2931" b="1" i="0">
                <a:solidFill>
                  <a:srgbClr val="ED1B24"/>
                </a:solidFill>
                <a:latin typeface="Arial"/>
              </a:rPr>
              <a:t>03</a:t>
            </a:r>
          </a:p>
        </p:txBody>
      </p:sp>
      <p:sp>
        <p:nvSpPr>
          <p:cNvPr id="9" name="TextBox 8"/>
          <p:cNvSpPr txBox="1"/>
          <p:nvPr/>
        </p:nvSpPr>
        <p:spPr>
          <a:xfrm>
            <a:off x="1555902" y="4532375"/>
            <a:ext cx="696024" cy="246221"/>
          </a:xfrm>
          <a:prstGeom prst="rect">
            <a:avLst/>
          </a:prstGeom>
          <a:noFill/>
        </p:spPr>
        <p:txBody>
          <a:bodyPr wrap="none" lIns="0" tIns="0" rIns="0" bIns="0">
            <a:spAutoFit/>
          </a:bodyPr>
          <a:lstStyle/>
          <a:p>
            <a:pPr>
              <a:spcBef>
                <a:spcPts val="0"/>
              </a:spcBef>
              <a:spcAft>
                <a:spcPts val="0"/>
              </a:spcAft>
            </a:pPr>
            <a:r>
              <a:rPr lang="en-ID" sz="1600" b="1" dirty="0"/>
              <a:t>Analysis</a:t>
            </a:r>
            <a:endParaRPr sz="1535" b="1" i="0" dirty="0">
              <a:solidFill>
                <a:srgbClr val="1A1A2E"/>
              </a:solidFill>
              <a:latin typeface="Arial"/>
            </a:endParaRPr>
          </a:p>
        </p:txBody>
      </p:sp>
      <p:sp>
        <p:nvSpPr>
          <p:cNvPr id="10" name="TextBox 9"/>
          <p:cNvSpPr txBox="1"/>
          <p:nvPr/>
        </p:nvSpPr>
        <p:spPr>
          <a:xfrm>
            <a:off x="604519" y="5550723"/>
            <a:ext cx="416781" cy="450444"/>
          </a:xfrm>
          <a:prstGeom prst="rect">
            <a:avLst/>
          </a:prstGeom>
          <a:noFill/>
        </p:spPr>
        <p:txBody>
          <a:bodyPr wrap="none" lIns="0" tIns="0" rIns="0" bIns="0">
            <a:spAutoFit/>
          </a:bodyPr>
          <a:lstStyle/>
          <a:p>
            <a:pPr>
              <a:spcBef>
                <a:spcPts val="0"/>
              </a:spcBef>
              <a:spcAft>
                <a:spcPts val="0"/>
              </a:spcAft>
            </a:pPr>
            <a:r>
              <a:rPr sz="2927" b="1" i="0">
                <a:solidFill>
                  <a:srgbClr val="ED1B24"/>
                </a:solidFill>
                <a:latin typeface="Arial"/>
              </a:rPr>
              <a:t>04</a:t>
            </a:r>
          </a:p>
        </p:txBody>
      </p:sp>
      <p:sp>
        <p:nvSpPr>
          <p:cNvPr id="11" name="TextBox 10"/>
          <p:cNvSpPr txBox="1"/>
          <p:nvPr/>
        </p:nvSpPr>
        <p:spPr>
          <a:xfrm>
            <a:off x="1555902" y="5727530"/>
            <a:ext cx="2675861" cy="246221"/>
          </a:xfrm>
          <a:prstGeom prst="rect">
            <a:avLst/>
          </a:prstGeom>
          <a:noFill/>
        </p:spPr>
        <p:txBody>
          <a:bodyPr wrap="none" lIns="0" tIns="0" rIns="0" bIns="0">
            <a:spAutoFit/>
          </a:bodyPr>
          <a:lstStyle/>
          <a:p>
            <a:pPr>
              <a:spcBef>
                <a:spcPts val="0"/>
              </a:spcBef>
              <a:spcAft>
                <a:spcPts val="0"/>
              </a:spcAft>
            </a:pPr>
            <a:r>
              <a:rPr lang="en-ID" sz="1600" b="1" dirty="0"/>
              <a:t>Conclusion &amp; Recommendation</a:t>
            </a:r>
            <a:endParaRPr sz="1535" b="1" i="0" dirty="0">
              <a:solidFill>
                <a:srgbClr val="1A1A2E"/>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A5B1BFA-0986-4F35-F317-35CEFCF92C39}"/>
              </a:ext>
            </a:extLst>
          </p:cNvPr>
          <p:cNvSpPr/>
          <p:nvPr/>
        </p:nvSpPr>
        <p:spPr>
          <a:xfrm>
            <a:off x="-1" y="0"/>
            <a:ext cx="12192001" cy="6858001"/>
          </a:xfrm>
          <a:prstGeom prst="rect">
            <a:avLst/>
          </a:prstGeom>
          <a:solidFill>
            <a:srgbClr val="E0E3E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p:cNvSpPr txBox="1"/>
          <p:nvPr/>
        </p:nvSpPr>
        <p:spPr>
          <a:xfrm>
            <a:off x="604519" y="566081"/>
            <a:ext cx="999197" cy="220810"/>
          </a:xfrm>
          <a:prstGeom prst="rect">
            <a:avLst/>
          </a:prstGeom>
          <a:noFill/>
        </p:spPr>
        <p:txBody>
          <a:bodyPr wrap="none" lIns="0" tIns="0" rIns="0" bIns="0">
            <a:spAutoFit/>
          </a:bodyPr>
          <a:lstStyle/>
          <a:p>
            <a:pPr>
              <a:spcBef>
                <a:spcPts val="0"/>
              </a:spcBef>
              <a:spcAft>
                <a:spcPts val="0"/>
              </a:spcAft>
            </a:pPr>
            <a:r>
              <a:rPr sz="1071" b="1" i="0" dirty="0">
                <a:solidFill>
                  <a:srgbClr val="C8181A"/>
                </a:solidFill>
                <a:latin typeface="Arial"/>
              </a:rPr>
              <a:t>S E C T I O N</a:t>
            </a:r>
          </a:p>
        </p:txBody>
      </p:sp>
      <p:sp>
        <p:nvSpPr>
          <p:cNvPr id="8" name="TextBox 7">
            <a:extLst>
              <a:ext uri="{FF2B5EF4-FFF2-40B4-BE49-F238E27FC236}">
                <a16:creationId xmlns:a16="http://schemas.microsoft.com/office/drawing/2014/main" id="{72D7CF25-675F-AE7C-68F2-4A766A258ECD}"/>
              </a:ext>
            </a:extLst>
          </p:cNvPr>
          <p:cNvSpPr txBox="1"/>
          <p:nvPr/>
        </p:nvSpPr>
        <p:spPr>
          <a:xfrm>
            <a:off x="745284" y="566081"/>
            <a:ext cx="2222083" cy="2646878"/>
          </a:xfrm>
          <a:prstGeom prst="rect">
            <a:avLst/>
          </a:prstGeom>
          <a:noFill/>
        </p:spPr>
        <p:txBody>
          <a:bodyPr wrap="none" rtlCol="0">
            <a:spAutoFit/>
          </a:bodyPr>
          <a:lstStyle/>
          <a:p>
            <a:r>
              <a:rPr lang="en-US" sz="16600" b="1" dirty="0">
                <a:solidFill>
                  <a:srgbClr val="2B5CAA"/>
                </a:solidFill>
                <a:latin typeface="Impact" panose="020B0806030902050204" pitchFamily="34" charset="0"/>
                <a:ea typeface="STHupo" panose="02010800040101010101" pitchFamily="2" charset="-122"/>
              </a:rPr>
              <a:t>01</a:t>
            </a:r>
          </a:p>
        </p:txBody>
      </p:sp>
      <p:sp>
        <p:nvSpPr>
          <p:cNvPr id="4" name="TextBox 3"/>
          <p:cNvSpPr txBox="1"/>
          <p:nvPr/>
        </p:nvSpPr>
        <p:spPr>
          <a:xfrm>
            <a:off x="604519" y="2861767"/>
            <a:ext cx="4600618" cy="1806905"/>
          </a:xfrm>
          <a:prstGeom prst="rect">
            <a:avLst/>
          </a:prstGeom>
          <a:noFill/>
        </p:spPr>
        <p:txBody>
          <a:bodyPr wrap="none" lIns="0" tIns="0" rIns="0" bIns="0">
            <a:spAutoFit/>
          </a:bodyPr>
          <a:lstStyle/>
          <a:p>
            <a:pPr>
              <a:spcBef>
                <a:spcPts val="0"/>
              </a:spcBef>
              <a:spcAft>
                <a:spcPts val="0"/>
              </a:spcAft>
            </a:pPr>
            <a:r>
              <a:rPr lang="en-US" sz="5871" b="1" i="0" dirty="0">
                <a:solidFill>
                  <a:srgbClr val="ED1B24"/>
                </a:solidFill>
                <a:effectLst>
                  <a:outerShdw blurRad="50800" dist="38100" dir="10800000" algn="r" rotWithShape="0">
                    <a:prstClr val="black">
                      <a:alpha val="40000"/>
                    </a:prstClr>
                  </a:outerShdw>
                </a:effectLst>
                <a:latin typeface="Arial"/>
              </a:rPr>
              <a:t>Backgroun</a:t>
            </a:r>
            <a:r>
              <a:rPr lang="en-US" sz="5871" b="1" dirty="0">
                <a:solidFill>
                  <a:srgbClr val="ED1B24"/>
                </a:solidFill>
                <a:effectLst>
                  <a:outerShdw blurRad="50800" dist="38100" dir="10800000" algn="r" rotWithShape="0">
                    <a:prstClr val="black">
                      <a:alpha val="40000"/>
                    </a:prstClr>
                  </a:outerShdw>
                </a:effectLst>
                <a:latin typeface="Arial"/>
              </a:rPr>
              <a:t>d </a:t>
            </a:r>
          </a:p>
          <a:p>
            <a:pPr>
              <a:spcBef>
                <a:spcPts val="0"/>
              </a:spcBef>
              <a:spcAft>
                <a:spcPts val="0"/>
              </a:spcAft>
            </a:pPr>
            <a:r>
              <a:rPr lang="en-US" sz="5871" b="1" i="0" dirty="0">
                <a:solidFill>
                  <a:srgbClr val="ED1B24"/>
                </a:solidFill>
                <a:effectLst>
                  <a:outerShdw blurRad="50800" dist="38100" dir="10800000" algn="r" rotWithShape="0">
                    <a:prstClr val="black">
                      <a:alpha val="40000"/>
                    </a:prstClr>
                  </a:outerShdw>
                </a:effectLst>
                <a:latin typeface="Arial"/>
              </a:rPr>
              <a:t>Con</a:t>
            </a:r>
            <a:r>
              <a:rPr lang="en-US" sz="5871" b="1" dirty="0">
                <a:solidFill>
                  <a:srgbClr val="ED1B24"/>
                </a:solidFill>
                <a:effectLst>
                  <a:outerShdw blurRad="50800" dist="38100" dir="10800000" algn="r" rotWithShape="0">
                    <a:prstClr val="black">
                      <a:alpha val="40000"/>
                    </a:prstClr>
                  </a:outerShdw>
                </a:effectLst>
                <a:latin typeface="Arial"/>
              </a:rPr>
              <a:t>text</a:t>
            </a:r>
            <a:endParaRPr sz="5871" b="1" i="0" dirty="0">
              <a:solidFill>
                <a:srgbClr val="ED1B24"/>
              </a:solidFill>
              <a:effectLst>
                <a:outerShdw blurRad="50800" dist="38100" dir="10800000" algn="r" rotWithShape="0">
                  <a:prstClr val="black">
                    <a:alpha val="40000"/>
                  </a:prstClr>
                </a:outerShdw>
              </a:effectLst>
              <a:latin typeface="Arial"/>
            </a:endParaRPr>
          </a:p>
        </p:txBody>
      </p:sp>
      <p:cxnSp>
        <p:nvCxnSpPr>
          <p:cNvPr id="9" name="Straight Connector 8">
            <a:extLst>
              <a:ext uri="{FF2B5EF4-FFF2-40B4-BE49-F238E27FC236}">
                <a16:creationId xmlns:a16="http://schemas.microsoft.com/office/drawing/2014/main" id="{FE5C7F6D-AF2A-06BE-F208-2454F679D8FA}"/>
              </a:ext>
            </a:extLst>
          </p:cNvPr>
          <p:cNvCxnSpPr>
            <a:cxnSpLocks/>
          </p:cNvCxnSpPr>
          <p:nvPr/>
        </p:nvCxnSpPr>
        <p:spPr>
          <a:xfrm>
            <a:off x="604519" y="4668672"/>
            <a:ext cx="4600618" cy="0"/>
          </a:xfrm>
          <a:prstGeom prst="line">
            <a:avLst/>
          </a:prstGeom>
          <a:ln w="41275">
            <a:solidFill>
              <a:srgbClr val="FFFF00"/>
            </a:solidFill>
          </a:ln>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441C3C0E-63B1-DDAD-2EA0-1709336D141C}"/>
              </a:ext>
            </a:extLst>
          </p:cNvPr>
          <p:cNvPicPr>
            <a:picLocks noChangeAspect="1"/>
          </p:cNvPicPr>
          <p:nvPr/>
        </p:nvPicPr>
        <p:blipFill>
          <a:blip r:embed="rId2"/>
          <a:stretch>
            <a:fillRect/>
          </a:stretch>
        </p:blipFill>
        <p:spPr>
          <a:xfrm>
            <a:off x="5765622" y="0"/>
            <a:ext cx="6426378"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7930A-62AF-AD07-17A3-CDE382E5FB31}"/>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3F5FB1C5-91FC-C852-A9AE-BB47DC4CB2A4}"/>
              </a:ext>
            </a:extLst>
          </p:cNvPr>
          <p:cNvSpPr txBox="1"/>
          <p:nvPr/>
        </p:nvSpPr>
        <p:spPr>
          <a:xfrm>
            <a:off x="604519" y="6600274"/>
            <a:ext cx="1827423" cy="142668"/>
          </a:xfrm>
          <a:prstGeom prst="rect">
            <a:avLst/>
          </a:prstGeom>
          <a:noFill/>
        </p:spPr>
        <p:txBody>
          <a:bodyPr wrap="none" lIns="0" tIns="0" rIns="0" bIns="0">
            <a:spAutoFit/>
          </a:bodyPr>
          <a:lstStyle/>
          <a:p>
            <a:pPr>
              <a:spcBef>
                <a:spcPts val="0"/>
              </a:spcBef>
              <a:spcAft>
                <a:spcPts val="0"/>
              </a:spcAft>
            </a:pPr>
            <a:r>
              <a:rPr sz="927" b="0" i="1" dirty="0">
                <a:solidFill>
                  <a:srgbClr val="8A8A9A"/>
                </a:solidFill>
                <a:latin typeface="Arial"/>
              </a:rPr>
              <a:t>Source</a:t>
            </a:r>
            <a:r>
              <a:rPr lang="en-US" sz="927" b="0" i="1" dirty="0">
                <a:solidFill>
                  <a:srgbClr val="8A8A9A"/>
                </a:solidFill>
                <a:latin typeface="Arial"/>
              </a:rPr>
              <a:t>s</a:t>
            </a:r>
            <a:r>
              <a:rPr sz="927" b="0" i="1" dirty="0">
                <a:solidFill>
                  <a:srgbClr val="8A8A9A"/>
                </a:solidFill>
                <a:latin typeface="Arial"/>
              </a:rPr>
              <a:t>: Bank Indonesia</a:t>
            </a:r>
            <a:r>
              <a:rPr lang="en-US" sz="927" b="0" i="1" dirty="0">
                <a:solidFill>
                  <a:srgbClr val="8A8A9A"/>
                </a:solidFill>
                <a:latin typeface="Arial"/>
              </a:rPr>
              <a:t>, </a:t>
            </a:r>
            <a:r>
              <a:rPr lang="en-US" sz="927" b="0" i="1" dirty="0" err="1">
                <a:solidFill>
                  <a:srgbClr val="8A8A9A"/>
                </a:solidFill>
                <a:latin typeface="Arial"/>
              </a:rPr>
              <a:t>Alfamart</a:t>
            </a:r>
            <a:endParaRPr sz="927" b="0" i="1" dirty="0">
              <a:solidFill>
                <a:srgbClr val="8A8A9A"/>
              </a:solidFill>
              <a:latin typeface="Arial"/>
            </a:endParaRPr>
          </a:p>
        </p:txBody>
      </p:sp>
      <p:pic>
        <p:nvPicPr>
          <p:cNvPr id="15" name="Picture 14">
            <a:extLst>
              <a:ext uri="{FF2B5EF4-FFF2-40B4-BE49-F238E27FC236}">
                <a16:creationId xmlns:a16="http://schemas.microsoft.com/office/drawing/2014/main" id="{64432AB0-C3E1-3769-157B-8F2482475275}"/>
              </a:ext>
            </a:extLst>
          </p:cNvPr>
          <p:cNvPicPr>
            <a:picLocks noChangeAspect="1"/>
          </p:cNvPicPr>
          <p:nvPr/>
        </p:nvPicPr>
        <p:blipFill>
          <a:blip r:embed="rId2"/>
          <a:stretch>
            <a:fillRect/>
          </a:stretch>
        </p:blipFill>
        <p:spPr>
          <a:xfrm>
            <a:off x="0" y="-1"/>
            <a:ext cx="12192000" cy="621791"/>
          </a:xfrm>
          <a:prstGeom prst="rect">
            <a:avLst/>
          </a:prstGeom>
        </p:spPr>
      </p:pic>
      <p:sp>
        <p:nvSpPr>
          <p:cNvPr id="16" name="TextBox 15">
            <a:extLst>
              <a:ext uri="{FF2B5EF4-FFF2-40B4-BE49-F238E27FC236}">
                <a16:creationId xmlns:a16="http://schemas.microsoft.com/office/drawing/2014/main" id="{7C145BD6-E1C2-398C-B14E-385A2F792C94}"/>
              </a:ext>
            </a:extLst>
          </p:cNvPr>
          <p:cNvSpPr txBox="1"/>
          <p:nvPr/>
        </p:nvSpPr>
        <p:spPr>
          <a:xfrm>
            <a:off x="604519" y="302767"/>
            <a:ext cx="6926576" cy="430887"/>
          </a:xfrm>
          <a:prstGeom prst="rect">
            <a:avLst/>
          </a:prstGeom>
          <a:noFill/>
        </p:spPr>
        <p:txBody>
          <a:bodyPr wrap="none" lIns="0" tIns="0" rIns="0" bIns="0">
            <a:spAutoFit/>
          </a:bodyPr>
          <a:lstStyle/>
          <a:p>
            <a:pPr>
              <a:spcBef>
                <a:spcPts val="0"/>
              </a:spcBef>
              <a:spcAft>
                <a:spcPts val="0"/>
              </a:spcAft>
            </a:pPr>
            <a:r>
              <a:rPr lang="en-ID" sz="2800" b="1" i="0" dirty="0">
                <a:solidFill>
                  <a:srgbClr val="C8181A"/>
                </a:solidFill>
                <a:latin typeface="Arial"/>
              </a:rPr>
              <a:t>Retail Growth and the Role of Promotion</a:t>
            </a:r>
            <a:endParaRPr sz="2800" b="1" i="0" dirty="0">
              <a:solidFill>
                <a:srgbClr val="C8181A"/>
              </a:solidFill>
              <a:latin typeface="Arial"/>
            </a:endParaRPr>
          </a:p>
        </p:txBody>
      </p:sp>
      <p:sp>
        <p:nvSpPr>
          <p:cNvPr id="17" name="TextBox 16">
            <a:extLst>
              <a:ext uri="{FF2B5EF4-FFF2-40B4-BE49-F238E27FC236}">
                <a16:creationId xmlns:a16="http://schemas.microsoft.com/office/drawing/2014/main" id="{38546458-C215-70D1-14AA-1CE58BD624AC}"/>
              </a:ext>
            </a:extLst>
          </p:cNvPr>
          <p:cNvSpPr txBox="1"/>
          <p:nvPr/>
        </p:nvSpPr>
        <p:spPr>
          <a:xfrm>
            <a:off x="604519" y="1897330"/>
            <a:ext cx="4983168" cy="3393558"/>
          </a:xfrm>
          <a:prstGeom prst="rect">
            <a:avLst/>
          </a:prstGeom>
          <a:noFill/>
        </p:spPr>
        <p:txBody>
          <a:bodyPr wrap="square" lIns="0" tIns="0" rIns="0" bIns="0">
            <a:spAutoFit/>
          </a:bodyPr>
          <a:lstStyle/>
          <a:p>
            <a:pPr>
              <a:spcBef>
                <a:spcPts val="0"/>
              </a:spcBef>
              <a:spcAft>
                <a:spcPts val="0"/>
              </a:spcAft>
            </a:pPr>
            <a:r>
              <a:rPr lang="en-ID" sz="1327" b="0" i="0" dirty="0">
                <a:latin typeface="Arial"/>
              </a:rPr>
              <a:t>Indonesia’s retail sector continues to show positive momentum, with Food, Beverages, and Tobacco among the key contributors to retail sales growth. Seasonal demand periods such as Ramadan and Eid also produce substantial spikes in retail activity, supported by retailer discount strategies. </a:t>
            </a:r>
          </a:p>
          <a:p>
            <a:pPr>
              <a:spcBef>
                <a:spcPts val="0"/>
              </a:spcBef>
              <a:spcAft>
                <a:spcPts val="0"/>
              </a:spcAft>
            </a:pPr>
            <a:endParaRPr lang="en-ID" sz="1327" b="0" i="0" dirty="0">
              <a:latin typeface="Arial"/>
            </a:endParaRPr>
          </a:p>
          <a:p>
            <a:pPr>
              <a:spcBef>
                <a:spcPts val="0"/>
              </a:spcBef>
              <a:spcAft>
                <a:spcPts val="0"/>
              </a:spcAft>
            </a:pPr>
            <a:r>
              <a:rPr lang="en-ID" sz="1327" b="0" i="0" dirty="0">
                <a:latin typeface="Arial"/>
              </a:rPr>
              <a:t>At the company level, </a:t>
            </a:r>
            <a:r>
              <a:rPr lang="en-ID" sz="1327" b="0" i="0" dirty="0" err="1">
                <a:latin typeface="Arial"/>
              </a:rPr>
              <a:t>Alfamart</a:t>
            </a:r>
            <a:r>
              <a:rPr lang="en-ID" sz="1327" b="0" i="0" dirty="0">
                <a:latin typeface="Arial"/>
              </a:rPr>
              <a:t> reported Rp118.23 trillion in net revenue in 2024, representing 10.55% growth from the previous year. At this scale, promotional programs can stimulate demand, but inefficient promotional allocation may also create significant financial exposure. </a:t>
            </a:r>
          </a:p>
          <a:p>
            <a:pPr>
              <a:spcBef>
                <a:spcPts val="0"/>
              </a:spcBef>
              <a:spcAft>
                <a:spcPts val="0"/>
              </a:spcAft>
            </a:pPr>
            <a:endParaRPr lang="en-ID" sz="1327" b="0" i="0" dirty="0">
              <a:latin typeface="Arial"/>
            </a:endParaRPr>
          </a:p>
          <a:p>
            <a:pPr>
              <a:spcBef>
                <a:spcPts val="0"/>
              </a:spcBef>
              <a:spcAft>
                <a:spcPts val="0"/>
              </a:spcAft>
            </a:pPr>
            <a:r>
              <a:rPr lang="en-ID" sz="1327" b="0" i="0" dirty="0">
                <a:latin typeface="Arial"/>
              </a:rPr>
              <a:t>This creates a key business question:</a:t>
            </a:r>
            <a:endParaRPr lang="en-ID" b="0" i="0" dirty="0">
              <a:latin typeface="Arial"/>
            </a:endParaRPr>
          </a:p>
          <a:p>
            <a:pPr>
              <a:spcBef>
                <a:spcPts val="0"/>
              </a:spcBef>
              <a:spcAft>
                <a:spcPts val="0"/>
              </a:spcAft>
            </a:pPr>
            <a:r>
              <a:rPr lang="en-ID" sz="1600" b="1" i="0" dirty="0">
                <a:latin typeface="Arial"/>
              </a:rPr>
              <a:t>How can JSM promotions remain attractive to customers while limiting excessive promotional discount exposure?</a:t>
            </a:r>
          </a:p>
        </p:txBody>
      </p:sp>
      <p:pic>
        <p:nvPicPr>
          <p:cNvPr id="2" name="Picture 1">
            <a:extLst>
              <a:ext uri="{FF2B5EF4-FFF2-40B4-BE49-F238E27FC236}">
                <a16:creationId xmlns:a16="http://schemas.microsoft.com/office/drawing/2014/main" id="{696FE821-74C0-F020-E4BC-BDE732856C94}"/>
              </a:ext>
            </a:extLst>
          </p:cNvPr>
          <p:cNvPicPr>
            <a:picLocks noChangeAspect="1"/>
          </p:cNvPicPr>
          <p:nvPr/>
        </p:nvPicPr>
        <p:blipFill>
          <a:blip r:embed="rId3"/>
          <a:stretch>
            <a:fillRect/>
          </a:stretch>
        </p:blipFill>
        <p:spPr>
          <a:xfrm>
            <a:off x="5587687" y="1568450"/>
            <a:ext cx="6400800" cy="3721100"/>
          </a:xfrm>
          <a:prstGeom prst="rect">
            <a:avLst/>
          </a:prstGeom>
        </p:spPr>
      </p:pic>
    </p:spTree>
    <p:extLst>
      <p:ext uri="{BB962C8B-B14F-4D97-AF65-F5344CB8AC3E}">
        <p14:creationId xmlns:p14="http://schemas.microsoft.com/office/powerpoint/2010/main" val="414753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C35F3-4122-6380-BD53-E000F4B76496}"/>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D370BD9E-4CCB-48C8-D084-630AEEAAEA85}"/>
              </a:ext>
            </a:extLst>
          </p:cNvPr>
          <p:cNvSpPr txBox="1"/>
          <p:nvPr/>
        </p:nvSpPr>
        <p:spPr>
          <a:xfrm>
            <a:off x="604519" y="6600274"/>
            <a:ext cx="884858" cy="142668"/>
          </a:xfrm>
          <a:prstGeom prst="rect">
            <a:avLst/>
          </a:prstGeom>
          <a:noFill/>
        </p:spPr>
        <p:txBody>
          <a:bodyPr wrap="none" lIns="0" tIns="0" rIns="0" bIns="0">
            <a:spAutoFit/>
          </a:bodyPr>
          <a:lstStyle/>
          <a:p>
            <a:pPr>
              <a:spcBef>
                <a:spcPts val="0"/>
              </a:spcBef>
              <a:spcAft>
                <a:spcPts val="0"/>
              </a:spcAft>
            </a:pPr>
            <a:r>
              <a:rPr sz="927" b="0" i="1" dirty="0">
                <a:solidFill>
                  <a:srgbClr val="8A8A9A"/>
                </a:solidFill>
                <a:latin typeface="Arial"/>
              </a:rPr>
              <a:t>Source: </a:t>
            </a:r>
            <a:r>
              <a:rPr lang="en-US" sz="927" b="0" i="1" dirty="0" err="1">
                <a:solidFill>
                  <a:srgbClr val="8A8A9A"/>
                </a:solidFill>
                <a:latin typeface="Arial"/>
              </a:rPr>
              <a:t>Alfamart</a:t>
            </a:r>
            <a:endParaRPr sz="927" b="0" i="1" dirty="0">
              <a:solidFill>
                <a:srgbClr val="8A8A9A"/>
              </a:solidFill>
              <a:latin typeface="Arial"/>
            </a:endParaRPr>
          </a:p>
        </p:txBody>
      </p:sp>
      <p:pic>
        <p:nvPicPr>
          <p:cNvPr id="15" name="Picture 14">
            <a:extLst>
              <a:ext uri="{FF2B5EF4-FFF2-40B4-BE49-F238E27FC236}">
                <a16:creationId xmlns:a16="http://schemas.microsoft.com/office/drawing/2014/main" id="{550CC454-02A3-E348-FE00-F6E3B439E4A8}"/>
              </a:ext>
            </a:extLst>
          </p:cNvPr>
          <p:cNvPicPr>
            <a:picLocks noChangeAspect="1"/>
          </p:cNvPicPr>
          <p:nvPr/>
        </p:nvPicPr>
        <p:blipFill>
          <a:blip r:embed="rId2"/>
          <a:stretch>
            <a:fillRect/>
          </a:stretch>
        </p:blipFill>
        <p:spPr>
          <a:xfrm>
            <a:off x="0" y="-1"/>
            <a:ext cx="12192000" cy="621791"/>
          </a:xfrm>
          <a:prstGeom prst="rect">
            <a:avLst/>
          </a:prstGeom>
        </p:spPr>
      </p:pic>
      <p:sp>
        <p:nvSpPr>
          <p:cNvPr id="16" name="TextBox 15">
            <a:extLst>
              <a:ext uri="{FF2B5EF4-FFF2-40B4-BE49-F238E27FC236}">
                <a16:creationId xmlns:a16="http://schemas.microsoft.com/office/drawing/2014/main" id="{23BCF177-7A53-8C85-27AE-26009B32FA6C}"/>
              </a:ext>
            </a:extLst>
          </p:cNvPr>
          <p:cNvSpPr txBox="1"/>
          <p:nvPr/>
        </p:nvSpPr>
        <p:spPr>
          <a:xfrm>
            <a:off x="604519" y="302767"/>
            <a:ext cx="8566448" cy="430887"/>
          </a:xfrm>
          <a:prstGeom prst="rect">
            <a:avLst/>
          </a:prstGeom>
          <a:noFill/>
        </p:spPr>
        <p:txBody>
          <a:bodyPr wrap="none" lIns="0" tIns="0" rIns="0" bIns="0">
            <a:spAutoFit/>
          </a:bodyPr>
          <a:lstStyle/>
          <a:p>
            <a:pPr>
              <a:spcBef>
                <a:spcPts val="0"/>
              </a:spcBef>
              <a:spcAft>
                <a:spcPts val="0"/>
              </a:spcAft>
            </a:pPr>
            <a:r>
              <a:rPr lang="en-ID" sz="2800" b="1" i="0" dirty="0" err="1">
                <a:solidFill>
                  <a:srgbClr val="C8181A"/>
                </a:solidFill>
                <a:latin typeface="Arial"/>
              </a:rPr>
              <a:t>Alfamart</a:t>
            </a:r>
            <a:r>
              <a:rPr lang="en-ID" sz="2800" b="1" i="0" dirty="0">
                <a:solidFill>
                  <a:srgbClr val="C8181A"/>
                </a:solidFill>
                <a:latin typeface="Arial"/>
              </a:rPr>
              <a:t> Scale, Growth, and Promotion Relevance</a:t>
            </a:r>
            <a:endParaRPr sz="2800" b="1" i="0" dirty="0">
              <a:solidFill>
                <a:srgbClr val="C8181A"/>
              </a:solidFill>
              <a:latin typeface="Arial"/>
            </a:endParaRPr>
          </a:p>
        </p:txBody>
      </p:sp>
      <p:sp>
        <p:nvSpPr>
          <p:cNvPr id="4" name="Rounded Rectangle 3">
            <a:extLst>
              <a:ext uri="{FF2B5EF4-FFF2-40B4-BE49-F238E27FC236}">
                <a16:creationId xmlns:a16="http://schemas.microsoft.com/office/drawing/2014/main" id="{A93F0B09-C93D-523A-8415-EAB62F1762FB}"/>
              </a:ext>
            </a:extLst>
          </p:cNvPr>
          <p:cNvSpPr/>
          <p:nvPr/>
        </p:nvSpPr>
        <p:spPr>
          <a:xfrm>
            <a:off x="594360" y="1647367"/>
            <a:ext cx="5166360" cy="3977639"/>
          </a:xfrm>
          <a:prstGeom prst="roundRect">
            <a:avLst/>
          </a:prstGeom>
          <a:solidFill>
            <a:srgbClr val="FFFFFF"/>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a:extLst>
              <a:ext uri="{FF2B5EF4-FFF2-40B4-BE49-F238E27FC236}">
                <a16:creationId xmlns:a16="http://schemas.microsoft.com/office/drawing/2014/main" id="{718DF584-ABEF-5575-93FC-13970193F02A}"/>
              </a:ext>
            </a:extLst>
          </p:cNvPr>
          <p:cNvSpPr/>
          <p:nvPr/>
        </p:nvSpPr>
        <p:spPr>
          <a:xfrm>
            <a:off x="5925312" y="1647367"/>
            <a:ext cx="5669280" cy="3977639"/>
          </a:xfrm>
          <a:prstGeom prst="roundRect">
            <a:avLst/>
          </a:prstGeom>
          <a:solidFill>
            <a:srgbClr val="FFFFFF"/>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3F5B086-1209-A42F-F3F3-9B7C92D21D02}"/>
              </a:ext>
            </a:extLst>
          </p:cNvPr>
          <p:cNvSpPr txBox="1"/>
          <p:nvPr/>
        </p:nvSpPr>
        <p:spPr>
          <a:xfrm>
            <a:off x="841248" y="1875967"/>
            <a:ext cx="4617720" cy="274320"/>
          </a:xfrm>
          <a:prstGeom prst="rect">
            <a:avLst/>
          </a:prstGeom>
          <a:noFill/>
        </p:spPr>
        <p:txBody>
          <a:bodyPr wrap="square" lIns="36576" tIns="36576" rIns="36576" bIns="36576" anchor="t">
            <a:spAutoFit/>
          </a:bodyPr>
          <a:lstStyle/>
          <a:p>
            <a:pPr algn="l"/>
            <a:r>
              <a:rPr sz="1400" b="1" i="0">
                <a:solidFill>
                  <a:srgbClr val="1F2233"/>
                </a:solidFill>
                <a:latin typeface="Aptos"/>
              </a:rPr>
              <a:t>National Minimarket Store Network — FY2024</a:t>
            </a:r>
          </a:p>
        </p:txBody>
      </p:sp>
      <p:sp>
        <p:nvSpPr>
          <p:cNvPr id="7" name="TextBox 6">
            <a:extLst>
              <a:ext uri="{FF2B5EF4-FFF2-40B4-BE49-F238E27FC236}">
                <a16:creationId xmlns:a16="http://schemas.microsoft.com/office/drawing/2014/main" id="{0073B57B-2C18-7CAE-BA41-7F03E1C14B14}"/>
              </a:ext>
            </a:extLst>
          </p:cNvPr>
          <p:cNvSpPr txBox="1"/>
          <p:nvPr/>
        </p:nvSpPr>
        <p:spPr>
          <a:xfrm>
            <a:off x="6172200" y="1875967"/>
            <a:ext cx="5120640" cy="289310"/>
          </a:xfrm>
          <a:prstGeom prst="rect">
            <a:avLst/>
          </a:prstGeom>
          <a:noFill/>
        </p:spPr>
        <p:txBody>
          <a:bodyPr wrap="square" lIns="36576" tIns="36576" rIns="36576" bIns="36576" anchor="t">
            <a:spAutoFit/>
          </a:bodyPr>
          <a:lstStyle/>
          <a:p>
            <a:pPr algn="l"/>
            <a:r>
              <a:rPr sz="1400" b="1" i="0" dirty="0" err="1">
                <a:solidFill>
                  <a:srgbClr val="1F2233"/>
                </a:solidFill>
                <a:latin typeface="Aptos"/>
              </a:rPr>
              <a:t>Alfamart</a:t>
            </a:r>
            <a:r>
              <a:rPr sz="1400" b="1" i="0" dirty="0">
                <a:solidFill>
                  <a:srgbClr val="1F2233"/>
                </a:solidFill>
                <a:latin typeface="Aptos"/>
              </a:rPr>
              <a:t> Net Revenue Trend</a:t>
            </a:r>
            <a:r>
              <a:rPr lang="en-US" sz="1400" b="1" dirty="0">
                <a:solidFill>
                  <a:srgbClr val="1F2233"/>
                </a:solidFill>
                <a:latin typeface="Aptos"/>
              </a:rPr>
              <a:t> in </a:t>
            </a:r>
            <a:r>
              <a:rPr sz="1400" b="1" i="0" dirty="0">
                <a:solidFill>
                  <a:srgbClr val="1F2233"/>
                </a:solidFill>
                <a:latin typeface="Aptos"/>
              </a:rPr>
              <a:t>2018–2025</a:t>
            </a:r>
          </a:p>
        </p:txBody>
      </p:sp>
      <p:graphicFrame>
        <p:nvGraphicFramePr>
          <p:cNvPr id="8" name="Chart 7">
            <a:extLst>
              <a:ext uri="{FF2B5EF4-FFF2-40B4-BE49-F238E27FC236}">
                <a16:creationId xmlns:a16="http://schemas.microsoft.com/office/drawing/2014/main" id="{A3989301-58AB-E12F-5135-4E4225588F53}"/>
              </a:ext>
            </a:extLst>
          </p:cNvPr>
          <p:cNvGraphicFramePr>
            <a:graphicFrameLocks noGrp="1"/>
          </p:cNvGraphicFramePr>
          <p:nvPr>
            <p:extLst>
              <p:ext uri="{D42A27DB-BD31-4B8C-83A1-F6EECF244321}">
                <p14:modId xmlns:p14="http://schemas.microsoft.com/office/powerpoint/2010/main" val="1320320219"/>
              </p:ext>
            </p:extLst>
          </p:nvPr>
        </p:nvGraphicFramePr>
        <p:xfrm>
          <a:off x="868680" y="2287447"/>
          <a:ext cx="4572000" cy="28803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450273F2-A73F-E4B9-DF35-9B4157AB72AE}"/>
              </a:ext>
            </a:extLst>
          </p:cNvPr>
          <p:cNvGraphicFramePr>
            <a:graphicFrameLocks noGrp="1"/>
          </p:cNvGraphicFramePr>
          <p:nvPr>
            <p:extLst>
              <p:ext uri="{D42A27DB-BD31-4B8C-83A1-F6EECF244321}">
                <p14:modId xmlns:p14="http://schemas.microsoft.com/office/powerpoint/2010/main" val="1472971784"/>
              </p:ext>
            </p:extLst>
          </p:nvPr>
        </p:nvGraphicFramePr>
        <p:xfrm>
          <a:off x="6217920" y="2287447"/>
          <a:ext cx="5074920"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5F14AEE0-8D84-2F95-D226-942EABB3997E}"/>
              </a:ext>
            </a:extLst>
          </p:cNvPr>
          <p:cNvSpPr txBox="1"/>
          <p:nvPr/>
        </p:nvSpPr>
        <p:spPr>
          <a:xfrm>
            <a:off x="4585716" y="4112262"/>
            <a:ext cx="1325880" cy="350865"/>
          </a:xfrm>
          <a:prstGeom prst="rect">
            <a:avLst/>
          </a:prstGeom>
          <a:noFill/>
        </p:spPr>
        <p:txBody>
          <a:bodyPr wrap="square" lIns="36576" tIns="36576" rIns="36576" bIns="36576" anchor="t">
            <a:spAutoFit/>
          </a:bodyPr>
          <a:lstStyle/>
          <a:p>
            <a:pPr algn="l"/>
            <a:r>
              <a:rPr b="1" i="0" dirty="0">
                <a:solidFill>
                  <a:srgbClr val="CC141F"/>
                </a:solidFill>
                <a:latin typeface="Aptos"/>
              </a:rPr>
              <a:t>20,120</a:t>
            </a:r>
          </a:p>
        </p:txBody>
      </p:sp>
      <p:sp>
        <p:nvSpPr>
          <p:cNvPr id="11" name="TextBox 10">
            <a:extLst>
              <a:ext uri="{FF2B5EF4-FFF2-40B4-BE49-F238E27FC236}">
                <a16:creationId xmlns:a16="http://schemas.microsoft.com/office/drawing/2014/main" id="{AB428D32-A910-5C7D-BF9C-646FC6EE0993}"/>
              </a:ext>
            </a:extLst>
          </p:cNvPr>
          <p:cNvSpPr txBox="1"/>
          <p:nvPr/>
        </p:nvSpPr>
        <p:spPr>
          <a:xfrm>
            <a:off x="10328148" y="2621188"/>
            <a:ext cx="1417320" cy="384048"/>
          </a:xfrm>
          <a:prstGeom prst="rect">
            <a:avLst/>
          </a:prstGeom>
          <a:noFill/>
        </p:spPr>
        <p:txBody>
          <a:bodyPr wrap="square" lIns="36576" tIns="36576" rIns="36576" bIns="36576" anchor="t">
            <a:spAutoFit/>
          </a:bodyPr>
          <a:lstStyle/>
          <a:p>
            <a:pPr algn="l"/>
            <a:r>
              <a:rPr sz="2000" b="1" i="0" dirty="0">
                <a:solidFill>
                  <a:srgbClr val="CC141F"/>
                </a:solidFill>
                <a:latin typeface="Aptos"/>
              </a:rPr>
              <a:t>Rp126.74T</a:t>
            </a:r>
          </a:p>
        </p:txBody>
      </p:sp>
    </p:spTree>
    <p:extLst>
      <p:ext uri="{BB962C8B-B14F-4D97-AF65-F5344CB8AC3E}">
        <p14:creationId xmlns:p14="http://schemas.microsoft.com/office/powerpoint/2010/main" val="1906867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B4A70-0F49-EB96-C6C1-36612D2FA1E6}"/>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2607A307-66A5-F99E-D4F7-58A0C5ABEA71}"/>
              </a:ext>
            </a:extLst>
          </p:cNvPr>
          <p:cNvPicPr>
            <a:picLocks noChangeAspect="1"/>
          </p:cNvPicPr>
          <p:nvPr/>
        </p:nvPicPr>
        <p:blipFill>
          <a:blip r:embed="rId2"/>
          <a:stretch>
            <a:fillRect/>
          </a:stretch>
        </p:blipFill>
        <p:spPr>
          <a:xfrm>
            <a:off x="0" y="-1"/>
            <a:ext cx="12192000" cy="621791"/>
          </a:xfrm>
          <a:prstGeom prst="rect">
            <a:avLst/>
          </a:prstGeom>
        </p:spPr>
      </p:pic>
      <p:sp>
        <p:nvSpPr>
          <p:cNvPr id="16" name="TextBox 15">
            <a:extLst>
              <a:ext uri="{FF2B5EF4-FFF2-40B4-BE49-F238E27FC236}">
                <a16:creationId xmlns:a16="http://schemas.microsoft.com/office/drawing/2014/main" id="{533952CA-B921-5FBC-7200-722AF6433730}"/>
              </a:ext>
            </a:extLst>
          </p:cNvPr>
          <p:cNvSpPr txBox="1"/>
          <p:nvPr/>
        </p:nvSpPr>
        <p:spPr>
          <a:xfrm>
            <a:off x="604519" y="302767"/>
            <a:ext cx="4531690" cy="430887"/>
          </a:xfrm>
          <a:prstGeom prst="rect">
            <a:avLst/>
          </a:prstGeom>
          <a:noFill/>
        </p:spPr>
        <p:txBody>
          <a:bodyPr wrap="none" lIns="0" tIns="0" rIns="0" bIns="0">
            <a:spAutoFit/>
          </a:bodyPr>
          <a:lstStyle/>
          <a:p>
            <a:pPr>
              <a:spcBef>
                <a:spcPts val="0"/>
              </a:spcBef>
              <a:spcAft>
                <a:spcPts val="0"/>
              </a:spcAft>
            </a:pPr>
            <a:r>
              <a:rPr lang="en-ID" sz="2800" b="1" i="0" dirty="0">
                <a:solidFill>
                  <a:srgbClr val="C8181A"/>
                </a:solidFill>
                <a:latin typeface="Arial"/>
              </a:rPr>
              <a:t>Problem Statement &amp; Goal</a:t>
            </a:r>
            <a:endParaRPr sz="2800" b="1" i="0" dirty="0">
              <a:solidFill>
                <a:srgbClr val="C8181A"/>
              </a:solidFill>
              <a:latin typeface="Arial"/>
            </a:endParaRPr>
          </a:p>
        </p:txBody>
      </p:sp>
      <p:sp>
        <p:nvSpPr>
          <p:cNvPr id="2" name="Rounded Rectangle 1">
            <a:extLst>
              <a:ext uri="{FF2B5EF4-FFF2-40B4-BE49-F238E27FC236}">
                <a16:creationId xmlns:a16="http://schemas.microsoft.com/office/drawing/2014/main" id="{A37A03A7-28A3-9F8B-3D56-3EC3EC5CED10}"/>
              </a:ext>
            </a:extLst>
          </p:cNvPr>
          <p:cNvSpPr/>
          <p:nvPr/>
        </p:nvSpPr>
        <p:spPr>
          <a:xfrm>
            <a:off x="621792" y="1325880"/>
            <a:ext cx="3227832" cy="4434840"/>
          </a:xfrm>
          <a:prstGeom prst="roundRect">
            <a:avLst/>
          </a:prstGeom>
          <a:solidFill>
            <a:srgbClr val="FFFFFF"/>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wide_realistic_high_resolution_supermarket_mini.png">
            <a:extLst>
              <a:ext uri="{FF2B5EF4-FFF2-40B4-BE49-F238E27FC236}">
                <a16:creationId xmlns:a16="http://schemas.microsoft.com/office/drawing/2014/main" id="{EAB5D856-69BC-A8FD-68E2-1A620DE99F00}"/>
              </a:ext>
            </a:extLst>
          </p:cNvPr>
          <p:cNvPicPr>
            <a:picLocks noChangeAspect="1"/>
          </p:cNvPicPr>
          <p:nvPr/>
        </p:nvPicPr>
        <p:blipFill>
          <a:blip r:embed="rId3"/>
          <a:srcRect t="8463" b="8463"/>
          <a:stretch>
            <a:fillRect/>
          </a:stretch>
        </p:blipFill>
        <p:spPr>
          <a:xfrm>
            <a:off x="768096" y="1481328"/>
            <a:ext cx="2935224" cy="1828800"/>
          </a:xfrm>
          <a:prstGeom prst="rect">
            <a:avLst/>
          </a:prstGeom>
        </p:spPr>
      </p:pic>
      <p:sp>
        <p:nvSpPr>
          <p:cNvPr id="10" name="Oval 9">
            <a:extLst>
              <a:ext uri="{FF2B5EF4-FFF2-40B4-BE49-F238E27FC236}">
                <a16:creationId xmlns:a16="http://schemas.microsoft.com/office/drawing/2014/main" id="{D2BF5661-8A58-8214-4A74-62998E2D33DA}"/>
              </a:ext>
            </a:extLst>
          </p:cNvPr>
          <p:cNvSpPr/>
          <p:nvPr/>
        </p:nvSpPr>
        <p:spPr>
          <a:xfrm>
            <a:off x="804672" y="3529584"/>
            <a:ext cx="292608" cy="292608"/>
          </a:xfrm>
          <a:prstGeom prst="ellipse">
            <a:avLst/>
          </a:prstGeom>
          <a:solidFill>
            <a:srgbClr val="CC1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1</a:t>
            </a:r>
          </a:p>
        </p:txBody>
      </p:sp>
      <p:sp>
        <p:nvSpPr>
          <p:cNvPr id="11" name="TextBox 10">
            <a:extLst>
              <a:ext uri="{FF2B5EF4-FFF2-40B4-BE49-F238E27FC236}">
                <a16:creationId xmlns:a16="http://schemas.microsoft.com/office/drawing/2014/main" id="{CE4789AD-EA20-CDB9-1B47-45AD73228EDF}"/>
              </a:ext>
            </a:extLst>
          </p:cNvPr>
          <p:cNvSpPr txBox="1"/>
          <p:nvPr/>
        </p:nvSpPr>
        <p:spPr>
          <a:xfrm>
            <a:off x="1170432" y="3456432"/>
            <a:ext cx="2487168" cy="621792"/>
          </a:xfrm>
          <a:prstGeom prst="rect">
            <a:avLst/>
          </a:prstGeom>
          <a:noFill/>
        </p:spPr>
        <p:txBody>
          <a:bodyPr wrap="square" lIns="36576" tIns="36576" rIns="36576" bIns="36576" anchor="t">
            <a:spAutoFit/>
          </a:bodyPr>
          <a:lstStyle/>
          <a:p>
            <a:pPr algn="l"/>
            <a:r>
              <a:rPr sz="1500" b="1" i="0">
                <a:solidFill>
                  <a:srgbClr val="1D1F34"/>
                </a:solidFill>
                <a:latin typeface="Aptos"/>
              </a:rPr>
              <a:t>High-Volume Purchase During JSM</a:t>
            </a:r>
          </a:p>
        </p:txBody>
      </p:sp>
      <p:sp>
        <p:nvSpPr>
          <p:cNvPr id="12" name="TextBox 11">
            <a:extLst>
              <a:ext uri="{FF2B5EF4-FFF2-40B4-BE49-F238E27FC236}">
                <a16:creationId xmlns:a16="http://schemas.microsoft.com/office/drawing/2014/main" id="{0940B34C-0EE1-7AEE-743A-5FFA652AA1A9}"/>
              </a:ext>
            </a:extLst>
          </p:cNvPr>
          <p:cNvSpPr txBox="1"/>
          <p:nvPr/>
        </p:nvSpPr>
        <p:spPr>
          <a:xfrm>
            <a:off x="804672" y="4224528"/>
            <a:ext cx="2834640" cy="443198"/>
          </a:xfrm>
          <a:prstGeom prst="rect">
            <a:avLst/>
          </a:prstGeom>
          <a:noFill/>
        </p:spPr>
        <p:txBody>
          <a:bodyPr wrap="square" lIns="36576" tIns="36576" rIns="36576" bIns="36576" anchor="t">
            <a:spAutoFit/>
          </a:bodyPr>
          <a:lstStyle/>
          <a:p>
            <a:pPr algn="ctr"/>
            <a:r>
              <a:rPr sz="1200" b="0" i="0" dirty="0">
                <a:latin typeface="Aptos"/>
              </a:rPr>
              <a:t>Is high</a:t>
            </a:r>
            <a:r>
              <a:rPr lang="en-US" sz="1200" b="0" i="0" dirty="0">
                <a:latin typeface="Aptos"/>
              </a:rPr>
              <a:t> </a:t>
            </a:r>
            <a:r>
              <a:rPr sz="1200" b="0" i="0" dirty="0">
                <a:latin typeface="Aptos"/>
              </a:rPr>
              <a:t>volume purchasing materially more common when JSM is active?</a:t>
            </a:r>
          </a:p>
        </p:txBody>
      </p:sp>
      <p:sp>
        <p:nvSpPr>
          <p:cNvPr id="13" name="Rounded Rectangle 12">
            <a:extLst>
              <a:ext uri="{FF2B5EF4-FFF2-40B4-BE49-F238E27FC236}">
                <a16:creationId xmlns:a16="http://schemas.microsoft.com/office/drawing/2014/main" id="{3AB6849F-AC8B-4D2D-A0F5-C9F1F579F677}"/>
              </a:ext>
            </a:extLst>
          </p:cNvPr>
          <p:cNvSpPr/>
          <p:nvPr/>
        </p:nvSpPr>
        <p:spPr>
          <a:xfrm>
            <a:off x="4160520" y="1325880"/>
            <a:ext cx="3227832" cy="4434840"/>
          </a:xfrm>
          <a:prstGeom prst="roundRect">
            <a:avLst/>
          </a:prstGeom>
          <a:solidFill>
            <a:srgbClr val="FFFFFF"/>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wide_bright_realistic_retail_checkout_scene_in_a.png">
            <a:extLst>
              <a:ext uri="{FF2B5EF4-FFF2-40B4-BE49-F238E27FC236}">
                <a16:creationId xmlns:a16="http://schemas.microsoft.com/office/drawing/2014/main" id="{B24C6F58-F5C4-CF92-4BE8-931C1C08FEC2}"/>
              </a:ext>
            </a:extLst>
          </p:cNvPr>
          <p:cNvPicPr>
            <a:picLocks noChangeAspect="1"/>
          </p:cNvPicPr>
          <p:nvPr/>
        </p:nvPicPr>
        <p:blipFill>
          <a:blip r:embed="rId4"/>
          <a:srcRect t="8463" b="8463"/>
          <a:stretch>
            <a:fillRect/>
          </a:stretch>
        </p:blipFill>
        <p:spPr>
          <a:xfrm>
            <a:off x="4306824" y="1481328"/>
            <a:ext cx="2935224" cy="1828800"/>
          </a:xfrm>
          <a:prstGeom prst="rect">
            <a:avLst/>
          </a:prstGeom>
        </p:spPr>
      </p:pic>
      <p:sp>
        <p:nvSpPr>
          <p:cNvPr id="17" name="Oval 16">
            <a:extLst>
              <a:ext uri="{FF2B5EF4-FFF2-40B4-BE49-F238E27FC236}">
                <a16:creationId xmlns:a16="http://schemas.microsoft.com/office/drawing/2014/main" id="{0F05B381-0E5E-A677-C4D9-EA5234C2062B}"/>
              </a:ext>
            </a:extLst>
          </p:cNvPr>
          <p:cNvSpPr/>
          <p:nvPr/>
        </p:nvSpPr>
        <p:spPr>
          <a:xfrm>
            <a:off x="4343400" y="3529584"/>
            <a:ext cx="292608" cy="292608"/>
          </a:xfrm>
          <a:prstGeom prst="ellipse">
            <a:avLst/>
          </a:prstGeom>
          <a:solidFill>
            <a:srgbClr val="CC1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dirty="0">
                <a:solidFill>
                  <a:srgbClr val="FFFFFF"/>
                </a:solidFill>
                <a:latin typeface="Aptos"/>
              </a:rPr>
              <a:t>2</a:t>
            </a:r>
          </a:p>
        </p:txBody>
      </p:sp>
      <p:sp>
        <p:nvSpPr>
          <p:cNvPr id="18" name="TextBox 17">
            <a:extLst>
              <a:ext uri="{FF2B5EF4-FFF2-40B4-BE49-F238E27FC236}">
                <a16:creationId xmlns:a16="http://schemas.microsoft.com/office/drawing/2014/main" id="{AD2F127B-765E-CDFC-EA7F-258196804372}"/>
              </a:ext>
            </a:extLst>
          </p:cNvPr>
          <p:cNvSpPr txBox="1"/>
          <p:nvPr/>
        </p:nvSpPr>
        <p:spPr>
          <a:xfrm>
            <a:off x="4709159" y="3456432"/>
            <a:ext cx="2487168" cy="621792"/>
          </a:xfrm>
          <a:prstGeom prst="rect">
            <a:avLst/>
          </a:prstGeom>
          <a:noFill/>
        </p:spPr>
        <p:txBody>
          <a:bodyPr wrap="square" lIns="36576" tIns="36576" rIns="36576" bIns="36576" anchor="t">
            <a:spAutoFit/>
          </a:bodyPr>
          <a:lstStyle/>
          <a:p>
            <a:pPr algn="l"/>
            <a:r>
              <a:rPr sz="1500" b="1" i="0">
                <a:solidFill>
                  <a:srgbClr val="1D1F34"/>
                </a:solidFill>
                <a:latin typeface="Aptos"/>
              </a:rPr>
              <a:t>Promotional Discount Exposure</a:t>
            </a:r>
          </a:p>
        </p:txBody>
      </p:sp>
      <p:sp>
        <p:nvSpPr>
          <p:cNvPr id="19" name="TextBox 18">
            <a:extLst>
              <a:ext uri="{FF2B5EF4-FFF2-40B4-BE49-F238E27FC236}">
                <a16:creationId xmlns:a16="http://schemas.microsoft.com/office/drawing/2014/main" id="{B674622D-AE4A-7964-5823-48D4E7235A20}"/>
              </a:ext>
            </a:extLst>
          </p:cNvPr>
          <p:cNvSpPr txBox="1"/>
          <p:nvPr/>
        </p:nvSpPr>
        <p:spPr>
          <a:xfrm>
            <a:off x="4343400" y="4224528"/>
            <a:ext cx="2834640" cy="627864"/>
          </a:xfrm>
          <a:prstGeom prst="rect">
            <a:avLst/>
          </a:prstGeom>
          <a:noFill/>
        </p:spPr>
        <p:txBody>
          <a:bodyPr wrap="square" lIns="36576" tIns="36576" rIns="36576" bIns="36576" anchor="t">
            <a:spAutoFit/>
          </a:bodyPr>
          <a:lstStyle/>
          <a:p>
            <a:pPr algn="ctr"/>
            <a:r>
              <a:rPr sz="1200" b="0" i="0" dirty="0">
                <a:latin typeface="Aptos"/>
              </a:rPr>
              <a:t>How much promotional discount exposure is concentrated in high</a:t>
            </a:r>
            <a:r>
              <a:rPr lang="en-US" sz="1200" b="0" i="0" dirty="0">
                <a:latin typeface="Aptos"/>
              </a:rPr>
              <a:t> </a:t>
            </a:r>
            <a:r>
              <a:rPr sz="1200" b="0" i="0" dirty="0">
                <a:latin typeface="Aptos"/>
              </a:rPr>
              <a:t>volume transactions?</a:t>
            </a:r>
          </a:p>
        </p:txBody>
      </p:sp>
      <p:sp>
        <p:nvSpPr>
          <p:cNvPr id="20" name="Rounded Rectangle 19">
            <a:extLst>
              <a:ext uri="{FF2B5EF4-FFF2-40B4-BE49-F238E27FC236}">
                <a16:creationId xmlns:a16="http://schemas.microsoft.com/office/drawing/2014/main" id="{9BC92EB8-BEBC-E4E8-2CA4-7897B3B0BE9D}"/>
              </a:ext>
            </a:extLst>
          </p:cNvPr>
          <p:cNvSpPr/>
          <p:nvPr/>
        </p:nvSpPr>
        <p:spPr>
          <a:xfrm>
            <a:off x="7699248" y="1325880"/>
            <a:ext cx="3227832" cy="4434840"/>
          </a:xfrm>
          <a:prstGeom prst="roundRect">
            <a:avLst/>
          </a:prstGeom>
          <a:solidFill>
            <a:srgbClr val="FFFFFF"/>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wide_realistic_modern_retail_tech_promotional_sc.png">
            <a:extLst>
              <a:ext uri="{FF2B5EF4-FFF2-40B4-BE49-F238E27FC236}">
                <a16:creationId xmlns:a16="http://schemas.microsoft.com/office/drawing/2014/main" id="{0E9FCE78-8F8F-D9DA-5979-65E4F600C2EF}"/>
              </a:ext>
            </a:extLst>
          </p:cNvPr>
          <p:cNvPicPr>
            <a:picLocks noChangeAspect="1"/>
          </p:cNvPicPr>
          <p:nvPr/>
        </p:nvPicPr>
        <p:blipFill>
          <a:blip r:embed="rId5"/>
          <a:srcRect t="8463" b="8463"/>
          <a:stretch>
            <a:fillRect/>
          </a:stretch>
        </p:blipFill>
        <p:spPr>
          <a:xfrm>
            <a:off x="7845552" y="1481328"/>
            <a:ext cx="2935224" cy="1828800"/>
          </a:xfrm>
          <a:prstGeom prst="rect">
            <a:avLst/>
          </a:prstGeom>
        </p:spPr>
      </p:pic>
      <p:sp>
        <p:nvSpPr>
          <p:cNvPr id="23" name="TextBox 22">
            <a:extLst>
              <a:ext uri="{FF2B5EF4-FFF2-40B4-BE49-F238E27FC236}">
                <a16:creationId xmlns:a16="http://schemas.microsoft.com/office/drawing/2014/main" id="{24A61284-FB5A-91F9-BFBF-DBCA85F50D8A}"/>
              </a:ext>
            </a:extLst>
          </p:cNvPr>
          <p:cNvSpPr txBox="1"/>
          <p:nvPr/>
        </p:nvSpPr>
        <p:spPr>
          <a:xfrm>
            <a:off x="8229599" y="3543300"/>
            <a:ext cx="2487168" cy="621792"/>
          </a:xfrm>
          <a:prstGeom prst="rect">
            <a:avLst/>
          </a:prstGeom>
          <a:noFill/>
        </p:spPr>
        <p:txBody>
          <a:bodyPr wrap="square" lIns="36576" tIns="36576" rIns="36576" bIns="36576" anchor="t">
            <a:spAutoFit/>
          </a:bodyPr>
          <a:lstStyle/>
          <a:p>
            <a:pPr algn="l"/>
            <a:r>
              <a:rPr sz="1500" b="1" i="0" dirty="0">
                <a:solidFill>
                  <a:srgbClr val="1D1F34"/>
                </a:solidFill>
                <a:latin typeface="Aptos"/>
              </a:rPr>
              <a:t>Smarter Promotion Control</a:t>
            </a:r>
          </a:p>
        </p:txBody>
      </p:sp>
      <p:sp>
        <p:nvSpPr>
          <p:cNvPr id="24" name="TextBox 23">
            <a:extLst>
              <a:ext uri="{FF2B5EF4-FFF2-40B4-BE49-F238E27FC236}">
                <a16:creationId xmlns:a16="http://schemas.microsoft.com/office/drawing/2014/main" id="{DA15369B-4B59-AC3E-8F93-30F374FA266B}"/>
              </a:ext>
            </a:extLst>
          </p:cNvPr>
          <p:cNvSpPr txBox="1"/>
          <p:nvPr/>
        </p:nvSpPr>
        <p:spPr>
          <a:xfrm>
            <a:off x="7882127" y="4224528"/>
            <a:ext cx="2834640" cy="627864"/>
          </a:xfrm>
          <a:prstGeom prst="rect">
            <a:avLst/>
          </a:prstGeom>
          <a:noFill/>
        </p:spPr>
        <p:txBody>
          <a:bodyPr wrap="square" lIns="36576" tIns="36576" rIns="36576" bIns="36576" anchor="t">
            <a:spAutoFit/>
          </a:bodyPr>
          <a:lstStyle/>
          <a:p>
            <a:pPr algn="ctr"/>
            <a:r>
              <a:rPr sz="1200" b="0" i="0" dirty="0">
                <a:latin typeface="Aptos"/>
              </a:rPr>
              <a:t>What quantity</a:t>
            </a:r>
            <a:r>
              <a:rPr lang="en-US" sz="1200" b="0" i="0" dirty="0">
                <a:latin typeface="Aptos"/>
              </a:rPr>
              <a:t> </a:t>
            </a:r>
            <a:r>
              <a:rPr sz="1200" b="0" i="0" dirty="0">
                <a:latin typeface="Aptos"/>
              </a:rPr>
              <a:t>based promo rule can protect efficiency without blocking purchases?</a:t>
            </a:r>
          </a:p>
        </p:txBody>
      </p:sp>
      <p:sp>
        <p:nvSpPr>
          <p:cNvPr id="25" name="Oval 24">
            <a:extLst>
              <a:ext uri="{FF2B5EF4-FFF2-40B4-BE49-F238E27FC236}">
                <a16:creationId xmlns:a16="http://schemas.microsoft.com/office/drawing/2014/main" id="{54517683-0B69-096D-50A3-B5AE80DDBE0A}"/>
              </a:ext>
            </a:extLst>
          </p:cNvPr>
          <p:cNvSpPr/>
          <p:nvPr/>
        </p:nvSpPr>
        <p:spPr>
          <a:xfrm>
            <a:off x="7882127" y="3529584"/>
            <a:ext cx="292608" cy="292608"/>
          </a:xfrm>
          <a:prstGeom prst="ellipse">
            <a:avLst/>
          </a:prstGeom>
          <a:solidFill>
            <a:srgbClr val="CC1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rgbClr val="FFFFFF"/>
                </a:solidFill>
                <a:latin typeface="Aptos"/>
              </a:rPr>
              <a:t>3</a:t>
            </a:r>
            <a:endParaRPr sz="1200" b="1" dirty="0">
              <a:solidFill>
                <a:srgbClr val="FFFFFF"/>
              </a:solidFill>
              <a:latin typeface="Aptos"/>
            </a:endParaRPr>
          </a:p>
        </p:txBody>
      </p:sp>
    </p:spTree>
    <p:extLst>
      <p:ext uri="{BB962C8B-B14F-4D97-AF65-F5344CB8AC3E}">
        <p14:creationId xmlns:p14="http://schemas.microsoft.com/office/powerpoint/2010/main" val="3022269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8968B-CC17-2627-81DD-CD1DFAA906A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ACA3F60-6686-4961-277B-382710CCF424}"/>
              </a:ext>
            </a:extLst>
          </p:cNvPr>
          <p:cNvSpPr/>
          <p:nvPr/>
        </p:nvSpPr>
        <p:spPr>
          <a:xfrm>
            <a:off x="-1" y="0"/>
            <a:ext cx="12192001" cy="6858001"/>
          </a:xfrm>
          <a:prstGeom prst="rect">
            <a:avLst/>
          </a:prstGeom>
          <a:solidFill>
            <a:srgbClr val="E0E3E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1D14230-F2A0-955B-05E6-0797A0B61A5A}"/>
              </a:ext>
            </a:extLst>
          </p:cNvPr>
          <p:cNvSpPr txBox="1"/>
          <p:nvPr/>
        </p:nvSpPr>
        <p:spPr>
          <a:xfrm>
            <a:off x="604519" y="566081"/>
            <a:ext cx="999197" cy="220810"/>
          </a:xfrm>
          <a:prstGeom prst="rect">
            <a:avLst/>
          </a:prstGeom>
          <a:noFill/>
        </p:spPr>
        <p:txBody>
          <a:bodyPr wrap="none" lIns="0" tIns="0" rIns="0" bIns="0">
            <a:spAutoFit/>
          </a:bodyPr>
          <a:lstStyle/>
          <a:p>
            <a:pPr>
              <a:spcBef>
                <a:spcPts val="0"/>
              </a:spcBef>
              <a:spcAft>
                <a:spcPts val="0"/>
              </a:spcAft>
            </a:pPr>
            <a:r>
              <a:rPr sz="1071" b="1" i="0" dirty="0">
                <a:solidFill>
                  <a:srgbClr val="C8181A"/>
                </a:solidFill>
                <a:latin typeface="Arial"/>
              </a:rPr>
              <a:t>S E C T I O N</a:t>
            </a:r>
          </a:p>
        </p:txBody>
      </p:sp>
      <p:sp>
        <p:nvSpPr>
          <p:cNvPr id="8" name="TextBox 7">
            <a:extLst>
              <a:ext uri="{FF2B5EF4-FFF2-40B4-BE49-F238E27FC236}">
                <a16:creationId xmlns:a16="http://schemas.microsoft.com/office/drawing/2014/main" id="{115421B3-F1FD-6CE4-2070-8AF2293E0928}"/>
              </a:ext>
            </a:extLst>
          </p:cNvPr>
          <p:cNvSpPr txBox="1"/>
          <p:nvPr/>
        </p:nvSpPr>
        <p:spPr>
          <a:xfrm>
            <a:off x="745284" y="566081"/>
            <a:ext cx="2480166" cy="2646878"/>
          </a:xfrm>
          <a:prstGeom prst="rect">
            <a:avLst/>
          </a:prstGeom>
          <a:noFill/>
        </p:spPr>
        <p:txBody>
          <a:bodyPr wrap="none" rtlCol="0">
            <a:spAutoFit/>
          </a:bodyPr>
          <a:lstStyle/>
          <a:p>
            <a:r>
              <a:rPr lang="en-US" sz="16600" b="1" dirty="0">
                <a:solidFill>
                  <a:srgbClr val="2B5CAA"/>
                </a:solidFill>
                <a:latin typeface="Impact" panose="020B0806030902050204" pitchFamily="34" charset="0"/>
                <a:ea typeface="STHupo" panose="02010800040101010101" pitchFamily="2" charset="-122"/>
              </a:rPr>
              <a:t>02</a:t>
            </a:r>
          </a:p>
        </p:txBody>
      </p:sp>
      <p:cxnSp>
        <p:nvCxnSpPr>
          <p:cNvPr id="9" name="Straight Connector 8">
            <a:extLst>
              <a:ext uri="{FF2B5EF4-FFF2-40B4-BE49-F238E27FC236}">
                <a16:creationId xmlns:a16="http://schemas.microsoft.com/office/drawing/2014/main" id="{50771F7A-3777-9C84-FCED-4743846EDE03}"/>
              </a:ext>
            </a:extLst>
          </p:cNvPr>
          <p:cNvCxnSpPr>
            <a:cxnSpLocks/>
          </p:cNvCxnSpPr>
          <p:nvPr/>
        </p:nvCxnSpPr>
        <p:spPr>
          <a:xfrm>
            <a:off x="604519" y="4823418"/>
            <a:ext cx="6091703" cy="0"/>
          </a:xfrm>
          <a:prstGeom prst="line">
            <a:avLst/>
          </a:prstGeom>
          <a:ln w="41275">
            <a:solidFill>
              <a:srgbClr val="FFFF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134B5817-DD4F-9F2D-DA1B-AD4A895726F2}"/>
              </a:ext>
            </a:extLst>
          </p:cNvPr>
          <p:cNvSpPr txBox="1"/>
          <p:nvPr/>
        </p:nvSpPr>
        <p:spPr>
          <a:xfrm>
            <a:off x="542734" y="3040376"/>
            <a:ext cx="6528764" cy="1661993"/>
          </a:xfrm>
          <a:prstGeom prst="rect">
            <a:avLst/>
          </a:prstGeom>
          <a:noFill/>
        </p:spPr>
        <p:txBody>
          <a:bodyPr wrap="square" lIns="0" tIns="0" rIns="0" bIns="0">
            <a:spAutoFit/>
          </a:bodyPr>
          <a:lstStyle/>
          <a:p>
            <a:pPr>
              <a:spcBef>
                <a:spcPts val="0"/>
              </a:spcBef>
              <a:spcAft>
                <a:spcPts val="0"/>
              </a:spcAft>
            </a:pPr>
            <a:r>
              <a:rPr lang="en-US" sz="5400" b="1" dirty="0">
                <a:solidFill>
                  <a:srgbClr val="ED1B24"/>
                </a:solidFill>
                <a:effectLst>
                  <a:outerShdw blurRad="50800" dist="38100" dir="10800000" algn="r" rotWithShape="0">
                    <a:prstClr val="black">
                      <a:alpha val="40000"/>
                    </a:prstClr>
                  </a:outerShdw>
                </a:effectLst>
                <a:latin typeface="Arial"/>
              </a:rPr>
              <a:t>Data understanding </a:t>
            </a:r>
          </a:p>
          <a:p>
            <a:pPr>
              <a:spcBef>
                <a:spcPts val="0"/>
              </a:spcBef>
              <a:spcAft>
                <a:spcPts val="0"/>
              </a:spcAft>
            </a:pPr>
            <a:r>
              <a:rPr lang="en-US" sz="5400" b="1" dirty="0">
                <a:solidFill>
                  <a:srgbClr val="ED1B24"/>
                </a:solidFill>
                <a:effectLst>
                  <a:outerShdw blurRad="50800" dist="38100" dir="10800000" algn="r" rotWithShape="0">
                    <a:prstClr val="black">
                      <a:alpha val="40000"/>
                    </a:prstClr>
                  </a:outerShdw>
                </a:effectLst>
                <a:latin typeface="Arial"/>
              </a:rPr>
              <a:t>and cleaning</a:t>
            </a:r>
          </a:p>
        </p:txBody>
      </p:sp>
      <p:pic>
        <p:nvPicPr>
          <p:cNvPr id="11" name="Picture 10">
            <a:extLst>
              <a:ext uri="{FF2B5EF4-FFF2-40B4-BE49-F238E27FC236}">
                <a16:creationId xmlns:a16="http://schemas.microsoft.com/office/drawing/2014/main" id="{97843D8A-7F88-E06A-274C-1EE9BE157616}"/>
              </a:ext>
            </a:extLst>
          </p:cNvPr>
          <p:cNvPicPr>
            <a:picLocks noChangeAspect="1"/>
          </p:cNvPicPr>
          <p:nvPr/>
        </p:nvPicPr>
        <p:blipFill>
          <a:blip r:embed="rId2"/>
          <a:stretch>
            <a:fillRect/>
          </a:stretch>
        </p:blipFill>
        <p:spPr>
          <a:xfrm>
            <a:off x="7133283" y="0"/>
            <a:ext cx="5058717" cy="6858000"/>
          </a:xfrm>
          <a:prstGeom prst="rect">
            <a:avLst/>
          </a:prstGeom>
        </p:spPr>
      </p:pic>
    </p:spTree>
    <p:extLst>
      <p:ext uri="{BB962C8B-B14F-4D97-AF65-F5344CB8AC3E}">
        <p14:creationId xmlns:p14="http://schemas.microsoft.com/office/powerpoint/2010/main" val="621776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56BB1-A0AA-B85C-3603-652F080085C2}"/>
            </a:ext>
          </a:extLst>
        </p:cNvPr>
        <p:cNvGrpSpPr/>
        <p:nvPr/>
      </p:nvGrpSpPr>
      <p:grpSpPr>
        <a:xfrm>
          <a:off x="0" y="0"/>
          <a:ext cx="0" cy="0"/>
          <a:chOff x="0" y="0"/>
          <a:chExt cx="0" cy="0"/>
        </a:xfrm>
      </p:grpSpPr>
      <p:sp>
        <p:nvSpPr>
          <p:cNvPr id="52" name="Rounded Rectangle 51">
            <a:extLst>
              <a:ext uri="{FF2B5EF4-FFF2-40B4-BE49-F238E27FC236}">
                <a16:creationId xmlns:a16="http://schemas.microsoft.com/office/drawing/2014/main" id="{AB34FC57-DDC0-B4E1-7573-AB053BBBD852}"/>
              </a:ext>
            </a:extLst>
          </p:cNvPr>
          <p:cNvSpPr/>
          <p:nvPr/>
        </p:nvSpPr>
        <p:spPr>
          <a:xfrm>
            <a:off x="4904895" y="1240179"/>
            <a:ext cx="6730514" cy="5041351"/>
          </a:xfrm>
          <a:prstGeom prst="roundRect">
            <a:avLst/>
          </a:prstGeom>
          <a:solidFill>
            <a:srgbClr val="FFFFFF"/>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a:extLst>
              <a:ext uri="{FF2B5EF4-FFF2-40B4-BE49-F238E27FC236}">
                <a16:creationId xmlns:a16="http://schemas.microsoft.com/office/drawing/2014/main" id="{89797A06-E1A1-2E54-E111-174B525CE60A}"/>
              </a:ext>
            </a:extLst>
          </p:cNvPr>
          <p:cNvSpPr/>
          <p:nvPr/>
        </p:nvSpPr>
        <p:spPr>
          <a:xfrm>
            <a:off x="899160" y="1317759"/>
            <a:ext cx="3794760" cy="2011679"/>
          </a:xfrm>
          <a:prstGeom prst="roundRect">
            <a:avLst/>
          </a:prstGeom>
          <a:solidFill>
            <a:srgbClr val="FFFFFF"/>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a:extLst>
              <a:ext uri="{FF2B5EF4-FFF2-40B4-BE49-F238E27FC236}">
                <a16:creationId xmlns:a16="http://schemas.microsoft.com/office/drawing/2014/main" id="{DE061DAD-79A0-B1F9-3669-E2B643BE1BA0}"/>
              </a:ext>
            </a:extLst>
          </p:cNvPr>
          <p:cNvPicPr>
            <a:picLocks noChangeAspect="1"/>
          </p:cNvPicPr>
          <p:nvPr/>
        </p:nvPicPr>
        <p:blipFill>
          <a:blip r:embed="rId2"/>
          <a:stretch>
            <a:fillRect/>
          </a:stretch>
        </p:blipFill>
        <p:spPr>
          <a:xfrm>
            <a:off x="0" y="-1"/>
            <a:ext cx="12192000" cy="621791"/>
          </a:xfrm>
          <a:prstGeom prst="rect">
            <a:avLst/>
          </a:prstGeom>
        </p:spPr>
      </p:pic>
      <p:sp>
        <p:nvSpPr>
          <p:cNvPr id="4" name="TextBox 3">
            <a:extLst>
              <a:ext uri="{FF2B5EF4-FFF2-40B4-BE49-F238E27FC236}">
                <a16:creationId xmlns:a16="http://schemas.microsoft.com/office/drawing/2014/main" id="{89027440-DD6C-3D6C-7ED7-6E46F5ED1667}"/>
              </a:ext>
            </a:extLst>
          </p:cNvPr>
          <p:cNvSpPr txBox="1"/>
          <p:nvPr/>
        </p:nvSpPr>
        <p:spPr>
          <a:xfrm>
            <a:off x="594360" y="256032"/>
            <a:ext cx="10881360" cy="502920"/>
          </a:xfrm>
          <a:prstGeom prst="rect">
            <a:avLst/>
          </a:prstGeom>
          <a:noFill/>
        </p:spPr>
        <p:txBody>
          <a:bodyPr wrap="square" lIns="36576" tIns="36576" rIns="36576" bIns="36576" anchor="t">
            <a:spAutoFit/>
          </a:bodyPr>
          <a:lstStyle/>
          <a:p>
            <a:pPr algn="l"/>
            <a:r>
              <a:rPr sz="2800" b="1" i="0" dirty="0">
                <a:solidFill>
                  <a:srgbClr val="CC141F"/>
                </a:solidFill>
                <a:latin typeface="Aptos"/>
              </a:rPr>
              <a:t>Data Foundation &amp; Analytical Framework</a:t>
            </a:r>
          </a:p>
        </p:txBody>
      </p:sp>
      <p:sp>
        <p:nvSpPr>
          <p:cNvPr id="6" name="TextBox 5">
            <a:extLst>
              <a:ext uri="{FF2B5EF4-FFF2-40B4-BE49-F238E27FC236}">
                <a16:creationId xmlns:a16="http://schemas.microsoft.com/office/drawing/2014/main" id="{F3D2E554-BE15-BE1C-8E02-4D2628145773}"/>
              </a:ext>
            </a:extLst>
          </p:cNvPr>
          <p:cNvSpPr txBox="1"/>
          <p:nvPr/>
        </p:nvSpPr>
        <p:spPr>
          <a:xfrm>
            <a:off x="1146048" y="1377128"/>
            <a:ext cx="3200400" cy="310896"/>
          </a:xfrm>
          <a:prstGeom prst="rect">
            <a:avLst/>
          </a:prstGeom>
          <a:noFill/>
        </p:spPr>
        <p:txBody>
          <a:bodyPr wrap="square" lIns="36576" tIns="36576" rIns="36576" bIns="36576" anchor="t">
            <a:spAutoFit/>
          </a:bodyPr>
          <a:lstStyle/>
          <a:p>
            <a:pPr algn="l"/>
            <a:r>
              <a:rPr sz="1700" b="1" i="0">
                <a:solidFill>
                  <a:srgbClr val="CC141F"/>
                </a:solidFill>
                <a:latin typeface="Aptos"/>
              </a:rPr>
              <a:t>1. Data Source</a:t>
            </a:r>
          </a:p>
        </p:txBody>
      </p:sp>
      <p:sp>
        <p:nvSpPr>
          <p:cNvPr id="7" name="TextBox 6">
            <a:extLst>
              <a:ext uri="{FF2B5EF4-FFF2-40B4-BE49-F238E27FC236}">
                <a16:creationId xmlns:a16="http://schemas.microsoft.com/office/drawing/2014/main" id="{41F975F6-3DD9-6CBF-738B-FCBE839E5EBB}"/>
              </a:ext>
            </a:extLst>
          </p:cNvPr>
          <p:cNvSpPr txBox="1"/>
          <p:nvPr/>
        </p:nvSpPr>
        <p:spPr>
          <a:xfrm>
            <a:off x="1200912" y="1788607"/>
            <a:ext cx="3017520" cy="243143"/>
          </a:xfrm>
          <a:prstGeom prst="rect">
            <a:avLst/>
          </a:prstGeom>
          <a:noFill/>
        </p:spPr>
        <p:txBody>
          <a:bodyPr wrap="square" lIns="36576" tIns="36576" rIns="36576" bIns="36576" anchor="t">
            <a:spAutoFit/>
          </a:bodyPr>
          <a:lstStyle/>
          <a:p>
            <a:pPr algn="l"/>
            <a:r>
              <a:rPr sz="1100" b="0" i="0" dirty="0">
                <a:latin typeface="Aptos"/>
              </a:rPr>
              <a:t>• </a:t>
            </a:r>
            <a:r>
              <a:rPr sz="1100" b="1" i="0" dirty="0">
                <a:latin typeface="Aptos"/>
              </a:rPr>
              <a:t>455,148</a:t>
            </a:r>
            <a:r>
              <a:rPr sz="1100" b="0" i="0" dirty="0">
                <a:latin typeface="Aptos"/>
              </a:rPr>
              <a:t> POS transactions</a:t>
            </a:r>
          </a:p>
        </p:txBody>
      </p:sp>
      <p:sp>
        <p:nvSpPr>
          <p:cNvPr id="8" name="TextBox 7">
            <a:extLst>
              <a:ext uri="{FF2B5EF4-FFF2-40B4-BE49-F238E27FC236}">
                <a16:creationId xmlns:a16="http://schemas.microsoft.com/office/drawing/2014/main" id="{597854F7-2367-E937-F1E7-401EDA97351E}"/>
              </a:ext>
            </a:extLst>
          </p:cNvPr>
          <p:cNvSpPr txBox="1"/>
          <p:nvPr/>
        </p:nvSpPr>
        <p:spPr>
          <a:xfrm>
            <a:off x="1200912" y="2053784"/>
            <a:ext cx="3017520" cy="243143"/>
          </a:xfrm>
          <a:prstGeom prst="rect">
            <a:avLst/>
          </a:prstGeom>
          <a:noFill/>
        </p:spPr>
        <p:txBody>
          <a:bodyPr wrap="square" lIns="36576" tIns="36576" rIns="36576" bIns="36576" anchor="t">
            <a:spAutoFit/>
          </a:bodyPr>
          <a:lstStyle/>
          <a:p>
            <a:pPr algn="l"/>
            <a:r>
              <a:rPr sz="1100" b="0" i="0" dirty="0">
                <a:latin typeface="Aptos"/>
              </a:rPr>
              <a:t>• </a:t>
            </a:r>
            <a:r>
              <a:rPr sz="1100" b="1" i="0" dirty="0">
                <a:latin typeface="Aptos"/>
              </a:rPr>
              <a:t>507</a:t>
            </a:r>
            <a:r>
              <a:rPr sz="1100" b="0" i="0" dirty="0">
                <a:latin typeface="Aptos"/>
              </a:rPr>
              <a:t> product SKUs</a:t>
            </a:r>
          </a:p>
        </p:txBody>
      </p:sp>
      <p:sp>
        <p:nvSpPr>
          <p:cNvPr id="9" name="TextBox 8">
            <a:extLst>
              <a:ext uri="{FF2B5EF4-FFF2-40B4-BE49-F238E27FC236}">
                <a16:creationId xmlns:a16="http://schemas.microsoft.com/office/drawing/2014/main" id="{EB7FC479-FCCD-1625-0123-A31E9A67A41A}"/>
              </a:ext>
            </a:extLst>
          </p:cNvPr>
          <p:cNvSpPr txBox="1"/>
          <p:nvPr/>
        </p:nvSpPr>
        <p:spPr>
          <a:xfrm>
            <a:off x="1200912" y="2318960"/>
            <a:ext cx="3017520" cy="243143"/>
          </a:xfrm>
          <a:prstGeom prst="rect">
            <a:avLst/>
          </a:prstGeom>
          <a:noFill/>
        </p:spPr>
        <p:txBody>
          <a:bodyPr wrap="square" lIns="36576" tIns="36576" rIns="36576" bIns="36576" anchor="t">
            <a:spAutoFit/>
          </a:bodyPr>
          <a:lstStyle/>
          <a:p>
            <a:pPr algn="l"/>
            <a:r>
              <a:rPr sz="1100" b="0" i="0" dirty="0">
                <a:latin typeface="Aptos"/>
              </a:rPr>
              <a:t>• </a:t>
            </a:r>
            <a:r>
              <a:rPr sz="1100" b="1" i="0" dirty="0">
                <a:latin typeface="Aptos"/>
              </a:rPr>
              <a:t>1,003</a:t>
            </a:r>
            <a:r>
              <a:rPr sz="1100" b="0" i="0" dirty="0">
                <a:latin typeface="Aptos"/>
              </a:rPr>
              <a:t> stores</a:t>
            </a:r>
          </a:p>
        </p:txBody>
      </p:sp>
      <p:sp>
        <p:nvSpPr>
          <p:cNvPr id="12" name="TextBox 11">
            <a:extLst>
              <a:ext uri="{FF2B5EF4-FFF2-40B4-BE49-F238E27FC236}">
                <a16:creationId xmlns:a16="http://schemas.microsoft.com/office/drawing/2014/main" id="{70BD5169-50D1-4D0A-7283-8EA01C92B741}"/>
              </a:ext>
            </a:extLst>
          </p:cNvPr>
          <p:cNvSpPr txBox="1"/>
          <p:nvPr/>
        </p:nvSpPr>
        <p:spPr>
          <a:xfrm>
            <a:off x="1200912" y="2584136"/>
            <a:ext cx="3017520" cy="243143"/>
          </a:xfrm>
          <a:prstGeom prst="rect">
            <a:avLst/>
          </a:prstGeom>
          <a:noFill/>
        </p:spPr>
        <p:txBody>
          <a:bodyPr wrap="square" lIns="36576" tIns="36576" rIns="36576" bIns="36576" anchor="t">
            <a:spAutoFit/>
          </a:bodyPr>
          <a:lstStyle/>
          <a:p>
            <a:pPr algn="l"/>
            <a:r>
              <a:rPr sz="1100" b="0" i="0" dirty="0">
                <a:latin typeface="Aptos"/>
              </a:rPr>
              <a:t>• </a:t>
            </a:r>
            <a:r>
              <a:rPr sz="1100" b="1" i="0" dirty="0">
                <a:latin typeface="Aptos"/>
              </a:rPr>
              <a:t>48,214</a:t>
            </a:r>
            <a:r>
              <a:rPr sz="1100" b="0" i="0" dirty="0">
                <a:latin typeface="Aptos"/>
              </a:rPr>
              <a:t> members</a:t>
            </a:r>
          </a:p>
        </p:txBody>
      </p:sp>
      <p:sp>
        <p:nvSpPr>
          <p:cNvPr id="13" name="TextBox 12">
            <a:extLst>
              <a:ext uri="{FF2B5EF4-FFF2-40B4-BE49-F238E27FC236}">
                <a16:creationId xmlns:a16="http://schemas.microsoft.com/office/drawing/2014/main" id="{532EBCE8-BDE0-BBC2-B4B1-C9BD0362862C}"/>
              </a:ext>
            </a:extLst>
          </p:cNvPr>
          <p:cNvSpPr txBox="1"/>
          <p:nvPr/>
        </p:nvSpPr>
        <p:spPr>
          <a:xfrm>
            <a:off x="1200912" y="2849312"/>
            <a:ext cx="3017520" cy="243143"/>
          </a:xfrm>
          <a:prstGeom prst="rect">
            <a:avLst/>
          </a:prstGeom>
          <a:noFill/>
        </p:spPr>
        <p:txBody>
          <a:bodyPr wrap="square" lIns="36576" tIns="36576" rIns="36576" bIns="36576" anchor="t">
            <a:spAutoFit/>
          </a:bodyPr>
          <a:lstStyle/>
          <a:p>
            <a:pPr algn="l"/>
            <a:r>
              <a:rPr sz="1100" b="0" i="0" dirty="0">
                <a:latin typeface="Aptos"/>
              </a:rPr>
              <a:t>• </a:t>
            </a:r>
            <a:r>
              <a:rPr sz="1100" b="1" i="0" dirty="0">
                <a:latin typeface="Aptos"/>
              </a:rPr>
              <a:t>10,759</a:t>
            </a:r>
            <a:r>
              <a:rPr sz="1100" b="0" i="0" dirty="0">
                <a:latin typeface="Aptos"/>
              </a:rPr>
              <a:t> complaint tickets</a:t>
            </a:r>
          </a:p>
        </p:txBody>
      </p:sp>
      <p:sp>
        <p:nvSpPr>
          <p:cNvPr id="17" name="Rounded Rectangle 16">
            <a:extLst>
              <a:ext uri="{FF2B5EF4-FFF2-40B4-BE49-F238E27FC236}">
                <a16:creationId xmlns:a16="http://schemas.microsoft.com/office/drawing/2014/main" id="{334AFF6B-0D20-C4C2-F589-4C7FEC42D9FF}"/>
              </a:ext>
            </a:extLst>
          </p:cNvPr>
          <p:cNvSpPr/>
          <p:nvPr/>
        </p:nvSpPr>
        <p:spPr>
          <a:xfrm>
            <a:off x="899160" y="3949810"/>
            <a:ext cx="3794760" cy="2331720"/>
          </a:xfrm>
          <a:prstGeom prst="roundRect">
            <a:avLst/>
          </a:prstGeom>
          <a:solidFill>
            <a:srgbClr val="FFFFFF"/>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0BEB6DC4-EF9F-E059-36B0-1BADD77ADFB9}"/>
              </a:ext>
            </a:extLst>
          </p:cNvPr>
          <p:cNvSpPr txBox="1"/>
          <p:nvPr/>
        </p:nvSpPr>
        <p:spPr>
          <a:xfrm>
            <a:off x="1146048" y="4133767"/>
            <a:ext cx="3246120" cy="310896"/>
          </a:xfrm>
          <a:prstGeom prst="rect">
            <a:avLst/>
          </a:prstGeom>
          <a:noFill/>
        </p:spPr>
        <p:txBody>
          <a:bodyPr wrap="square" lIns="36576" tIns="36576" rIns="36576" bIns="36576" anchor="t">
            <a:spAutoFit/>
          </a:bodyPr>
          <a:lstStyle/>
          <a:p>
            <a:pPr algn="l"/>
            <a:r>
              <a:rPr sz="1700" b="1" i="0">
                <a:solidFill>
                  <a:srgbClr val="CC141F"/>
                </a:solidFill>
                <a:latin typeface="Aptos"/>
              </a:rPr>
              <a:t>2. Data Preparation &amp; Validation</a:t>
            </a:r>
          </a:p>
        </p:txBody>
      </p:sp>
      <p:sp>
        <p:nvSpPr>
          <p:cNvPr id="19" name="TextBox 18">
            <a:extLst>
              <a:ext uri="{FF2B5EF4-FFF2-40B4-BE49-F238E27FC236}">
                <a16:creationId xmlns:a16="http://schemas.microsoft.com/office/drawing/2014/main" id="{D69F757E-27C3-BB0A-986C-18C256AB459F}"/>
              </a:ext>
            </a:extLst>
          </p:cNvPr>
          <p:cNvSpPr txBox="1"/>
          <p:nvPr/>
        </p:nvSpPr>
        <p:spPr>
          <a:xfrm>
            <a:off x="1200912" y="4563534"/>
            <a:ext cx="3063240" cy="243143"/>
          </a:xfrm>
          <a:prstGeom prst="rect">
            <a:avLst/>
          </a:prstGeom>
          <a:noFill/>
        </p:spPr>
        <p:txBody>
          <a:bodyPr wrap="square" lIns="36576" tIns="36576" rIns="36576" bIns="36576" anchor="t">
            <a:spAutoFit/>
          </a:bodyPr>
          <a:lstStyle/>
          <a:p>
            <a:r>
              <a:rPr lang="en-ID" sz="1050" dirty="0">
                <a:latin typeface="Aptos"/>
              </a:rPr>
              <a:t>•</a:t>
            </a:r>
            <a:r>
              <a:rPr sz="1050" b="0" i="0" dirty="0">
                <a:latin typeface="Aptos"/>
              </a:rPr>
              <a:t>  Standardize categorical values &amp; data types</a:t>
            </a:r>
          </a:p>
        </p:txBody>
      </p:sp>
      <p:sp>
        <p:nvSpPr>
          <p:cNvPr id="20" name="TextBox 19">
            <a:extLst>
              <a:ext uri="{FF2B5EF4-FFF2-40B4-BE49-F238E27FC236}">
                <a16:creationId xmlns:a16="http://schemas.microsoft.com/office/drawing/2014/main" id="{F8D26937-1A07-ACFB-40B4-E53D8BA1CB1D}"/>
              </a:ext>
            </a:extLst>
          </p:cNvPr>
          <p:cNvSpPr txBox="1"/>
          <p:nvPr/>
        </p:nvSpPr>
        <p:spPr>
          <a:xfrm>
            <a:off x="1200912" y="4874430"/>
            <a:ext cx="3063240" cy="243143"/>
          </a:xfrm>
          <a:prstGeom prst="rect">
            <a:avLst/>
          </a:prstGeom>
          <a:noFill/>
        </p:spPr>
        <p:txBody>
          <a:bodyPr wrap="square" lIns="36576" tIns="36576" rIns="36576" bIns="36576" anchor="t">
            <a:spAutoFit/>
          </a:bodyPr>
          <a:lstStyle/>
          <a:p>
            <a:r>
              <a:rPr lang="en-ID" sz="1050" dirty="0">
                <a:latin typeface="Aptos"/>
              </a:rPr>
              <a:t>•</a:t>
            </a:r>
            <a:r>
              <a:rPr sz="1050" b="0" i="0" dirty="0">
                <a:latin typeface="Aptos"/>
              </a:rPr>
              <a:t>  Handle structural missing values</a:t>
            </a:r>
          </a:p>
        </p:txBody>
      </p:sp>
      <p:sp>
        <p:nvSpPr>
          <p:cNvPr id="21" name="TextBox 20">
            <a:extLst>
              <a:ext uri="{FF2B5EF4-FFF2-40B4-BE49-F238E27FC236}">
                <a16:creationId xmlns:a16="http://schemas.microsoft.com/office/drawing/2014/main" id="{69656599-A937-E602-0978-E0A44C022C84}"/>
              </a:ext>
            </a:extLst>
          </p:cNvPr>
          <p:cNvSpPr txBox="1"/>
          <p:nvPr/>
        </p:nvSpPr>
        <p:spPr>
          <a:xfrm>
            <a:off x="1200912" y="5185326"/>
            <a:ext cx="3063240" cy="243143"/>
          </a:xfrm>
          <a:prstGeom prst="rect">
            <a:avLst/>
          </a:prstGeom>
          <a:noFill/>
        </p:spPr>
        <p:txBody>
          <a:bodyPr wrap="square" lIns="36576" tIns="36576" rIns="36576" bIns="36576" anchor="t">
            <a:spAutoFit/>
          </a:bodyPr>
          <a:lstStyle/>
          <a:p>
            <a:r>
              <a:rPr lang="en-ID" sz="1050" dirty="0">
                <a:latin typeface="Aptos"/>
              </a:rPr>
              <a:t>•</a:t>
            </a:r>
            <a:r>
              <a:rPr sz="1050" b="0" i="0" dirty="0">
                <a:latin typeface="Aptos"/>
              </a:rPr>
              <a:t>  Exclude invalid pre-opening/out-of-period rows</a:t>
            </a:r>
          </a:p>
        </p:txBody>
      </p:sp>
      <p:sp>
        <p:nvSpPr>
          <p:cNvPr id="22" name="TextBox 21">
            <a:extLst>
              <a:ext uri="{FF2B5EF4-FFF2-40B4-BE49-F238E27FC236}">
                <a16:creationId xmlns:a16="http://schemas.microsoft.com/office/drawing/2014/main" id="{D75EDC15-0C03-35BF-4263-5760C4E18D7F}"/>
              </a:ext>
            </a:extLst>
          </p:cNvPr>
          <p:cNvSpPr txBox="1"/>
          <p:nvPr/>
        </p:nvSpPr>
        <p:spPr>
          <a:xfrm>
            <a:off x="1200912" y="5496222"/>
            <a:ext cx="3063240" cy="243143"/>
          </a:xfrm>
          <a:prstGeom prst="rect">
            <a:avLst/>
          </a:prstGeom>
          <a:noFill/>
        </p:spPr>
        <p:txBody>
          <a:bodyPr wrap="square" lIns="36576" tIns="36576" rIns="36576" bIns="36576" anchor="t">
            <a:spAutoFit/>
          </a:bodyPr>
          <a:lstStyle/>
          <a:p>
            <a:r>
              <a:rPr lang="en-ID" sz="1050" dirty="0">
                <a:latin typeface="Aptos"/>
              </a:rPr>
              <a:t>•</a:t>
            </a:r>
            <a:r>
              <a:rPr sz="1050" b="0" i="0" dirty="0">
                <a:latin typeface="Aptos"/>
              </a:rPr>
              <a:t>  Validate store, SKU &amp; member referential integrity</a:t>
            </a:r>
          </a:p>
        </p:txBody>
      </p:sp>
      <p:sp>
        <p:nvSpPr>
          <p:cNvPr id="23" name="TextBox 22">
            <a:extLst>
              <a:ext uri="{FF2B5EF4-FFF2-40B4-BE49-F238E27FC236}">
                <a16:creationId xmlns:a16="http://schemas.microsoft.com/office/drawing/2014/main" id="{194FD056-E0EC-A2D1-FD1D-B7AAC428E628}"/>
              </a:ext>
            </a:extLst>
          </p:cNvPr>
          <p:cNvSpPr txBox="1"/>
          <p:nvPr/>
        </p:nvSpPr>
        <p:spPr>
          <a:xfrm>
            <a:off x="1200912" y="5807118"/>
            <a:ext cx="3063240" cy="243143"/>
          </a:xfrm>
          <a:prstGeom prst="rect">
            <a:avLst/>
          </a:prstGeom>
          <a:noFill/>
        </p:spPr>
        <p:txBody>
          <a:bodyPr wrap="square" lIns="36576" tIns="36576" rIns="36576" bIns="36576" anchor="t">
            <a:spAutoFit/>
          </a:bodyPr>
          <a:lstStyle/>
          <a:p>
            <a:r>
              <a:rPr lang="en-ID" sz="1050" dirty="0">
                <a:latin typeface="Aptos"/>
              </a:rPr>
              <a:t>•</a:t>
            </a:r>
            <a:r>
              <a:rPr sz="1050" b="0" i="0" dirty="0">
                <a:latin typeface="Aptos"/>
              </a:rPr>
              <a:t>  Verify JSM discount logic against product master</a:t>
            </a:r>
          </a:p>
        </p:txBody>
      </p:sp>
      <p:sp>
        <p:nvSpPr>
          <p:cNvPr id="24" name="TextBox 23">
            <a:extLst>
              <a:ext uri="{FF2B5EF4-FFF2-40B4-BE49-F238E27FC236}">
                <a16:creationId xmlns:a16="http://schemas.microsoft.com/office/drawing/2014/main" id="{EEB3C751-F5D1-DB60-17AC-17D0876532AA}"/>
              </a:ext>
            </a:extLst>
          </p:cNvPr>
          <p:cNvSpPr txBox="1"/>
          <p:nvPr/>
        </p:nvSpPr>
        <p:spPr>
          <a:xfrm>
            <a:off x="5681472" y="1280499"/>
            <a:ext cx="6217920" cy="329184"/>
          </a:xfrm>
          <a:prstGeom prst="rect">
            <a:avLst/>
          </a:prstGeom>
          <a:noFill/>
        </p:spPr>
        <p:txBody>
          <a:bodyPr wrap="square" lIns="36576" tIns="36576" rIns="36576" bIns="36576" anchor="t">
            <a:spAutoFit/>
          </a:bodyPr>
          <a:lstStyle/>
          <a:p>
            <a:pPr algn="l"/>
            <a:r>
              <a:rPr sz="1900" b="1" i="0" dirty="0">
                <a:solidFill>
                  <a:srgbClr val="CC141F"/>
                </a:solidFill>
                <a:latin typeface="Aptos"/>
              </a:rPr>
              <a:t>3. Analytical Framework</a:t>
            </a:r>
          </a:p>
        </p:txBody>
      </p:sp>
      <p:sp>
        <p:nvSpPr>
          <p:cNvPr id="25" name="Rounded Rectangle 24">
            <a:extLst>
              <a:ext uri="{FF2B5EF4-FFF2-40B4-BE49-F238E27FC236}">
                <a16:creationId xmlns:a16="http://schemas.microsoft.com/office/drawing/2014/main" id="{975DF748-BB45-71C6-6649-4D6FE256A603}"/>
              </a:ext>
            </a:extLst>
          </p:cNvPr>
          <p:cNvSpPr/>
          <p:nvPr/>
        </p:nvSpPr>
        <p:spPr>
          <a:xfrm>
            <a:off x="5229772" y="1716006"/>
            <a:ext cx="6080760" cy="749808"/>
          </a:xfrm>
          <a:prstGeom prst="roundRect">
            <a:avLst/>
          </a:prstGeom>
          <a:solidFill>
            <a:srgbClr val="F5F7FA"/>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a:extLst>
              <a:ext uri="{FF2B5EF4-FFF2-40B4-BE49-F238E27FC236}">
                <a16:creationId xmlns:a16="http://schemas.microsoft.com/office/drawing/2014/main" id="{17A99897-8AEE-36B2-5472-2B1EB66557B5}"/>
              </a:ext>
            </a:extLst>
          </p:cNvPr>
          <p:cNvSpPr/>
          <p:nvPr/>
        </p:nvSpPr>
        <p:spPr>
          <a:xfrm>
            <a:off x="5412652" y="1917174"/>
            <a:ext cx="310896" cy="310896"/>
          </a:xfrm>
          <a:prstGeom prst="ellipse">
            <a:avLst/>
          </a:prstGeom>
          <a:solidFill>
            <a:srgbClr val="CC1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1</a:t>
            </a:r>
          </a:p>
        </p:txBody>
      </p:sp>
      <p:sp>
        <p:nvSpPr>
          <p:cNvPr id="27" name="TextBox 26">
            <a:extLst>
              <a:ext uri="{FF2B5EF4-FFF2-40B4-BE49-F238E27FC236}">
                <a16:creationId xmlns:a16="http://schemas.microsoft.com/office/drawing/2014/main" id="{1897BEA2-5719-91B0-0855-5C526EB37E73}"/>
              </a:ext>
            </a:extLst>
          </p:cNvPr>
          <p:cNvSpPr txBox="1"/>
          <p:nvPr/>
        </p:nvSpPr>
        <p:spPr>
          <a:xfrm>
            <a:off x="5869852" y="1957154"/>
            <a:ext cx="2743200" cy="237744"/>
          </a:xfrm>
          <a:prstGeom prst="rect">
            <a:avLst/>
          </a:prstGeom>
          <a:noFill/>
        </p:spPr>
        <p:txBody>
          <a:bodyPr wrap="square" lIns="36576" tIns="36576" rIns="36576" bIns="36576" anchor="t">
            <a:spAutoFit/>
          </a:bodyPr>
          <a:lstStyle/>
          <a:p>
            <a:pPr algn="l"/>
            <a:r>
              <a:rPr sz="1300" b="1" i="0" dirty="0">
                <a:solidFill>
                  <a:srgbClr val="1D1F34"/>
                </a:solidFill>
                <a:latin typeface="Aptos"/>
              </a:rPr>
              <a:t>Purchase Behavior</a:t>
            </a:r>
          </a:p>
        </p:txBody>
      </p:sp>
      <p:sp>
        <p:nvSpPr>
          <p:cNvPr id="28" name="TextBox 27">
            <a:extLst>
              <a:ext uri="{FF2B5EF4-FFF2-40B4-BE49-F238E27FC236}">
                <a16:creationId xmlns:a16="http://schemas.microsoft.com/office/drawing/2014/main" id="{50CD2EAB-6AB0-E985-6D3F-B3D67B0A8B56}"/>
              </a:ext>
            </a:extLst>
          </p:cNvPr>
          <p:cNvSpPr txBox="1"/>
          <p:nvPr/>
        </p:nvSpPr>
        <p:spPr>
          <a:xfrm>
            <a:off x="8219859" y="1957154"/>
            <a:ext cx="2834640" cy="235449"/>
          </a:xfrm>
          <a:prstGeom prst="rect">
            <a:avLst/>
          </a:prstGeom>
          <a:noFill/>
        </p:spPr>
        <p:txBody>
          <a:bodyPr wrap="square" lIns="36576" tIns="36576" rIns="36576" bIns="36576" anchor="t">
            <a:spAutoFit/>
          </a:bodyPr>
          <a:lstStyle/>
          <a:p>
            <a:pPr algn="l"/>
            <a:r>
              <a:rPr sz="1050" b="0" i="0" dirty="0">
                <a:latin typeface="Aptos"/>
              </a:rPr>
              <a:t>JSM vs Non-JSM quantity pattern</a:t>
            </a:r>
          </a:p>
        </p:txBody>
      </p:sp>
      <p:sp>
        <p:nvSpPr>
          <p:cNvPr id="29" name="TextBox 28">
            <a:extLst>
              <a:ext uri="{FF2B5EF4-FFF2-40B4-BE49-F238E27FC236}">
                <a16:creationId xmlns:a16="http://schemas.microsoft.com/office/drawing/2014/main" id="{75549482-BCC1-498A-B4AC-B18BEDAA7C97}"/>
              </a:ext>
            </a:extLst>
          </p:cNvPr>
          <p:cNvSpPr txBox="1"/>
          <p:nvPr/>
        </p:nvSpPr>
        <p:spPr>
          <a:xfrm>
            <a:off x="8100988" y="2410950"/>
            <a:ext cx="320040" cy="228600"/>
          </a:xfrm>
          <a:prstGeom prst="rect">
            <a:avLst/>
          </a:prstGeom>
          <a:noFill/>
        </p:spPr>
        <p:txBody>
          <a:bodyPr wrap="square" lIns="36576" tIns="36576" rIns="36576" bIns="36576" anchor="t">
            <a:spAutoFit/>
          </a:bodyPr>
          <a:lstStyle/>
          <a:p>
            <a:pPr algn="ctr"/>
            <a:r>
              <a:rPr sz="1400" b="1" i="0">
                <a:solidFill>
                  <a:srgbClr val="CC141F"/>
                </a:solidFill>
                <a:latin typeface="Aptos"/>
              </a:rPr>
              <a:t>↓</a:t>
            </a:r>
          </a:p>
        </p:txBody>
      </p:sp>
      <p:sp>
        <p:nvSpPr>
          <p:cNvPr id="30" name="Rounded Rectangle 29">
            <a:extLst>
              <a:ext uri="{FF2B5EF4-FFF2-40B4-BE49-F238E27FC236}">
                <a16:creationId xmlns:a16="http://schemas.microsoft.com/office/drawing/2014/main" id="{D400F70D-3036-5985-C086-DEE10CD91A1C}"/>
              </a:ext>
            </a:extLst>
          </p:cNvPr>
          <p:cNvSpPr/>
          <p:nvPr/>
        </p:nvSpPr>
        <p:spPr>
          <a:xfrm>
            <a:off x="5229772" y="2612117"/>
            <a:ext cx="6080760" cy="749808"/>
          </a:xfrm>
          <a:prstGeom prst="roundRect">
            <a:avLst/>
          </a:prstGeom>
          <a:solidFill>
            <a:srgbClr val="FFFFFF"/>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a:extLst>
              <a:ext uri="{FF2B5EF4-FFF2-40B4-BE49-F238E27FC236}">
                <a16:creationId xmlns:a16="http://schemas.microsoft.com/office/drawing/2014/main" id="{1CA175B5-6182-8CB5-D5C3-28B0EF47345A}"/>
              </a:ext>
            </a:extLst>
          </p:cNvPr>
          <p:cNvSpPr/>
          <p:nvPr/>
        </p:nvSpPr>
        <p:spPr>
          <a:xfrm>
            <a:off x="5412652" y="2813286"/>
            <a:ext cx="310896" cy="310896"/>
          </a:xfrm>
          <a:prstGeom prst="ellipse">
            <a:avLst/>
          </a:prstGeom>
          <a:solidFill>
            <a:srgbClr val="CC1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2</a:t>
            </a:r>
          </a:p>
        </p:txBody>
      </p:sp>
      <p:sp>
        <p:nvSpPr>
          <p:cNvPr id="32" name="TextBox 31">
            <a:extLst>
              <a:ext uri="{FF2B5EF4-FFF2-40B4-BE49-F238E27FC236}">
                <a16:creationId xmlns:a16="http://schemas.microsoft.com/office/drawing/2014/main" id="{9E3AC022-9972-4D69-C2DF-5E1A379BE4B7}"/>
              </a:ext>
            </a:extLst>
          </p:cNvPr>
          <p:cNvSpPr txBox="1"/>
          <p:nvPr/>
        </p:nvSpPr>
        <p:spPr>
          <a:xfrm>
            <a:off x="5869852" y="2832773"/>
            <a:ext cx="2743200" cy="237744"/>
          </a:xfrm>
          <a:prstGeom prst="rect">
            <a:avLst/>
          </a:prstGeom>
          <a:noFill/>
        </p:spPr>
        <p:txBody>
          <a:bodyPr wrap="square" lIns="36576" tIns="36576" rIns="36576" bIns="36576" anchor="t">
            <a:spAutoFit/>
          </a:bodyPr>
          <a:lstStyle/>
          <a:p>
            <a:pPr algn="l"/>
            <a:r>
              <a:rPr sz="1300" b="1" i="0" dirty="0">
                <a:solidFill>
                  <a:srgbClr val="1D1F34"/>
                </a:solidFill>
                <a:latin typeface="Aptos"/>
              </a:rPr>
              <a:t>High-Volume Transactions</a:t>
            </a:r>
          </a:p>
        </p:txBody>
      </p:sp>
      <p:sp>
        <p:nvSpPr>
          <p:cNvPr id="33" name="TextBox 32">
            <a:extLst>
              <a:ext uri="{FF2B5EF4-FFF2-40B4-BE49-F238E27FC236}">
                <a16:creationId xmlns:a16="http://schemas.microsoft.com/office/drawing/2014/main" id="{09219489-F107-FABA-2B09-EA152A990CE7}"/>
              </a:ext>
            </a:extLst>
          </p:cNvPr>
          <p:cNvSpPr txBox="1"/>
          <p:nvPr/>
        </p:nvSpPr>
        <p:spPr>
          <a:xfrm>
            <a:off x="8219859" y="2832773"/>
            <a:ext cx="2834640" cy="235449"/>
          </a:xfrm>
          <a:prstGeom prst="rect">
            <a:avLst/>
          </a:prstGeom>
          <a:noFill/>
        </p:spPr>
        <p:txBody>
          <a:bodyPr wrap="square" lIns="36576" tIns="36576" rIns="36576" bIns="36576" anchor="t">
            <a:spAutoFit/>
          </a:bodyPr>
          <a:lstStyle/>
          <a:p>
            <a:pPr algn="l"/>
            <a:r>
              <a:rPr sz="1050" b="0" i="0" dirty="0">
                <a:latin typeface="Aptos"/>
              </a:rPr>
              <a:t>Regular vs high-volume vs suspected anomaly</a:t>
            </a:r>
          </a:p>
        </p:txBody>
      </p:sp>
      <p:sp>
        <p:nvSpPr>
          <p:cNvPr id="34" name="TextBox 33">
            <a:extLst>
              <a:ext uri="{FF2B5EF4-FFF2-40B4-BE49-F238E27FC236}">
                <a16:creationId xmlns:a16="http://schemas.microsoft.com/office/drawing/2014/main" id="{1F0BBB94-D0CD-6B0C-6C5F-7094DC42B3E6}"/>
              </a:ext>
            </a:extLst>
          </p:cNvPr>
          <p:cNvSpPr txBox="1"/>
          <p:nvPr/>
        </p:nvSpPr>
        <p:spPr>
          <a:xfrm>
            <a:off x="8100988" y="3307061"/>
            <a:ext cx="320040" cy="228600"/>
          </a:xfrm>
          <a:prstGeom prst="rect">
            <a:avLst/>
          </a:prstGeom>
          <a:noFill/>
        </p:spPr>
        <p:txBody>
          <a:bodyPr wrap="square" lIns="36576" tIns="36576" rIns="36576" bIns="36576" anchor="t">
            <a:spAutoFit/>
          </a:bodyPr>
          <a:lstStyle/>
          <a:p>
            <a:pPr algn="ctr"/>
            <a:r>
              <a:rPr sz="1400" b="1" i="0">
                <a:solidFill>
                  <a:srgbClr val="CC141F"/>
                </a:solidFill>
                <a:latin typeface="Aptos"/>
              </a:rPr>
              <a:t>↓</a:t>
            </a:r>
          </a:p>
        </p:txBody>
      </p:sp>
      <p:sp>
        <p:nvSpPr>
          <p:cNvPr id="35" name="Rounded Rectangle 34">
            <a:extLst>
              <a:ext uri="{FF2B5EF4-FFF2-40B4-BE49-F238E27FC236}">
                <a16:creationId xmlns:a16="http://schemas.microsoft.com/office/drawing/2014/main" id="{DE46437A-A116-CF91-63A6-F9E4ADAE391E}"/>
              </a:ext>
            </a:extLst>
          </p:cNvPr>
          <p:cNvSpPr/>
          <p:nvPr/>
        </p:nvSpPr>
        <p:spPr>
          <a:xfrm>
            <a:off x="5229772" y="3508229"/>
            <a:ext cx="6080760" cy="749808"/>
          </a:xfrm>
          <a:prstGeom prst="roundRect">
            <a:avLst/>
          </a:prstGeom>
          <a:solidFill>
            <a:srgbClr val="F5F7FA"/>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a:extLst>
              <a:ext uri="{FF2B5EF4-FFF2-40B4-BE49-F238E27FC236}">
                <a16:creationId xmlns:a16="http://schemas.microsoft.com/office/drawing/2014/main" id="{A9A9D46B-5428-C364-8684-B17880A1DF20}"/>
              </a:ext>
            </a:extLst>
          </p:cNvPr>
          <p:cNvSpPr/>
          <p:nvPr/>
        </p:nvSpPr>
        <p:spPr>
          <a:xfrm>
            <a:off x="5412652" y="3709398"/>
            <a:ext cx="310896" cy="310896"/>
          </a:xfrm>
          <a:prstGeom prst="ellipse">
            <a:avLst/>
          </a:prstGeom>
          <a:solidFill>
            <a:srgbClr val="CC1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a:rPr>
              <a:t>3</a:t>
            </a:r>
          </a:p>
        </p:txBody>
      </p:sp>
      <p:sp>
        <p:nvSpPr>
          <p:cNvPr id="37" name="TextBox 36">
            <a:extLst>
              <a:ext uri="{FF2B5EF4-FFF2-40B4-BE49-F238E27FC236}">
                <a16:creationId xmlns:a16="http://schemas.microsoft.com/office/drawing/2014/main" id="{31347C6D-D842-4B67-DAFF-D962EB9E9707}"/>
              </a:ext>
            </a:extLst>
          </p:cNvPr>
          <p:cNvSpPr txBox="1"/>
          <p:nvPr/>
        </p:nvSpPr>
        <p:spPr>
          <a:xfrm>
            <a:off x="5869852" y="3722539"/>
            <a:ext cx="2743200" cy="237744"/>
          </a:xfrm>
          <a:prstGeom prst="rect">
            <a:avLst/>
          </a:prstGeom>
          <a:noFill/>
        </p:spPr>
        <p:txBody>
          <a:bodyPr wrap="square" lIns="36576" tIns="36576" rIns="36576" bIns="36576" anchor="t">
            <a:spAutoFit/>
          </a:bodyPr>
          <a:lstStyle/>
          <a:p>
            <a:pPr algn="l"/>
            <a:r>
              <a:rPr sz="1300" b="1" i="0">
                <a:solidFill>
                  <a:srgbClr val="1D1F34"/>
                </a:solidFill>
                <a:latin typeface="Aptos"/>
              </a:rPr>
              <a:t>Discount Exposure</a:t>
            </a:r>
          </a:p>
        </p:txBody>
      </p:sp>
      <p:sp>
        <p:nvSpPr>
          <p:cNvPr id="38" name="TextBox 37">
            <a:extLst>
              <a:ext uri="{FF2B5EF4-FFF2-40B4-BE49-F238E27FC236}">
                <a16:creationId xmlns:a16="http://schemas.microsoft.com/office/drawing/2014/main" id="{EEE1570C-58A6-B9AF-0C74-FCB79D49B78C}"/>
              </a:ext>
            </a:extLst>
          </p:cNvPr>
          <p:cNvSpPr txBox="1"/>
          <p:nvPr/>
        </p:nvSpPr>
        <p:spPr>
          <a:xfrm>
            <a:off x="8219859" y="3722539"/>
            <a:ext cx="2834640" cy="235449"/>
          </a:xfrm>
          <a:prstGeom prst="rect">
            <a:avLst/>
          </a:prstGeom>
          <a:noFill/>
        </p:spPr>
        <p:txBody>
          <a:bodyPr wrap="square" lIns="36576" tIns="36576" rIns="36576" bIns="36576" anchor="t">
            <a:spAutoFit/>
          </a:bodyPr>
          <a:lstStyle/>
          <a:p>
            <a:pPr algn="l"/>
            <a:r>
              <a:rPr sz="1050" b="0" i="0" dirty="0">
                <a:latin typeface="Aptos"/>
              </a:rPr>
              <a:t>Quantify promotional discount exposure</a:t>
            </a:r>
          </a:p>
        </p:txBody>
      </p:sp>
      <p:sp>
        <p:nvSpPr>
          <p:cNvPr id="39" name="TextBox 38">
            <a:extLst>
              <a:ext uri="{FF2B5EF4-FFF2-40B4-BE49-F238E27FC236}">
                <a16:creationId xmlns:a16="http://schemas.microsoft.com/office/drawing/2014/main" id="{B504495F-B85C-B303-D36A-26265FC096CC}"/>
              </a:ext>
            </a:extLst>
          </p:cNvPr>
          <p:cNvSpPr txBox="1"/>
          <p:nvPr/>
        </p:nvSpPr>
        <p:spPr>
          <a:xfrm>
            <a:off x="8100988" y="4203174"/>
            <a:ext cx="320040" cy="228600"/>
          </a:xfrm>
          <a:prstGeom prst="rect">
            <a:avLst/>
          </a:prstGeom>
          <a:noFill/>
        </p:spPr>
        <p:txBody>
          <a:bodyPr wrap="square" lIns="36576" tIns="36576" rIns="36576" bIns="36576" anchor="t">
            <a:spAutoFit/>
          </a:bodyPr>
          <a:lstStyle/>
          <a:p>
            <a:pPr algn="ctr"/>
            <a:r>
              <a:rPr sz="1400" b="1" i="0">
                <a:solidFill>
                  <a:srgbClr val="CC141F"/>
                </a:solidFill>
                <a:latin typeface="Aptos"/>
              </a:rPr>
              <a:t>↓</a:t>
            </a:r>
          </a:p>
        </p:txBody>
      </p:sp>
      <p:sp>
        <p:nvSpPr>
          <p:cNvPr id="40" name="Rounded Rectangle 39">
            <a:extLst>
              <a:ext uri="{FF2B5EF4-FFF2-40B4-BE49-F238E27FC236}">
                <a16:creationId xmlns:a16="http://schemas.microsoft.com/office/drawing/2014/main" id="{9773AD63-E54E-471B-0C09-CDA4305677C0}"/>
              </a:ext>
            </a:extLst>
          </p:cNvPr>
          <p:cNvSpPr/>
          <p:nvPr/>
        </p:nvSpPr>
        <p:spPr>
          <a:xfrm>
            <a:off x="5229772" y="4404342"/>
            <a:ext cx="6080760" cy="749808"/>
          </a:xfrm>
          <a:prstGeom prst="roundRect">
            <a:avLst/>
          </a:prstGeom>
          <a:solidFill>
            <a:srgbClr val="FFFFFF"/>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A6AC1598-58EE-F973-C870-E47F516757C2}"/>
              </a:ext>
            </a:extLst>
          </p:cNvPr>
          <p:cNvSpPr txBox="1"/>
          <p:nvPr/>
        </p:nvSpPr>
        <p:spPr>
          <a:xfrm>
            <a:off x="5869852" y="4621539"/>
            <a:ext cx="2743200" cy="237744"/>
          </a:xfrm>
          <a:prstGeom prst="rect">
            <a:avLst/>
          </a:prstGeom>
          <a:noFill/>
        </p:spPr>
        <p:txBody>
          <a:bodyPr wrap="square" lIns="36576" tIns="36576" rIns="36576" bIns="36576" anchor="t">
            <a:spAutoFit/>
          </a:bodyPr>
          <a:lstStyle/>
          <a:p>
            <a:pPr algn="l"/>
            <a:r>
              <a:rPr sz="1300" b="1" i="0" dirty="0">
                <a:solidFill>
                  <a:srgbClr val="1D1F34"/>
                </a:solidFill>
                <a:latin typeface="Aptos"/>
              </a:rPr>
              <a:t>Policy Simulation</a:t>
            </a:r>
          </a:p>
        </p:txBody>
      </p:sp>
      <p:sp>
        <p:nvSpPr>
          <p:cNvPr id="43" name="TextBox 42">
            <a:extLst>
              <a:ext uri="{FF2B5EF4-FFF2-40B4-BE49-F238E27FC236}">
                <a16:creationId xmlns:a16="http://schemas.microsoft.com/office/drawing/2014/main" id="{2F765DFE-AB8C-F02B-888E-49E4EE29051E}"/>
              </a:ext>
            </a:extLst>
          </p:cNvPr>
          <p:cNvSpPr txBox="1"/>
          <p:nvPr/>
        </p:nvSpPr>
        <p:spPr>
          <a:xfrm>
            <a:off x="8219859" y="4621539"/>
            <a:ext cx="2834640" cy="235449"/>
          </a:xfrm>
          <a:prstGeom prst="rect">
            <a:avLst/>
          </a:prstGeom>
          <a:noFill/>
        </p:spPr>
        <p:txBody>
          <a:bodyPr wrap="square" lIns="36576" tIns="36576" rIns="36576" bIns="36576" anchor="t">
            <a:spAutoFit/>
          </a:bodyPr>
          <a:lstStyle/>
          <a:p>
            <a:pPr algn="l"/>
            <a:r>
              <a:rPr sz="1050" b="0" i="0" dirty="0">
                <a:latin typeface="Aptos"/>
              </a:rPr>
              <a:t>Universal caps vs SKU-specific P90/P95/P99</a:t>
            </a:r>
          </a:p>
        </p:txBody>
      </p:sp>
      <p:sp>
        <p:nvSpPr>
          <p:cNvPr id="44" name="TextBox 43">
            <a:extLst>
              <a:ext uri="{FF2B5EF4-FFF2-40B4-BE49-F238E27FC236}">
                <a16:creationId xmlns:a16="http://schemas.microsoft.com/office/drawing/2014/main" id="{B8B3C70C-90EB-F9CC-E7C2-C3255F595491}"/>
              </a:ext>
            </a:extLst>
          </p:cNvPr>
          <p:cNvSpPr txBox="1"/>
          <p:nvPr/>
        </p:nvSpPr>
        <p:spPr>
          <a:xfrm>
            <a:off x="8100988" y="5099285"/>
            <a:ext cx="320040" cy="228600"/>
          </a:xfrm>
          <a:prstGeom prst="rect">
            <a:avLst/>
          </a:prstGeom>
          <a:noFill/>
        </p:spPr>
        <p:txBody>
          <a:bodyPr wrap="square" lIns="36576" tIns="36576" rIns="36576" bIns="36576" anchor="t">
            <a:spAutoFit/>
          </a:bodyPr>
          <a:lstStyle/>
          <a:p>
            <a:pPr algn="ctr"/>
            <a:r>
              <a:rPr sz="1400" b="1" i="0">
                <a:solidFill>
                  <a:srgbClr val="CC141F"/>
                </a:solidFill>
                <a:latin typeface="Aptos"/>
              </a:rPr>
              <a:t>↓</a:t>
            </a:r>
          </a:p>
        </p:txBody>
      </p:sp>
      <p:sp>
        <p:nvSpPr>
          <p:cNvPr id="45" name="Rounded Rectangle 44">
            <a:extLst>
              <a:ext uri="{FF2B5EF4-FFF2-40B4-BE49-F238E27FC236}">
                <a16:creationId xmlns:a16="http://schemas.microsoft.com/office/drawing/2014/main" id="{F3883F06-EDD2-B2E3-0E83-C057FBEFFD42}"/>
              </a:ext>
            </a:extLst>
          </p:cNvPr>
          <p:cNvSpPr/>
          <p:nvPr/>
        </p:nvSpPr>
        <p:spPr>
          <a:xfrm>
            <a:off x="5229772" y="5300453"/>
            <a:ext cx="6080760" cy="749808"/>
          </a:xfrm>
          <a:prstGeom prst="roundRect">
            <a:avLst/>
          </a:prstGeom>
          <a:solidFill>
            <a:srgbClr val="F5F7FA"/>
          </a:solidFill>
          <a:ln w="10160">
            <a:solidFill>
              <a:srgbClr val="E0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E64B3929-B75F-51A9-FA91-E8202A632E45}"/>
              </a:ext>
            </a:extLst>
          </p:cNvPr>
          <p:cNvSpPr txBox="1"/>
          <p:nvPr/>
        </p:nvSpPr>
        <p:spPr>
          <a:xfrm>
            <a:off x="5869852" y="5479774"/>
            <a:ext cx="2743200" cy="237744"/>
          </a:xfrm>
          <a:prstGeom prst="rect">
            <a:avLst/>
          </a:prstGeom>
          <a:noFill/>
        </p:spPr>
        <p:txBody>
          <a:bodyPr wrap="square" lIns="36576" tIns="36576" rIns="36576" bIns="36576" anchor="t">
            <a:spAutoFit/>
          </a:bodyPr>
          <a:lstStyle/>
          <a:p>
            <a:pPr algn="l"/>
            <a:r>
              <a:rPr sz="1300" b="1" i="0" dirty="0">
                <a:solidFill>
                  <a:srgbClr val="1D1F34"/>
                </a:solidFill>
                <a:latin typeface="Aptos"/>
              </a:rPr>
              <a:t>Targeting &amp; Recommendation</a:t>
            </a:r>
          </a:p>
        </p:txBody>
      </p:sp>
      <p:sp>
        <p:nvSpPr>
          <p:cNvPr id="48" name="TextBox 47">
            <a:extLst>
              <a:ext uri="{FF2B5EF4-FFF2-40B4-BE49-F238E27FC236}">
                <a16:creationId xmlns:a16="http://schemas.microsoft.com/office/drawing/2014/main" id="{7E966C85-91C8-630E-054B-7C7E89AD714D}"/>
              </a:ext>
            </a:extLst>
          </p:cNvPr>
          <p:cNvSpPr txBox="1"/>
          <p:nvPr/>
        </p:nvSpPr>
        <p:spPr>
          <a:xfrm>
            <a:off x="8219859" y="5479774"/>
            <a:ext cx="2834640" cy="235449"/>
          </a:xfrm>
          <a:prstGeom prst="rect">
            <a:avLst/>
          </a:prstGeom>
          <a:noFill/>
        </p:spPr>
        <p:txBody>
          <a:bodyPr wrap="square" lIns="36576" tIns="36576" rIns="36576" bIns="36576" anchor="t">
            <a:spAutoFit/>
          </a:bodyPr>
          <a:lstStyle/>
          <a:p>
            <a:pPr algn="l"/>
            <a:r>
              <a:rPr sz="1050" b="0" i="0" dirty="0">
                <a:latin typeface="Aptos"/>
              </a:rPr>
              <a:t>Category impact + store-type prioritization</a:t>
            </a:r>
          </a:p>
        </p:txBody>
      </p:sp>
      <p:sp>
        <p:nvSpPr>
          <p:cNvPr id="50" name="Oval 49">
            <a:extLst>
              <a:ext uri="{FF2B5EF4-FFF2-40B4-BE49-F238E27FC236}">
                <a16:creationId xmlns:a16="http://schemas.microsoft.com/office/drawing/2014/main" id="{92003EE7-608A-F79B-539F-CCFE4875AF9D}"/>
              </a:ext>
            </a:extLst>
          </p:cNvPr>
          <p:cNvSpPr/>
          <p:nvPr/>
        </p:nvSpPr>
        <p:spPr>
          <a:xfrm>
            <a:off x="5412652" y="4559315"/>
            <a:ext cx="310896" cy="310896"/>
          </a:xfrm>
          <a:prstGeom prst="ellipse">
            <a:avLst/>
          </a:prstGeom>
          <a:solidFill>
            <a:srgbClr val="CC1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rgbClr val="FFFFFF"/>
                </a:solidFill>
                <a:latin typeface="Aptos"/>
              </a:rPr>
              <a:t>4</a:t>
            </a:r>
            <a:endParaRPr sz="1200" b="1" dirty="0">
              <a:solidFill>
                <a:srgbClr val="FFFFFF"/>
              </a:solidFill>
              <a:latin typeface="Aptos"/>
            </a:endParaRPr>
          </a:p>
        </p:txBody>
      </p:sp>
      <p:sp>
        <p:nvSpPr>
          <p:cNvPr id="51" name="Oval 50">
            <a:extLst>
              <a:ext uri="{FF2B5EF4-FFF2-40B4-BE49-F238E27FC236}">
                <a16:creationId xmlns:a16="http://schemas.microsoft.com/office/drawing/2014/main" id="{644ECB06-B15B-BA26-F555-FFDC09AF41F6}"/>
              </a:ext>
            </a:extLst>
          </p:cNvPr>
          <p:cNvSpPr/>
          <p:nvPr/>
        </p:nvSpPr>
        <p:spPr>
          <a:xfrm>
            <a:off x="5412652" y="5437613"/>
            <a:ext cx="310896" cy="310896"/>
          </a:xfrm>
          <a:prstGeom prst="ellipse">
            <a:avLst/>
          </a:prstGeom>
          <a:solidFill>
            <a:srgbClr val="CC14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rgbClr val="FFFFFF"/>
                </a:solidFill>
                <a:latin typeface="Aptos"/>
              </a:rPr>
              <a:t>5</a:t>
            </a:r>
            <a:endParaRPr sz="1200" b="1" dirty="0">
              <a:solidFill>
                <a:srgbClr val="FFFFFF"/>
              </a:solidFill>
              <a:latin typeface="Aptos"/>
            </a:endParaRPr>
          </a:p>
        </p:txBody>
      </p:sp>
    </p:spTree>
    <p:extLst>
      <p:ext uri="{BB962C8B-B14F-4D97-AF65-F5344CB8AC3E}">
        <p14:creationId xmlns:p14="http://schemas.microsoft.com/office/powerpoint/2010/main" val="2810696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DBB8A-9443-BB30-E809-0F5C495D147A}"/>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1A1E4779-C95F-CB2E-BF2B-9B0701DC296A}"/>
              </a:ext>
            </a:extLst>
          </p:cNvPr>
          <p:cNvPicPr>
            <a:picLocks noChangeAspect="1"/>
          </p:cNvPicPr>
          <p:nvPr/>
        </p:nvPicPr>
        <p:blipFill>
          <a:blip r:embed="rId2"/>
          <a:stretch>
            <a:fillRect/>
          </a:stretch>
        </p:blipFill>
        <p:spPr>
          <a:xfrm>
            <a:off x="0" y="-1"/>
            <a:ext cx="12192000" cy="621791"/>
          </a:xfrm>
          <a:prstGeom prst="rect">
            <a:avLst/>
          </a:prstGeom>
        </p:spPr>
      </p:pic>
      <p:sp>
        <p:nvSpPr>
          <p:cNvPr id="6" name="Shape 2">
            <a:extLst>
              <a:ext uri="{FF2B5EF4-FFF2-40B4-BE49-F238E27FC236}">
                <a16:creationId xmlns:a16="http://schemas.microsoft.com/office/drawing/2014/main" id="{2930590A-21F9-5218-B082-E9A2A654512F}"/>
              </a:ext>
            </a:extLst>
          </p:cNvPr>
          <p:cNvSpPr/>
          <p:nvPr/>
        </p:nvSpPr>
        <p:spPr>
          <a:xfrm>
            <a:off x="502920" y="1298448"/>
            <a:ext cx="3703320" cy="2176272"/>
          </a:xfrm>
          <a:prstGeom prst="roundRect">
            <a:avLst>
              <a:gd name="adj" fmla="val 2521"/>
            </a:avLst>
          </a:prstGeom>
          <a:solidFill>
            <a:srgbClr val="FFFFFF"/>
          </a:solidFill>
          <a:ln w="13970">
            <a:solidFill>
              <a:srgbClr val="D9DCE3"/>
            </a:solidFill>
            <a:prstDash val="solid"/>
          </a:ln>
          <a:effectLst>
            <a:outerShdw blurRad="15240" dist="50800" dir="2700000" algn="bl" rotWithShape="0">
              <a:srgbClr val="C9CDD5">
                <a:alpha val="16000"/>
              </a:srgbClr>
            </a:outerShdw>
          </a:effectLst>
        </p:spPr>
        <p:txBody>
          <a:bodyPr/>
          <a:lstStyle/>
          <a:p>
            <a:endParaRPr lang="en-US"/>
          </a:p>
        </p:txBody>
      </p:sp>
      <p:sp>
        <p:nvSpPr>
          <p:cNvPr id="7" name="Shape 3">
            <a:extLst>
              <a:ext uri="{FF2B5EF4-FFF2-40B4-BE49-F238E27FC236}">
                <a16:creationId xmlns:a16="http://schemas.microsoft.com/office/drawing/2014/main" id="{7F840A49-9028-445C-B904-6798402290F6}"/>
              </a:ext>
            </a:extLst>
          </p:cNvPr>
          <p:cNvSpPr/>
          <p:nvPr/>
        </p:nvSpPr>
        <p:spPr>
          <a:xfrm>
            <a:off x="502920" y="1298448"/>
            <a:ext cx="3703320" cy="384048"/>
          </a:xfrm>
          <a:prstGeom prst="roundRect">
            <a:avLst>
              <a:gd name="adj" fmla="val 14286"/>
            </a:avLst>
          </a:prstGeom>
          <a:solidFill>
            <a:srgbClr val="D71920"/>
          </a:solidFill>
          <a:ln w="12700">
            <a:solidFill>
              <a:srgbClr val="D71920"/>
            </a:solidFill>
            <a:prstDash val="solid"/>
          </a:ln>
        </p:spPr>
        <p:txBody>
          <a:bodyPr/>
          <a:lstStyle/>
          <a:p>
            <a:endParaRPr lang="en-US"/>
          </a:p>
        </p:txBody>
      </p:sp>
      <p:sp>
        <p:nvSpPr>
          <p:cNvPr id="8" name="Shape 4">
            <a:extLst>
              <a:ext uri="{FF2B5EF4-FFF2-40B4-BE49-F238E27FC236}">
                <a16:creationId xmlns:a16="http://schemas.microsoft.com/office/drawing/2014/main" id="{70F477CA-F0C0-F136-0D65-6CAFFC6099C7}"/>
              </a:ext>
            </a:extLst>
          </p:cNvPr>
          <p:cNvSpPr/>
          <p:nvPr/>
        </p:nvSpPr>
        <p:spPr>
          <a:xfrm>
            <a:off x="502920" y="1554480"/>
            <a:ext cx="3703320" cy="128016"/>
          </a:xfrm>
          <a:prstGeom prst="rect">
            <a:avLst/>
          </a:prstGeom>
          <a:solidFill>
            <a:srgbClr val="D71920"/>
          </a:solidFill>
          <a:ln w="12700">
            <a:solidFill>
              <a:srgbClr val="D71920"/>
            </a:solidFill>
            <a:prstDash val="solid"/>
          </a:ln>
        </p:spPr>
        <p:txBody>
          <a:bodyPr/>
          <a:lstStyle/>
          <a:p>
            <a:endParaRPr lang="en-US"/>
          </a:p>
        </p:txBody>
      </p:sp>
      <p:sp>
        <p:nvSpPr>
          <p:cNvPr id="9" name="Text 5">
            <a:extLst>
              <a:ext uri="{FF2B5EF4-FFF2-40B4-BE49-F238E27FC236}">
                <a16:creationId xmlns:a16="http://schemas.microsoft.com/office/drawing/2014/main" id="{44BB6E12-489D-9918-6B4D-78EEC5F1DA64}"/>
              </a:ext>
            </a:extLst>
          </p:cNvPr>
          <p:cNvSpPr/>
          <p:nvPr/>
        </p:nvSpPr>
        <p:spPr>
          <a:xfrm>
            <a:off x="649224" y="1380744"/>
            <a:ext cx="3410712" cy="18288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ALFA_POS_TRANSACTIONS</a:t>
            </a:r>
            <a:endParaRPr lang="en-US" sz="1300" dirty="0"/>
          </a:p>
        </p:txBody>
      </p:sp>
      <p:sp>
        <p:nvSpPr>
          <p:cNvPr id="12" name="Text 6">
            <a:extLst>
              <a:ext uri="{FF2B5EF4-FFF2-40B4-BE49-F238E27FC236}">
                <a16:creationId xmlns:a16="http://schemas.microsoft.com/office/drawing/2014/main" id="{984079CD-8FDE-91BC-0C67-148473484787}"/>
              </a:ext>
            </a:extLst>
          </p:cNvPr>
          <p:cNvSpPr/>
          <p:nvPr/>
        </p:nvSpPr>
        <p:spPr>
          <a:xfrm>
            <a:off x="649224" y="1773936"/>
            <a:ext cx="3410712" cy="201168"/>
          </a:xfrm>
          <a:prstGeom prst="rect">
            <a:avLst/>
          </a:prstGeom>
          <a:noFill/>
          <a:ln/>
        </p:spPr>
        <p:txBody>
          <a:bodyPr wrap="square" lIns="0" tIns="0" rIns="0" bIns="0" rtlCol="0" anchor="ctr"/>
          <a:lstStyle/>
          <a:p>
            <a:pPr marL="0" indent="0">
              <a:buNone/>
            </a:pPr>
            <a:r>
              <a:rPr lang="en-US" sz="1040" b="1" dirty="0">
                <a:latin typeface="Aptos" pitchFamily="34" charset="0"/>
                <a:ea typeface="Aptos" pitchFamily="34" charset="-122"/>
                <a:cs typeface="Aptos" pitchFamily="34" charset="-120"/>
              </a:rPr>
              <a:t>Primary transaction table  •  455,148 rows  •  12 columns</a:t>
            </a:r>
            <a:endParaRPr lang="en-US" sz="1040" dirty="0"/>
          </a:p>
        </p:txBody>
      </p:sp>
      <p:sp>
        <p:nvSpPr>
          <p:cNvPr id="13" name="Text 7">
            <a:extLst>
              <a:ext uri="{FF2B5EF4-FFF2-40B4-BE49-F238E27FC236}">
                <a16:creationId xmlns:a16="http://schemas.microsoft.com/office/drawing/2014/main" id="{94311771-DE71-FA77-4308-7F00FEE3BF15}"/>
              </a:ext>
            </a:extLst>
          </p:cNvPr>
          <p:cNvSpPr/>
          <p:nvPr/>
        </p:nvSpPr>
        <p:spPr>
          <a:xfrm>
            <a:off x="667512" y="2048256"/>
            <a:ext cx="3374136" cy="144018"/>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receipt_id</a:t>
            </a:r>
            <a:r>
              <a:rPr lang="en-US" sz="950" dirty="0">
                <a:latin typeface="Aptos" pitchFamily="34" charset="0"/>
                <a:ea typeface="Aptos" pitchFamily="34" charset="-122"/>
                <a:cs typeface="Aptos" pitchFamily="34" charset="-120"/>
              </a:rPr>
              <a:t> - unique receipt / transaction ID</a:t>
            </a:r>
            <a:endParaRPr lang="en-US" sz="950" dirty="0"/>
          </a:p>
        </p:txBody>
      </p:sp>
      <p:sp>
        <p:nvSpPr>
          <p:cNvPr id="17" name="Text 8">
            <a:extLst>
              <a:ext uri="{FF2B5EF4-FFF2-40B4-BE49-F238E27FC236}">
                <a16:creationId xmlns:a16="http://schemas.microsoft.com/office/drawing/2014/main" id="{FA3F2A25-C497-B188-E6ED-CAAFAA8CC519}"/>
              </a:ext>
            </a:extLst>
          </p:cNvPr>
          <p:cNvSpPr/>
          <p:nvPr/>
        </p:nvSpPr>
        <p:spPr>
          <a:xfrm>
            <a:off x="667512" y="2208276"/>
            <a:ext cx="3374136" cy="144018"/>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store_id</a:t>
            </a:r>
            <a:r>
              <a:rPr lang="en-US" sz="950" dirty="0">
                <a:latin typeface="Aptos" pitchFamily="34" charset="0"/>
                <a:ea typeface="Aptos" pitchFamily="34" charset="-122"/>
                <a:cs typeface="Aptos" pitchFamily="34" charset="-120"/>
              </a:rPr>
              <a:t> - store where transaction occurred</a:t>
            </a:r>
            <a:endParaRPr lang="en-US" sz="950" dirty="0"/>
          </a:p>
        </p:txBody>
      </p:sp>
      <p:sp>
        <p:nvSpPr>
          <p:cNvPr id="18" name="Text 9">
            <a:extLst>
              <a:ext uri="{FF2B5EF4-FFF2-40B4-BE49-F238E27FC236}">
                <a16:creationId xmlns:a16="http://schemas.microsoft.com/office/drawing/2014/main" id="{9CF94EDF-7D10-2C27-8D63-3202028DA225}"/>
              </a:ext>
            </a:extLst>
          </p:cNvPr>
          <p:cNvSpPr/>
          <p:nvPr/>
        </p:nvSpPr>
        <p:spPr>
          <a:xfrm>
            <a:off x="667512" y="2368296"/>
            <a:ext cx="3374136" cy="144018"/>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sku_id</a:t>
            </a:r>
            <a:r>
              <a:rPr lang="en-US" sz="950" dirty="0">
                <a:latin typeface="Aptos" pitchFamily="34" charset="0"/>
                <a:ea typeface="Aptos" pitchFamily="34" charset="-122"/>
                <a:cs typeface="Aptos" pitchFamily="34" charset="-120"/>
              </a:rPr>
              <a:t> - purchased product identifier</a:t>
            </a:r>
            <a:endParaRPr lang="en-US" sz="950" dirty="0"/>
          </a:p>
        </p:txBody>
      </p:sp>
      <p:sp>
        <p:nvSpPr>
          <p:cNvPr id="19" name="Text 10">
            <a:extLst>
              <a:ext uri="{FF2B5EF4-FFF2-40B4-BE49-F238E27FC236}">
                <a16:creationId xmlns:a16="http://schemas.microsoft.com/office/drawing/2014/main" id="{8360C25F-4095-BAA1-637F-2465C3AFF31C}"/>
              </a:ext>
            </a:extLst>
          </p:cNvPr>
          <p:cNvSpPr/>
          <p:nvPr/>
        </p:nvSpPr>
        <p:spPr>
          <a:xfrm>
            <a:off x="667512" y="2528316"/>
            <a:ext cx="3374136" cy="144018"/>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member_id</a:t>
            </a:r>
            <a:r>
              <a:rPr lang="en-US" sz="950" dirty="0">
                <a:latin typeface="Aptos" pitchFamily="34" charset="0"/>
                <a:ea typeface="Aptos" pitchFamily="34" charset="-122"/>
                <a:cs typeface="Aptos" pitchFamily="34" charset="-120"/>
              </a:rPr>
              <a:t> - member ID; may be missing for non-members</a:t>
            </a:r>
            <a:endParaRPr lang="en-US" sz="950" dirty="0"/>
          </a:p>
        </p:txBody>
      </p:sp>
      <p:sp>
        <p:nvSpPr>
          <p:cNvPr id="20" name="Text 11">
            <a:extLst>
              <a:ext uri="{FF2B5EF4-FFF2-40B4-BE49-F238E27FC236}">
                <a16:creationId xmlns:a16="http://schemas.microsoft.com/office/drawing/2014/main" id="{17C744E7-7DB6-81ED-B2BC-441218008D24}"/>
              </a:ext>
            </a:extLst>
          </p:cNvPr>
          <p:cNvSpPr/>
          <p:nvPr/>
        </p:nvSpPr>
        <p:spPr>
          <a:xfrm>
            <a:off x="667512" y="2688336"/>
            <a:ext cx="3374136" cy="144018"/>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trx_time</a:t>
            </a:r>
            <a:r>
              <a:rPr lang="en-US" sz="950" dirty="0">
                <a:latin typeface="Aptos" pitchFamily="34" charset="0"/>
                <a:ea typeface="Aptos" pitchFamily="34" charset="-122"/>
                <a:cs typeface="Aptos" pitchFamily="34" charset="-120"/>
              </a:rPr>
              <a:t> - transaction date and time</a:t>
            </a:r>
            <a:endParaRPr lang="en-US" sz="950" dirty="0"/>
          </a:p>
        </p:txBody>
      </p:sp>
      <p:sp>
        <p:nvSpPr>
          <p:cNvPr id="21" name="Text 12">
            <a:extLst>
              <a:ext uri="{FF2B5EF4-FFF2-40B4-BE49-F238E27FC236}">
                <a16:creationId xmlns:a16="http://schemas.microsoft.com/office/drawing/2014/main" id="{426E5420-14ED-64AE-9CFC-D5A1E0D8FE93}"/>
              </a:ext>
            </a:extLst>
          </p:cNvPr>
          <p:cNvSpPr/>
          <p:nvPr/>
        </p:nvSpPr>
        <p:spPr>
          <a:xfrm>
            <a:off x="667512" y="2848356"/>
            <a:ext cx="3374136" cy="144018"/>
          </a:xfrm>
          <a:prstGeom prst="rect">
            <a:avLst/>
          </a:prstGeom>
          <a:noFill/>
          <a:ln/>
        </p:spPr>
        <p:txBody>
          <a:bodyPr wrap="square" lIns="0" tIns="0" rIns="0" bIns="0" rtlCol="0" anchor="ctr"/>
          <a:lstStyle/>
          <a:p>
            <a:pPr marL="0" indent="0">
              <a:buNone/>
            </a:pPr>
            <a:r>
              <a:rPr lang="en-US" sz="950" b="1" dirty="0">
                <a:solidFill>
                  <a:srgbClr val="D71920"/>
                </a:solidFill>
                <a:latin typeface="Aptos" pitchFamily="34" charset="0"/>
                <a:ea typeface="Aptos" pitchFamily="34" charset="-122"/>
                <a:cs typeface="Aptos" pitchFamily="34" charset="-120"/>
              </a:rPr>
              <a:t>qty</a:t>
            </a:r>
            <a:r>
              <a:rPr lang="en-US" sz="950" dirty="0">
                <a:solidFill>
                  <a:srgbClr val="545B70"/>
                </a:solidFill>
                <a:latin typeface="Aptos" pitchFamily="34" charset="0"/>
                <a:ea typeface="Aptos" pitchFamily="34" charset="-122"/>
                <a:cs typeface="Aptos" pitchFamily="34" charset="-120"/>
              </a:rPr>
              <a:t> </a:t>
            </a:r>
            <a:r>
              <a:rPr lang="en-US" sz="950" dirty="0">
                <a:latin typeface="Aptos" pitchFamily="34" charset="0"/>
                <a:ea typeface="Aptos" pitchFamily="34" charset="-122"/>
                <a:cs typeface="Aptos" pitchFamily="34" charset="-120"/>
              </a:rPr>
              <a:t>- quantity purchased</a:t>
            </a:r>
            <a:endParaRPr lang="en-US" sz="950" dirty="0"/>
          </a:p>
        </p:txBody>
      </p:sp>
      <p:sp>
        <p:nvSpPr>
          <p:cNvPr id="22" name="Text 13">
            <a:extLst>
              <a:ext uri="{FF2B5EF4-FFF2-40B4-BE49-F238E27FC236}">
                <a16:creationId xmlns:a16="http://schemas.microsoft.com/office/drawing/2014/main" id="{67B2B1AA-2E8F-66C6-466A-D5B65428611F}"/>
              </a:ext>
            </a:extLst>
          </p:cNvPr>
          <p:cNvSpPr/>
          <p:nvPr/>
        </p:nvSpPr>
        <p:spPr>
          <a:xfrm>
            <a:off x="667512" y="3008376"/>
            <a:ext cx="3374136" cy="144018"/>
          </a:xfrm>
          <a:prstGeom prst="rect">
            <a:avLst/>
          </a:prstGeom>
          <a:noFill/>
          <a:ln/>
        </p:spPr>
        <p:txBody>
          <a:bodyPr wrap="square" lIns="0" tIns="0" rIns="0" bIns="0" rtlCol="0" anchor="ctr"/>
          <a:lstStyle/>
          <a:p>
            <a:pPr marL="0" indent="0">
              <a:buNone/>
            </a:pPr>
            <a:r>
              <a:rPr lang="en-US" sz="950" b="1" dirty="0" err="1">
                <a:solidFill>
                  <a:srgbClr val="D71920"/>
                </a:solidFill>
                <a:latin typeface="Aptos" pitchFamily="34" charset="0"/>
                <a:ea typeface="Aptos" pitchFamily="34" charset="-122"/>
                <a:cs typeface="Aptos" pitchFamily="34" charset="-120"/>
              </a:rPr>
              <a:t>discount_amount</a:t>
            </a:r>
            <a:r>
              <a:rPr lang="en-US" sz="950" dirty="0">
                <a:solidFill>
                  <a:srgbClr val="545B70"/>
                </a:solidFill>
                <a:latin typeface="Aptos" pitchFamily="34" charset="0"/>
                <a:ea typeface="Aptos" pitchFamily="34" charset="-122"/>
                <a:cs typeface="Aptos" pitchFamily="34" charset="-120"/>
              </a:rPr>
              <a:t> </a:t>
            </a:r>
            <a:r>
              <a:rPr lang="en-US" sz="950" dirty="0">
                <a:latin typeface="Aptos" pitchFamily="34" charset="0"/>
                <a:ea typeface="Aptos" pitchFamily="34" charset="-122"/>
                <a:cs typeface="Aptos" pitchFamily="34" charset="-120"/>
              </a:rPr>
              <a:t>- discount applied to transaction</a:t>
            </a:r>
            <a:endParaRPr lang="en-US" sz="950" dirty="0"/>
          </a:p>
        </p:txBody>
      </p:sp>
      <p:sp>
        <p:nvSpPr>
          <p:cNvPr id="23" name="Text 14">
            <a:extLst>
              <a:ext uri="{FF2B5EF4-FFF2-40B4-BE49-F238E27FC236}">
                <a16:creationId xmlns:a16="http://schemas.microsoft.com/office/drawing/2014/main" id="{AFA45DFE-A4EF-BEA2-B84D-51495E6ACFE7}"/>
              </a:ext>
            </a:extLst>
          </p:cNvPr>
          <p:cNvSpPr/>
          <p:nvPr/>
        </p:nvSpPr>
        <p:spPr>
          <a:xfrm>
            <a:off x="667512" y="3168396"/>
            <a:ext cx="3374136" cy="144018"/>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transaction_status</a:t>
            </a:r>
            <a:r>
              <a:rPr lang="en-US" sz="950" dirty="0">
                <a:latin typeface="Aptos" pitchFamily="34" charset="0"/>
                <a:ea typeface="Aptos" pitchFamily="34" charset="-122"/>
                <a:cs typeface="Aptos" pitchFamily="34" charset="-120"/>
              </a:rPr>
              <a:t> - completed or void status</a:t>
            </a:r>
            <a:endParaRPr lang="en-US" sz="950" dirty="0"/>
          </a:p>
        </p:txBody>
      </p:sp>
      <p:sp>
        <p:nvSpPr>
          <p:cNvPr id="24" name="Shape 15">
            <a:extLst>
              <a:ext uri="{FF2B5EF4-FFF2-40B4-BE49-F238E27FC236}">
                <a16:creationId xmlns:a16="http://schemas.microsoft.com/office/drawing/2014/main" id="{C3E53C2A-346B-BFC3-F5F6-04A416617B4F}"/>
              </a:ext>
            </a:extLst>
          </p:cNvPr>
          <p:cNvSpPr/>
          <p:nvPr/>
        </p:nvSpPr>
        <p:spPr>
          <a:xfrm>
            <a:off x="4325112" y="1298448"/>
            <a:ext cx="3703320" cy="2176272"/>
          </a:xfrm>
          <a:prstGeom prst="roundRect">
            <a:avLst>
              <a:gd name="adj" fmla="val 2521"/>
            </a:avLst>
          </a:prstGeom>
          <a:solidFill>
            <a:srgbClr val="FFFFFF"/>
          </a:solidFill>
          <a:ln w="13970">
            <a:solidFill>
              <a:srgbClr val="D9DCE3"/>
            </a:solidFill>
            <a:prstDash val="solid"/>
          </a:ln>
          <a:effectLst>
            <a:outerShdw blurRad="15240" dist="50800" dir="2700000" algn="bl" rotWithShape="0">
              <a:srgbClr val="C9CDD5">
                <a:alpha val="16000"/>
              </a:srgbClr>
            </a:outerShdw>
          </a:effectLst>
        </p:spPr>
        <p:txBody>
          <a:bodyPr/>
          <a:lstStyle/>
          <a:p>
            <a:endParaRPr lang="en-US"/>
          </a:p>
        </p:txBody>
      </p:sp>
      <p:sp>
        <p:nvSpPr>
          <p:cNvPr id="25" name="Shape 16">
            <a:extLst>
              <a:ext uri="{FF2B5EF4-FFF2-40B4-BE49-F238E27FC236}">
                <a16:creationId xmlns:a16="http://schemas.microsoft.com/office/drawing/2014/main" id="{2DB9DCA6-A71D-6536-8446-CABC0E168412}"/>
              </a:ext>
            </a:extLst>
          </p:cNvPr>
          <p:cNvSpPr/>
          <p:nvPr/>
        </p:nvSpPr>
        <p:spPr>
          <a:xfrm>
            <a:off x="4325112" y="1298448"/>
            <a:ext cx="3703320" cy="384048"/>
          </a:xfrm>
          <a:prstGeom prst="roundRect">
            <a:avLst>
              <a:gd name="adj" fmla="val 14286"/>
            </a:avLst>
          </a:prstGeom>
          <a:solidFill>
            <a:srgbClr val="D71920"/>
          </a:solidFill>
          <a:ln w="12700">
            <a:solidFill>
              <a:srgbClr val="D71920"/>
            </a:solidFill>
            <a:prstDash val="solid"/>
          </a:ln>
        </p:spPr>
        <p:txBody>
          <a:bodyPr/>
          <a:lstStyle/>
          <a:p>
            <a:endParaRPr lang="en-US"/>
          </a:p>
        </p:txBody>
      </p:sp>
      <p:sp>
        <p:nvSpPr>
          <p:cNvPr id="26" name="Shape 17">
            <a:extLst>
              <a:ext uri="{FF2B5EF4-FFF2-40B4-BE49-F238E27FC236}">
                <a16:creationId xmlns:a16="http://schemas.microsoft.com/office/drawing/2014/main" id="{BECF0803-39FB-2C28-7A6C-EC7491FB7828}"/>
              </a:ext>
            </a:extLst>
          </p:cNvPr>
          <p:cNvSpPr/>
          <p:nvPr/>
        </p:nvSpPr>
        <p:spPr>
          <a:xfrm>
            <a:off x="4325112" y="1554480"/>
            <a:ext cx="3703320" cy="128016"/>
          </a:xfrm>
          <a:prstGeom prst="rect">
            <a:avLst/>
          </a:prstGeom>
          <a:solidFill>
            <a:srgbClr val="D71920"/>
          </a:solidFill>
          <a:ln w="12700">
            <a:solidFill>
              <a:srgbClr val="D71920"/>
            </a:solidFill>
            <a:prstDash val="solid"/>
          </a:ln>
        </p:spPr>
        <p:txBody>
          <a:bodyPr/>
          <a:lstStyle/>
          <a:p>
            <a:endParaRPr lang="en-US"/>
          </a:p>
        </p:txBody>
      </p:sp>
      <p:sp>
        <p:nvSpPr>
          <p:cNvPr id="27" name="Text 18">
            <a:extLst>
              <a:ext uri="{FF2B5EF4-FFF2-40B4-BE49-F238E27FC236}">
                <a16:creationId xmlns:a16="http://schemas.microsoft.com/office/drawing/2014/main" id="{151C07C1-E214-C67D-F849-0028F7DC88BB}"/>
              </a:ext>
            </a:extLst>
          </p:cNvPr>
          <p:cNvSpPr/>
          <p:nvPr/>
        </p:nvSpPr>
        <p:spPr>
          <a:xfrm>
            <a:off x="4471416" y="1380744"/>
            <a:ext cx="3410712" cy="18288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ALFA_PRODUCTS</a:t>
            </a:r>
            <a:endParaRPr lang="en-US" sz="1300" dirty="0"/>
          </a:p>
        </p:txBody>
      </p:sp>
      <p:sp>
        <p:nvSpPr>
          <p:cNvPr id="28" name="Text 19">
            <a:extLst>
              <a:ext uri="{FF2B5EF4-FFF2-40B4-BE49-F238E27FC236}">
                <a16:creationId xmlns:a16="http://schemas.microsoft.com/office/drawing/2014/main" id="{BA069366-BD4D-D139-0750-36AC4DDD8CF6}"/>
              </a:ext>
            </a:extLst>
          </p:cNvPr>
          <p:cNvSpPr/>
          <p:nvPr/>
        </p:nvSpPr>
        <p:spPr>
          <a:xfrm>
            <a:off x="4471416" y="1773936"/>
            <a:ext cx="3410712" cy="201168"/>
          </a:xfrm>
          <a:prstGeom prst="rect">
            <a:avLst/>
          </a:prstGeom>
          <a:noFill/>
          <a:ln/>
        </p:spPr>
        <p:txBody>
          <a:bodyPr wrap="square" lIns="0" tIns="0" rIns="0" bIns="0" rtlCol="0" anchor="ctr"/>
          <a:lstStyle/>
          <a:p>
            <a:pPr marL="0" indent="0">
              <a:buNone/>
            </a:pPr>
            <a:r>
              <a:rPr lang="en-US" sz="1040" b="1" dirty="0">
                <a:latin typeface="Aptos" pitchFamily="34" charset="0"/>
                <a:ea typeface="Aptos" pitchFamily="34" charset="-122"/>
                <a:cs typeface="Aptos" pitchFamily="34" charset="-120"/>
              </a:rPr>
              <a:t>Product master  •  507 SKUs  •  11 columns</a:t>
            </a:r>
            <a:endParaRPr lang="en-US" sz="1040" dirty="0"/>
          </a:p>
        </p:txBody>
      </p:sp>
      <p:sp>
        <p:nvSpPr>
          <p:cNvPr id="29" name="Text 20">
            <a:extLst>
              <a:ext uri="{FF2B5EF4-FFF2-40B4-BE49-F238E27FC236}">
                <a16:creationId xmlns:a16="http://schemas.microsoft.com/office/drawing/2014/main" id="{E1B26943-BCBF-AC51-6415-8DC0711A2F45}"/>
              </a:ext>
            </a:extLst>
          </p:cNvPr>
          <p:cNvSpPr/>
          <p:nvPr/>
        </p:nvSpPr>
        <p:spPr>
          <a:xfrm>
            <a:off x="4489704" y="2048256"/>
            <a:ext cx="3374136" cy="164592"/>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sku_id</a:t>
            </a:r>
            <a:r>
              <a:rPr lang="en-US" sz="950" dirty="0">
                <a:latin typeface="Aptos" pitchFamily="34" charset="0"/>
                <a:ea typeface="Aptos" pitchFamily="34" charset="-122"/>
                <a:cs typeface="Aptos" pitchFamily="34" charset="-120"/>
              </a:rPr>
              <a:t> - unique product identifier</a:t>
            </a:r>
            <a:endParaRPr lang="en-US" sz="950" dirty="0"/>
          </a:p>
        </p:txBody>
      </p:sp>
      <p:sp>
        <p:nvSpPr>
          <p:cNvPr id="30" name="Text 21">
            <a:extLst>
              <a:ext uri="{FF2B5EF4-FFF2-40B4-BE49-F238E27FC236}">
                <a16:creationId xmlns:a16="http://schemas.microsoft.com/office/drawing/2014/main" id="{089876B7-C637-81FA-14DC-E289FB7697D4}"/>
              </a:ext>
            </a:extLst>
          </p:cNvPr>
          <p:cNvSpPr/>
          <p:nvPr/>
        </p:nvSpPr>
        <p:spPr>
          <a:xfrm>
            <a:off x="4489704" y="2231136"/>
            <a:ext cx="3374136" cy="164592"/>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product_name</a:t>
            </a:r>
            <a:r>
              <a:rPr lang="en-US" sz="950" dirty="0">
                <a:latin typeface="Aptos" pitchFamily="34" charset="0"/>
                <a:ea typeface="Aptos" pitchFamily="34" charset="-122"/>
                <a:cs typeface="Aptos" pitchFamily="34" charset="-120"/>
              </a:rPr>
              <a:t> - product name</a:t>
            </a:r>
            <a:endParaRPr lang="en-US" sz="950" dirty="0"/>
          </a:p>
        </p:txBody>
      </p:sp>
      <p:sp>
        <p:nvSpPr>
          <p:cNvPr id="31" name="Text 22">
            <a:extLst>
              <a:ext uri="{FF2B5EF4-FFF2-40B4-BE49-F238E27FC236}">
                <a16:creationId xmlns:a16="http://schemas.microsoft.com/office/drawing/2014/main" id="{2C1BF9DF-5768-69B8-8BE7-54C660C82ABD}"/>
              </a:ext>
            </a:extLst>
          </p:cNvPr>
          <p:cNvSpPr/>
          <p:nvPr/>
        </p:nvSpPr>
        <p:spPr>
          <a:xfrm>
            <a:off x="4489704" y="2414016"/>
            <a:ext cx="3374136" cy="164592"/>
          </a:xfrm>
          <a:prstGeom prst="rect">
            <a:avLst/>
          </a:prstGeom>
          <a:noFill/>
          <a:ln/>
        </p:spPr>
        <p:txBody>
          <a:bodyPr wrap="square" lIns="0" tIns="0" rIns="0" bIns="0" rtlCol="0" anchor="ctr"/>
          <a:lstStyle/>
          <a:p>
            <a:pPr marL="0" indent="0">
              <a:buNone/>
            </a:pPr>
            <a:r>
              <a:rPr lang="en-US" sz="950" b="1" dirty="0">
                <a:latin typeface="Aptos" pitchFamily="34" charset="0"/>
                <a:ea typeface="Aptos" pitchFamily="34" charset="-122"/>
                <a:cs typeface="Aptos" pitchFamily="34" charset="-120"/>
              </a:rPr>
              <a:t>category</a:t>
            </a:r>
            <a:r>
              <a:rPr lang="en-US" sz="950" dirty="0">
                <a:latin typeface="Aptos" pitchFamily="34" charset="0"/>
                <a:ea typeface="Aptos" pitchFamily="34" charset="-122"/>
                <a:cs typeface="Aptos" pitchFamily="34" charset="-120"/>
              </a:rPr>
              <a:t> - product category</a:t>
            </a:r>
            <a:endParaRPr lang="en-US" sz="950" dirty="0"/>
          </a:p>
        </p:txBody>
      </p:sp>
      <p:sp>
        <p:nvSpPr>
          <p:cNvPr id="32" name="Text 23">
            <a:extLst>
              <a:ext uri="{FF2B5EF4-FFF2-40B4-BE49-F238E27FC236}">
                <a16:creationId xmlns:a16="http://schemas.microsoft.com/office/drawing/2014/main" id="{E359379C-4430-C1DB-9618-FA30710F4BD1}"/>
              </a:ext>
            </a:extLst>
          </p:cNvPr>
          <p:cNvSpPr/>
          <p:nvPr/>
        </p:nvSpPr>
        <p:spPr>
          <a:xfrm>
            <a:off x="4489704" y="2596896"/>
            <a:ext cx="3374136" cy="164592"/>
          </a:xfrm>
          <a:prstGeom prst="rect">
            <a:avLst/>
          </a:prstGeom>
          <a:noFill/>
          <a:ln/>
        </p:spPr>
        <p:txBody>
          <a:bodyPr wrap="square" lIns="0" tIns="0" rIns="0" bIns="0" rtlCol="0" anchor="ctr"/>
          <a:lstStyle/>
          <a:p>
            <a:pPr marL="0" indent="0">
              <a:buNone/>
            </a:pPr>
            <a:r>
              <a:rPr lang="en-US" sz="950" b="1" dirty="0">
                <a:latin typeface="Aptos" pitchFamily="34" charset="0"/>
                <a:ea typeface="Aptos" pitchFamily="34" charset="-122"/>
                <a:cs typeface="Aptos" pitchFamily="34" charset="-120"/>
              </a:rPr>
              <a:t>brand</a:t>
            </a:r>
            <a:r>
              <a:rPr lang="en-US" sz="950" dirty="0">
                <a:latin typeface="Aptos" pitchFamily="34" charset="0"/>
                <a:ea typeface="Aptos" pitchFamily="34" charset="-122"/>
                <a:cs typeface="Aptos" pitchFamily="34" charset="-120"/>
              </a:rPr>
              <a:t> - product brand</a:t>
            </a:r>
            <a:endParaRPr lang="en-US" sz="950" dirty="0"/>
          </a:p>
        </p:txBody>
      </p:sp>
      <p:sp>
        <p:nvSpPr>
          <p:cNvPr id="33" name="Text 24">
            <a:extLst>
              <a:ext uri="{FF2B5EF4-FFF2-40B4-BE49-F238E27FC236}">
                <a16:creationId xmlns:a16="http://schemas.microsoft.com/office/drawing/2014/main" id="{3FD15E4F-44E2-2DA1-7A0C-DA69BC608573}"/>
              </a:ext>
            </a:extLst>
          </p:cNvPr>
          <p:cNvSpPr/>
          <p:nvPr/>
        </p:nvSpPr>
        <p:spPr>
          <a:xfrm>
            <a:off x="4489704" y="2779776"/>
            <a:ext cx="3374136" cy="164592"/>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unit_price</a:t>
            </a:r>
            <a:r>
              <a:rPr lang="en-US" sz="950" dirty="0">
                <a:latin typeface="Aptos" pitchFamily="34" charset="0"/>
                <a:ea typeface="Aptos" pitchFamily="34" charset="-122"/>
                <a:cs typeface="Aptos" pitchFamily="34" charset="-120"/>
              </a:rPr>
              <a:t> - standard unit price</a:t>
            </a:r>
            <a:endParaRPr lang="en-US" sz="950" dirty="0"/>
          </a:p>
        </p:txBody>
      </p:sp>
      <p:sp>
        <p:nvSpPr>
          <p:cNvPr id="34" name="Text 25">
            <a:extLst>
              <a:ext uri="{FF2B5EF4-FFF2-40B4-BE49-F238E27FC236}">
                <a16:creationId xmlns:a16="http://schemas.microsoft.com/office/drawing/2014/main" id="{F0CCE737-A0D3-A2F4-5DFF-9307145D263D}"/>
              </a:ext>
            </a:extLst>
          </p:cNvPr>
          <p:cNvSpPr/>
          <p:nvPr/>
        </p:nvSpPr>
        <p:spPr>
          <a:xfrm>
            <a:off x="4489704" y="2962656"/>
            <a:ext cx="3374136" cy="164592"/>
          </a:xfrm>
          <a:prstGeom prst="rect">
            <a:avLst/>
          </a:prstGeom>
          <a:noFill/>
          <a:ln/>
        </p:spPr>
        <p:txBody>
          <a:bodyPr wrap="square" lIns="0" tIns="0" rIns="0" bIns="0" rtlCol="0" anchor="ctr"/>
          <a:lstStyle/>
          <a:p>
            <a:pPr marL="0" indent="0">
              <a:buNone/>
            </a:pPr>
            <a:r>
              <a:rPr lang="en-US" sz="950" b="1" dirty="0" err="1">
                <a:solidFill>
                  <a:srgbClr val="D71920"/>
                </a:solidFill>
                <a:latin typeface="Aptos" pitchFamily="34" charset="0"/>
                <a:ea typeface="Aptos" pitchFamily="34" charset="-122"/>
                <a:cs typeface="Aptos" pitchFamily="34" charset="-120"/>
              </a:rPr>
              <a:t>is_jsm_promo</a:t>
            </a:r>
            <a:r>
              <a:rPr lang="en-US" sz="950" dirty="0">
                <a:solidFill>
                  <a:srgbClr val="545B70"/>
                </a:solidFill>
                <a:latin typeface="Aptos" pitchFamily="34" charset="0"/>
                <a:ea typeface="Aptos" pitchFamily="34" charset="-122"/>
                <a:cs typeface="Aptos" pitchFamily="34" charset="-120"/>
              </a:rPr>
              <a:t> - </a:t>
            </a:r>
            <a:r>
              <a:rPr lang="en-US" sz="950" dirty="0">
                <a:latin typeface="Aptos" pitchFamily="34" charset="0"/>
                <a:ea typeface="Aptos" pitchFamily="34" charset="-122"/>
                <a:cs typeface="Aptos" pitchFamily="34" charset="-120"/>
              </a:rPr>
              <a:t>JSM promotion indicator</a:t>
            </a:r>
            <a:endParaRPr lang="en-US" sz="950" dirty="0"/>
          </a:p>
        </p:txBody>
      </p:sp>
      <p:sp>
        <p:nvSpPr>
          <p:cNvPr id="35" name="Text 26">
            <a:extLst>
              <a:ext uri="{FF2B5EF4-FFF2-40B4-BE49-F238E27FC236}">
                <a16:creationId xmlns:a16="http://schemas.microsoft.com/office/drawing/2014/main" id="{FFD278F7-3000-6961-A64C-9BD462D752A7}"/>
              </a:ext>
            </a:extLst>
          </p:cNvPr>
          <p:cNvSpPr/>
          <p:nvPr/>
        </p:nvSpPr>
        <p:spPr>
          <a:xfrm>
            <a:off x="4489704" y="3145536"/>
            <a:ext cx="3374136" cy="164592"/>
          </a:xfrm>
          <a:prstGeom prst="rect">
            <a:avLst/>
          </a:prstGeom>
          <a:noFill/>
          <a:ln/>
        </p:spPr>
        <p:txBody>
          <a:bodyPr wrap="square" lIns="0" tIns="0" rIns="0" bIns="0" rtlCol="0" anchor="ctr"/>
          <a:lstStyle/>
          <a:p>
            <a:pPr marL="0" indent="0">
              <a:buNone/>
            </a:pPr>
            <a:r>
              <a:rPr lang="en-US" sz="950" b="1" dirty="0" err="1">
                <a:solidFill>
                  <a:srgbClr val="D71920"/>
                </a:solidFill>
                <a:latin typeface="Aptos" pitchFamily="34" charset="0"/>
                <a:ea typeface="Aptos" pitchFamily="34" charset="-122"/>
                <a:cs typeface="Aptos" pitchFamily="34" charset="-120"/>
              </a:rPr>
              <a:t>jsm_discount_pct</a:t>
            </a:r>
            <a:r>
              <a:rPr lang="en-US" sz="950" dirty="0">
                <a:solidFill>
                  <a:srgbClr val="545B70"/>
                </a:solidFill>
                <a:latin typeface="Aptos" pitchFamily="34" charset="0"/>
                <a:ea typeface="Aptos" pitchFamily="34" charset="-122"/>
                <a:cs typeface="Aptos" pitchFamily="34" charset="-120"/>
              </a:rPr>
              <a:t> - </a:t>
            </a:r>
            <a:r>
              <a:rPr lang="en-US" sz="950" dirty="0">
                <a:latin typeface="Aptos" pitchFamily="34" charset="0"/>
                <a:ea typeface="Aptos" pitchFamily="34" charset="-122"/>
                <a:cs typeface="Aptos" pitchFamily="34" charset="-120"/>
              </a:rPr>
              <a:t>JSM discount percentage</a:t>
            </a:r>
            <a:endParaRPr lang="en-US" sz="950" dirty="0"/>
          </a:p>
        </p:txBody>
      </p:sp>
      <p:sp>
        <p:nvSpPr>
          <p:cNvPr id="36" name="Shape 27">
            <a:extLst>
              <a:ext uri="{FF2B5EF4-FFF2-40B4-BE49-F238E27FC236}">
                <a16:creationId xmlns:a16="http://schemas.microsoft.com/office/drawing/2014/main" id="{02F6D7A5-72DA-C34E-DC9B-8D8492114DD9}"/>
              </a:ext>
            </a:extLst>
          </p:cNvPr>
          <p:cNvSpPr/>
          <p:nvPr/>
        </p:nvSpPr>
        <p:spPr>
          <a:xfrm>
            <a:off x="8147304" y="1298448"/>
            <a:ext cx="3538728" cy="2176272"/>
          </a:xfrm>
          <a:prstGeom prst="roundRect">
            <a:avLst>
              <a:gd name="adj" fmla="val 2521"/>
            </a:avLst>
          </a:prstGeom>
          <a:solidFill>
            <a:srgbClr val="FFFFFF"/>
          </a:solidFill>
          <a:ln w="13970">
            <a:solidFill>
              <a:srgbClr val="D9DCE3"/>
            </a:solidFill>
            <a:prstDash val="solid"/>
          </a:ln>
          <a:effectLst>
            <a:outerShdw blurRad="15240" dist="50800" dir="2700000" algn="bl" rotWithShape="0">
              <a:srgbClr val="C9CDD5">
                <a:alpha val="16000"/>
              </a:srgbClr>
            </a:outerShdw>
          </a:effectLst>
        </p:spPr>
        <p:txBody>
          <a:bodyPr/>
          <a:lstStyle/>
          <a:p>
            <a:endParaRPr lang="en-US"/>
          </a:p>
        </p:txBody>
      </p:sp>
      <p:sp>
        <p:nvSpPr>
          <p:cNvPr id="37" name="Shape 28">
            <a:extLst>
              <a:ext uri="{FF2B5EF4-FFF2-40B4-BE49-F238E27FC236}">
                <a16:creationId xmlns:a16="http://schemas.microsoft.com/office/drawing/2014/main" id="{7F3600EA-1AC5-53B5-38A3-7B1C5D8723F1}"/>
              </a:ext>
            </a:extLst>
          </p:cNvPr>
          <p:cNvSpPr/>
          <p:nvPr/>
        </p:nvSpPr>
        <p:spPr>
          <a:xfrm>
            <a:off x="8147304" y="1298448"/>
            <a:ext cx="3538728" cy="384048"/>
          </a:xfrm>
          <a:prstGeom prst="roundRect">
            <a:avLst>
              <a:gd name="adj" fmla="val 14286"/>
            </a:avLst>
          </a:prstGeom>
          <a:solidFill>
            <a:srgbClr val="D71920"/>
          </a:solidFill>
          <a:ln w="12700">
            <a:solidFill>
              <a:srgbClr val="D71920"/>
            </a:solidFill>
            <a:prstDash val="solid"/>
          </a:ln>
        </p:spPr>
        <p:txBody>
          <a:bodyPr/>
          <a:lstStyle/>
          <a:p>
            <a:endParaRPr lang="en-US"/>
          </a:p>
        </p:txBody>
      </p:sp>
      <p:sp>
        <p:nvSpPr>
          <p:cNvPr id="38" name="Shape 29">
            <a:extLst>
              <a:ext uri="{FF2B5EF4-FFF2-40B4-BE49-F238E27FC236}">
                <a16:creationId xmlns:a16="http://schemas.microsoft.com/office/drawing/2014/main" id="{CEB5C458-CC9F-518F-424C-3D2417841DF2}"/>
              </a:ext>
            </a:extLst>
          </p:cNvPr>
          <p:cNvSpPr/>
          <p:nvPr/>
        </p:nvSpPr>
        <p:spPr>
          <a:xfrm>
            <a:off x="8147304" y="1554480"/>
            <a:ext cx="3538728" cy="128016"/>
          </a:xfrm>
          <a:prstGeom prst="rect">
            <a:avLst/>
          </a:prstGeom>
          <a:solidFill>
            <a:srgbClr val="D71920"/>
          </a:solidFill>
          <a:ln w="12700">
            <a:solidFill>
              <a:srgbClr val="D71920"/>
            </a:solidFill>
            <a:prstDash val="solid"/>
          </a:ln>
        </p:spPr>
        <p:txBody>
          <a:bodyPr/>
          <a:lstStyle/>
          <a:p>
            <a:endParaRPr lang="en-US"/>
          </a:p>
        </p:txBody>
      </p:sp>
      <p:sp>
        <p:nvSpPr>
          <p:cNvPr id="39" name="Text 30">
            <a:extLst>
              <a:ext uri="{FF2B5EF4-FFF2-40B4-BE49-F238E27FC236}">
                <a16:creationId xmlns:a16="http://schemas.microsoft.com/office/drawing/2014/main" id="{A012A790-3B40-D9EB-32B8-8E28CA24A6DD}"/>
              </a:ext>
            </a:extLst>
          </p:cNvPr>
          <p:cNvSpPr/>
          <p:nvPr/>
        </p:nvSpPr>
        <p:spPr>
          <a:xfrm>
            <a:off x="8293608" y="1380744"/>
            <a:ext cx="3246120" cy="18288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ALFA_STORES</a:t>
            </a:r>
            <a:endParaRPr lang="en-US" sz="1300" dirty="0"/>
          </a:p>
        </p:txBody>
      </p:sp>
      <p:sp>
        <p:nvSpPr>
          <p:cNvPr id="40" name="Text 31">
            <a:extLst>
              <a:ext uri="{FF2B5EF4-FFF2-40B4-BE49-F238E27FC236}">
                <a16:creationId xmlns:a16="http://schemas.microsoft.com/office/drawing/2014/main" id="{02F0C8B6-3963-F8B7-EAC0-9775E07773D7}"/>
              </a:ext>
            </a:extLst>
          </p:cNvPr>
          <p:cNvSpPr/>
          <p:nvPr/>
        </p:nvSpPr>
        <p:spPr>
          <a:xfrm>
            <a:off x="8293608" y="1773936"/>
            <a:ext cx="3246120" cy="201168"/>
          </a:xfrm>
          <a:prstGeom prst="rect">
            <a:avLst/>
          </a:prstGeom>
          <a:noFill/>
          <a:ln/>
        </p:spPr>
        <p:txBody>
          <a:bodyPr wrap="square" lIns="0" tIns="0" rIns="0" bIns="0" rtlCol="0" anchor="ctr"/>
          <a:lstStyle/>
          <a:p>
            <a:pPr marL="0" indent="0">
              <a:buNone/>
            </a:pPr>
            <a:r>
              <a:rPr lang="en-US" sz="1040" b="1" dirty="0">
                <a:latin typeface="Aptos" pitchFamily="34" charset="0"/>
                <a:ea typeface="Aptos" pitchFamily="34" charset="-122"/>
                <a:cs typeface="Aptos" pitchFamily="34" charset="-120"/>
              </a:rPr>
              <a:t>Store master  •  1,003 stores  •  10 columns</a:t>
            </a:r>
            <a:endParaRPr lang="en-US" sz="1040" dirty="0"/>
          </a:p>
        </p:txBody>
      </p:sp>
      <p:sp>
        <p:nvSpPr>
          <p:cNvPr id="41" name="Text 32">
            <a:extLst>
              <a:ext uri="{FF2B5EF4-FFF2-40B4-BE49-F238E27FC236}">
                <a16:creationId xmlns:a16="http://schemas.microsoft.com/office/drawing/2014/main" id="{FB94D125-A085-FB5F-E1EF-98A45FC2685B}"/>
              </a:ext>
            </a:extLst>
          </p:cNvPr>
          <p:cNvSpPr/>
          <p:nvPr/>
        </p:nvSpPr>
        <p:spPr>
          <a:xfrm>
            <a:off x="8311896" y="2048256"/>
            <a:ext cx="3209544" cy="164592"/>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store_id</a:t>
            </a:r>
            <a:r>
              <a:rPr lang="en-US" sz="950" dirty="0">
                <a:latin typeface="Aptos" pitchFamily="34" charset="0"/>
                <a:ea typeface="Aptos" pitchFamily="34" charset="-122"/>
                <a:cs typeface="Aptos" pitchFamily="34" charset="-120"/>
              </a:rPr>
              <a:t> - unique store identifier</a:t>
            </a:r>
            <a:endParaRPr lang="en-US" sz="950" dirty="0"/>
          </a:p>
        </p:txBody>
      </p:sp>
      <p:sp>
        <p:nvSpPr>
          <p:cNvPr id="42" name="Text 33">
            <a:extLst>
              <a:ext uri="{FF2B5EF4-FFF2-40B4-BE49-F238E27FC236}">
                <a16:creationId xmlns:a16="http://schemas.microsoft.com/office/drawing/2014/main" id="{67BFE93B-4583-DD26-76E9-823A2144F1AB}"/>
              </a:ext>
            </a:extLst>
          </p:cNvPr>
          <p:cNvSpPr/>
          <p:nvPr/>
        </p:nvSpPr>
        <p:spPr>
          <a:xfrm>
            <a:off x="8311896" y="2231136"/>
            <a:ext cx="3209544" cy="164592"/>
          </a:xfrm>
          <a:prstGeom prst="rect">
            <a:avLst/>
          </a:prstGeom>
          <a:noFill/>
          <a:ln/>
        </p:spPr>
        <p:txBody>
          <a:bodyPr wrap="square" lIns="0" tIns="0" rIns="0" bIns="0" rtlCol="0" anchor="ctr"/>
          <a:lstStyle/>
          <a:p>
            <a:pPr marL="0" indent="0">
              <a:buNone/>
            </a:pPr>
            <a:r>
              <a:rPr lang="en-US" sz="950" b="1" dirty="0">
                <a:latin typeface="Aptos" pitchFamily="34" charset="0"/>
                <a:ea typeface="Aptos" pitchFamily="34" charset="-122"/>
                <a:cs typeface="Aptos" pitchFamily="34" charset="-120"/>
              </a:rPr>
              <a:t>city</a:t>
            </a:r>
            <a:r>
              <a:rPr lang="en-US" sz="950" dirty="0">
                <a:latin typeface="Aptos" pitchFamily="34" charset="0"/>
                <a:ea typeface="Aptos" pitchFamily="34" charset="-122"/>
                <a:cs typeface="Aptos" pitchFamily="34" charset="-120"/>
              </a:rPr>
              <a:t> - store city</a:t>
            </a:r>
            <a:endParaRPr lang="en-US" sz="950" dirty="0"/>
          </a:p>
        </p:txBody>
      </p:sp>
      <p:sp>
        <p:nvSpPr>
          <p:cNvPr id="43" name="Text 34">
            <a:extLst>
              <a:ext uri="{FF2B5EF4-FFF2-40B4-BE49-F238E27FC236}">
                <a16:creationId xmlns:a16="http://schemas.microsoft.com/office/drawing/2014/main" id="{F3F4D4C7-8EF2-9DA2-050F-0921C7FF6C51}"/>
              </a:ext>
            </a:extLst>
          </p:cNvPr>
          <p:cNvSpPr/>
          <p:nvPr/>
        </p:nvSpPr>
        <p:spPr>
          <a:xfrm>
            <a:off x="8311896" y="2414016"/>
            <a:ext cx="3209544" cy="164592"/>
          </a:xfrm>
          <a:prstGeom prst="rect">
            <a:avLst/>
          </a:prstGeom>
          <a:noFill/>
          <a:ln/>
        </p:spPr>
        <p:txBody>
          <a:bodyPr wrap="square" lIns="0" tIns="0" rIns="0" bIns="0" rtlCol="0" anchor="ctr"/>
          <a:lstStyle/>
          <a:p>
            <a:pPr marL="0" indent="0">
              <a:buNone/>
            </a:pPr>
            <a:r>
              <a:rPr lang="en-US" sz="950" b="1" dirty="0">
                <a:latin typeface="Aptos" pitchFamily="34" charset="0"/>
                <a:ea typeface="Aptos" pitchFamily="34" charset="-122"/>
                <a:cs typeface="Aptos" pitchFamily="34" charset="-120"/>
              </a:rPr>
              <a:t>province</a:t>
            </a:r>
            <a:r>
              <a:rPr lang="en-US" sz="950" dirty="0">
                <a:latin typeface="Aptos" pitchFamily="34" charset="0"/>
                <a:ea typeface="Aptos" pitchFamily="34" charset="-122"/>
                <a:cs typeface="Aptos" pitchFamily="34" charset="-120"/>
              </a:rPr>
              <a:t> - store province</a:t>
            </a:r>
            <a:endParaRPr lang="en-US" sz="950" dirty="0"/>
          </a:p>
        </p:txBody>
      </p:sp>
      <p:sp>
        <p:nvSpPr>
          <p:cNvPr id="44" name="Text 35">
            <a:extLst>
              <a:ext uri="{FF2B5EF4-FFF2-40B4-BE49-F238E27FC236}">
                <a16:creationId xmlns:a16="http://schemas.microsoft.com/office/drawing/2014/main" id="{26F1D885-190A-5F05-CFB7-741F55F44A66}"/>
              </a:ext>
            </a:extLst>
          </p:cNvPr>
          <p:cNvSpPr/>
          <p:nvPr/>
        </p:nvSpPr>
        <p:spPr>
          <a:xfrm>
            <a:off x="8311896" y="2596896"/>
            <a:ext cx="3209544" cy="164592"/>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open_date</a:t>
            </a:r>
            <a:r>
              <a:rPr lang="en-US" sz="950" dirty="0">
                <a:latin typeface="Aptos" pitchFamily="34" charset="0"/>
                <a:ea typeface="Aptos" pitchFamily="34" charset="-122"/>
                <a:cs typeface="Aptos" pitchFamily="34" charset="-120"/>
              </a:rPr>
              <a:t> - store opening date</a:t>
            </a:r>
            <a:endParaRPr lang="en-US" sz="950" dirty="0"/>
          </a:p>
        </p:txBody>
      </p:sp>
      <p:sp>
        <p:nvSpPr>
          <p:cNvPr id="45" name="Text 36">
            <a:extLst>
              <a:ext uri="{FF2B5EF4-FFF2-40B4-BE49-F238E27FC236}">
                <a16:creationId xmlns:a16="http://schemas.microsoft.com/office/drawing/2014/main" id="{26DD86DD-1936-E782-6372-989989D80B2A}"/>
              </a:ext>
            </a:extLst>
          </p:cNvPr>
          <p:cNvSpPr/>
          <p:nvPr/>
        </p:nvSpPr>
        <p:spPr>
          <a:xfrm>
            <a:off x="8311896" y="2779776"/>
            <a:ext cx="3209544" cy="164592"/>
          </a:xfrm>
          <a:prstGeom prst="rect">
            <a:avLst/>
          </a:prstGeom>
          <a:noFill/>
          <a:ln/>
        </p:spPr>
        <p:txBody>
          <a:bodyPr wrap="square" lIns="0" tIns="0" rIns="0" bIns="0" rtlCol="0" anchor="ctr"/>
          <a:lstStyle/>
          <a:p>
            <a:pPr marL="0" indent="0">
              <a:buNone/>
            </a:pPr>
            <a:r>
              <a:rPr lang="en-US" sz="950" b="1" dirty="0" err="1">
                <a:solidFill>
                  <a:srgbClr val="D71920"/>
                </a:solidFill>
                <a:latin typeface="Aptos" pitchFamily="34" charset="0"/>
                <a:ea typeface="Aptos" pitchFamily="34" charset="-122"/>
                <a:cs typeface="Aptos" pitchFamily="34" charset="-120"/>
              </a:rPr>
              <a:t>store_type</a:t>
            </a:r>
            <a:r>
              <a:rPr lang="en-US" sz="950" dirty="0">
                <a:solidFill>
                  <a:srgbClr val="545B70"/>
                </a:solidFill>
                <a:latin typeface="Aptos" pitchFamily="34" charset="0"/>
                <a:ea typeface="Aptos" pitchFamily="34" charset="-122"/>
                <a:cs typeface="Aptos" pitchFamily="34" charset="-120"/>
              </a:rPr>
              <a:t> </a:t>
            </a:r>
            <a:r>
              <a:rPr lang="en-US" sz="950" dirty="0">
                <a:latin typeface="Aptos" pitchFamily="34" charset="0"/>
                <a:ea typeface="Aptos" pitchFamily="34" charset="-122"/>
                <a:cs typeface="Aptos" pitchFamily="34" charset="-120"/>
              </a:rPr>
              <a:t>- location / trade-area classification</a:t>
            </a:r>
            <a:endParaRPr lang="en-US" sz="950" dirty="0"/>
          </a:p>
        </p:txBody>
      </p:sp>
      <p:sp>
        <p:nvSpPr>
          <p:cNvPr id="46" name="Text 37">
            <a:extLst>
              <a:ext uri="{FF2B5EF4-FFF2-40B4-BE49-F238E27FC236}">
                <a16:creationId xmlns:a16="http://schemas.microsoft.com/office/drawing/2014/main" id="{9D512639-9B37-E3D3-DCBF-01E3135D21F7}"/>
              </a:ext>
            </a:extLst>
          </p:cNvPr>
          <p:cNvSpPr/>
          <p:nvPr/>
        </p:nvSpPr>
        <p:spPr>
          <a:xfrm>
            <a:off x="8311896" y="2962656"/>
            <a:ext cx="3209544" cy="164592"/>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store_format</a:t>
            </a:r>
            <a:r>
              <a:rPr lang="en-US" sz="950" dirty="0">
                <a:latin typeface="Aptos" pitchFamily="34" charset="0"/>
                <a:ea typeface="Aptos" pitchFamily="34" charset="-122"/>
                <a:cs typeface="Aptos" pitchFamily="34" charset="-120"/>
              </a:rPr>
              <a:t> - store format</a:t>
            </a:r>
            <a:endParaRPr lang="en-US" sz="950" dirty="0"/>
          </a:p>
        </p:txBody>
      </p:sp>
      <p:sp>
        <p:nvSpPr>
          <p:cNvPr id="47" name="Text 38">
            <a:extLst>
              <a:ext uri="{FF2B5EF4-FFF2-40B4-BE49-F238E27FC236}">
                <a16:creationId xmlns:a16="http://schemas.microsoft.com/office/drawing/2014/main" id="{45A540EA-4D1A-E710-82A2-0B850D60830A}"/>
              </a:ext>
            </a:extLst>
          </p:cNvPr>
          <p:cNvSpPr/>
          <p:nvPr/>
        </p:nvSpPr>
        <p:spPr>
          <a:xfrm>
            <a:off x="8311896" y="3145536"/>
            <a:ext cx="3209544" cy="164592"/>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region_code</a:t>
            </a:r>
            <a:r>
              <a:rPr lang="en-US" sz="950" dirty="0">
                <a:latin typeface="Aptos" pitchFamily="34" charset="0"/>
                <a:ea typeface="Aptos" pitchFamily="34" charset="-122"/>
                <a:cs typeface="Aptos" pitchFamily="34" charset="-120"/>
              </a:rPr>
              <a:t> - regional identifier</a:t>
            </a:r>
            <a:endParaRPr lang="en-US" sz="950" dirty="0"/>
          </a:p>
        </p:txBody>
      </p:sp>
      <p:sp>
        <p:nvSpPr>
          <p:cNvPr id="48" name="Shape 39">
            <a:extLst>
              <a:ext uri="{FF2B5EF4-FFF2-40B4-BE49-F238E27FC236}">
                <a16:creationId xmlns:a16="http://schemas.microsoft.com/office/drawing/2014/main" id="{C764084A-A4D9-B9DF-B620-E60BEF85B9BC}"/>
              </a:ext>
            </a:extLst>
          </p:cNvPr>
          <p:cNvSpPr/>
          <p:nvPr/>
        </p:nvSpPr>
        <p:spPr>
          <a:xfrm>
            <a:off x="1234440" y="3703320"/>
            <a:ext cx="4709160" cy="2103120"/>
          </a:xfrm>
          <a:prstGeom prst="roundRect">
            <a:avLst>
              <a:gd name="adj" fmla="val 2609"/>
            </a:avLst>
          </a:prstGeom>
          <a:solidFill>
            <a:srgbClr val="FFFFFF"/>
          </a:solidFill>
          <a:ln w="13970">
            <a:solidFill>
              <a:srgbClr val="D9DCE3"/>
            </a:solidFill>
            <a:prstDash val="solid"/>
          </a:ln>
          <a:effectLst>
            <a:outerShdw blurRad="15240" dist="50800" dir="2700000" algn="bl" rotWithShape="0">
              <a:srgbClr val="C9CDD5">
                <a:alpha val="16000"/>
              </a:srgbClr>
            </a:outerShdw>
          </a:effectLst>
        </p:spPr>
        <p:txBody>
          <a:bodyPr/>
          <a:lstStyle/>
          <a:p>
            <a:endParaRPr lang="en-US"/>
          </a:p>
        </p:txBody>
      </p:sp>
      <p:sp>
        <p:nvSpPr>
          <p:cNvPr id="49" name="Shape 40">
            <a:extLst>
              <a:ext uri="{FF2B5EF4-FFF2-40B4-BE49-F238E27FC236}">
                <a16:creationId xmlns:a16="http://schemas.microsoft.com/office/drawing/2014/main" id="{3FB3056F-7FFF-6BD5-D9AF-08587396CBC9}"/>
              </a:ext>
            </a:extLst>
          </p:cNvPr>
          <p:cNvSpPr/>
          <p:nvPr/>
        </p:nvSpPr>
        <p:spPr>
          <a:xfrm>
            <a:off x="1234440" y="3703320"/>
            <a:ext cx="4709160" cy="384048"/>
          </a:xfrm>
          <a:prstGeom prst="roundRect">
            <a:avLst>
              <a:gd name="adj" fmla="val 14286"/>
            </a:avLst>
          </a:prstGeom>
          <a:solidFill>
            <a:srgbClr val="D71920"/>
          </a:solidFill>
          <a:ln w="12700">
            <a:solidFill>
              <a:srgbClr val="D71920"/>
            </a:solidFill>
            <a:prstDash val="solid"/>
          </a:ln>
        </p:spPr>
        <p:txBody>
          <a:bodyPr/>
          <a:lstStyle/>
          <a:p>
            <a:endParaRPr lang="en-US"/>
          </a:p>
        </p:txBody>
      </p:sp>
      <p:sp>
        <p:nvSpPr>
          <p:cNvPr id="50" name="Shape 41">
            <a:extLst>
              <a:ext uri="{FF2B5EF4-FFF2-40B4-BE49-F238E27FC236}">
                <a16:creationId xmlns:a16="http://schemas.microsoft.com/office/drawing/2014/main" id="{BBAA48AD-D690-18D1-BB77-C16C51B3A9E0}"/>
              </a:ext>
            </a:extLst>
          </p:cNvPr>
          <p:cNvSpPr/>
          <p:nvPr/>
        </p:nvSpPr>
        <p:spPr>
          <a:xfrm>
            <a:off x="1234440" y="3959352"/>
            <a:ext cx="4709160" cy="128016"/>
          </a:xfrm>
          <a:prstGeom prst="rect">
            <a:avLst/>
          </a:prstGeom>
          <a:solidFill>
            <a:srgbClr val="D71920"/>
          </a:solidFill>
          <a:ln w="12700">
            <a:solidFill>
              <a:srgbClr val="D71920"/>
            </a:solidFill>
            <a:prstDash val="solid"/>
          </a:ln>
        </p:spPr>
        <p:txBody>
          <a:bodyPr/>
          <a:lstStyle/>
          <a:p>
            <a:endParaRPr lang="en-US"/>
          </a:p>
        </p:txBody>
      </p:sp>
      <p:sp>
        <p:nvSpPr>
          <p:cNvPr id="51" name="Text 42">
            <a:extLst>
              <a:ext uri="{FF2B5EF4-FFF2-40B4-BE49-F238E27FC236}">
                <a16:creationId xmlns:a16="http://schemas.microsoft.com/office/drawing/2014/main" id="{449AB6F1-122E-DC11-60AE-BA3B8D9D9B55}"/>
              </a:ext>
            </a:extLst>
          </p:cNvPr>
          <p:cNvSpPr/>
          <p:nvPr/>
        </p:nvSpPr>
        <p:spPr>
          <a:xfrm>
            <a:off x="1380744" y="3785616"/>
            <a:ext cx="4416552" cy="18288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ALFA_MEMBERS</a:t>
            </a:r>
            <a:endParaRPr lang="en-US" sz="1300" dirty="0"/>
          </a:p>
        </p:txBody>
      </p:sp>
      <p:sp>
        <p:nvSpPr>
          <p:cNvPr id="52" name="Text 43">
            <a:extLst>
              <a:ext uri="{FF2B5EF4-FFF2-40B4-BE49-F238E27FC236}">
                <a16:creationId xmlns:a16="http://schemas.microsoft.com/office/drawing/2014/main" id="{A9A08C10-FB88-BB3D-8721-E9527380A83A}"/>
              </a:ext>
            </a:extLst>
          </p:cNvPr>
          <p:cNvSpPr/>
          <p:nvPr/>
        </p:nvSpPr>
        <p:spPr>
          <a:xfrm>
            <a:off x="1380744" y="4178808"/>
            <a:ext cx="4416552" cy="201168"/>
          </a:xfrm>
          <a:prstGeom prst="rect">
            <a:avLst/>
          </a:prstGeom>
          <a:noFill/>
          <a:ln/>
        </p:spPr>
        <p:txBody>
          <a:bodyPr wrap="square" lIns="0" tIns="0" rIns="0" bIns="0" rtlCol="0" anchor="ctr"/>
          <a:lstStyle/>
          <a:p>
            <a:pPr marL="0" indent="0">
              <a:buNone/>
            </a:pPr>
            <a:r>
              <a:rPr lang="en-US" sz="1040" b="1" dirty="0">
                <a:solidFill>
                  <a:srgbClr val="1F233A"/>
                </a:solidFill>
                <a:latin typeface="Aptos" pitchFamily="34" charset="0"/>
                <a:ea typeface="Aptos" pitchFamily="34" charset="-122"/>
                <a:cs typeface="Aptos" pitchFamily="34" charset="-120"/>
              </a:rPr>
              <a:t>Customer membership master  •  48,214 members  •  10 columns</a:t>
            </a:r>
            <a:endParaRPr lang="en-US" sz="1040" dirty="0"/>
          </a:p>
        </p:txBody>
      </p:sp>
      <p:sp>
        <p:nvSpPr>
          <p:cNvPr id="53" name="Text 44">
            <a:extLst>
              <a:ext uri="{FF2B5EF4-FFF2-40B4-BE49-F238E27FC236}">
                <a16:creationId xmlns:a16="http://schemas.microsoft.com/office/drawing/2014/main" id="{849ED56B-5193-9BC0-360C-451D40235057}"/>
              </a:ext>
            </a:extLst>
          </p:cNvPr>
          <p:cNvSpPr/>
          <p:nvPr/>
        </p:nvSpPr>
        <p:spPr>
          <a:xfrm>
            <a:off x="1399032" y="4453128"/>
            <a:ext cx="4379976" cy="155187"/>
          </a:xfrm>
          <a:prstGeom prst="rect">
            <a:avLst/>
          </a:prstGeom>
          <a:noFill/>
          <a:ln/>
        </p:spPr>
        <p:txBody>
          <a:bodyPr wrap="square" lIns="0" tIns="0" rIns="0" bIns="0" rtlCol="0" anchor="ctr"/>
          <a:lstStyle/>
          <a:p>
            <a:pPr marL="0" indent="0">
              <a:buNone/>
            </a:pPr>
            <a:r>
              <a:rPr lang="en-US" sz="950" b="1" dirty="0" err="1">
                <a:solidFill>
                  <a:srgbClr val="D71920"/>
                </a:solidFill>
                <a:latin typeface="Aptos" pitchFamily="34" charset="0"/>
                <a:ea typeface="Aptos" pitchFamily="34" charset="-122"/>
                <a:cs typeface="Aptos" pitchFamily="34" charset="-120"/>
              </a:rPr>
              <a:t>member_id</a:t>
            </a:r>
            <a:r>
              <a:rPr lang="en-US" sz="950" dirty="0">
                <a:solidFill>
                  <a:srgbClr val="545B70"/>
                </a:solidFill>
                <a:latin typeface="Aptos" pitchFamily="34" charset="0"/>
                <a:ea typeface="Aptos" pitchFamily="34" charset="-122"/>
                <a:cs typeface="Aptos" pitchFamily="34" charset="-120"/>
              </a:rPr>
              <a:t> - </a:t>
            </a:r>
            <a:r>
              <a:rPr lang="en-US" sz="950" dirty="0">
                <a:latin typeface="Aptos" pitchFamily="34" charset="0"/>
                <a:ea typeface="Aptos" pitchFamily="34" charset="-122"/>
                <a:cs typeface="Aptos" pitchFamily="34" charset="-120"/>
              </a:rPr>
              <a:t>unique member identifier</a:t>
            </a:r>
            <a:endParaRPr lang="en-US" sz="950" dirty="0"/>
          </a:p>
        </p:txBody>
      </p:sp>
      <p:sp>
        <p:nvSpPr>
          <p:cNvPr id="54" name="Text 45">
            <a:extLst>
              <a:ext uri="{FF2B5EF4-FFF2-40B4-BE49-F238E27FC236}">
                <a16:creationId xmlns:a16="http://schemas.microsoft.com/office/drawing/2014/main" id="{D55389F1-5995-74DA-7232-AA3381835DC7}"/>
              </a:ext>
            </a:extLst>
          </p:cNvPr>
          <p:cNvSpPr/>
          <p:nvPr/>
        </p:nvSpPr>
        <p:spPr>
          <a:xfrm>
            <a:off x="1399032" y="4625558"/>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registration_date</a:t>
            </a:r>
            <a:r>
              <a:rPr lang="en-US" sz="950" dirty="0">
                <a:latin typeface="Aptos" pitchFamily="34" charset="0"/>
                <a:ea typeface="Aptos" pitchFamily="34" charset="-122"/>
                <a:cs typeface="Aptos" pitchFamily="34" charset="-120"/>
              </a:rPr>
              <a:t> - membership registration date</a:t>
            </a:r>
            <a:endParaRPr lang="en-US" sz="950" dirty="0"/>
          </a:p>
        </p:txBody>
      </p:sp>
      <p:sp>
        <p:nvSpPr>
          <p:cNvPr id="55" name="Text 46">
            <a:extLst>
              <a:ext uri="{FF2B5EF4-FFF2-40B4-BE49-F238E27FC236}">
                <a16:creationId xmlns:a16="http://schemas.microsoft.com/office/drawing/2014/main" id="{496FFF99-F962-B40A-A078-CAAE559B5271}"/>
              </a:ext>
            </a:extLst>
          </p:cNvPr>
          <p:cNvSpPr/>
          <p:nvPr/>
        </p:nvSpPr>
        <p:spPr>
          <a:xfrm>
            <a:off x="1399032" y="4797987"/>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home_city</a:t>
            </a:r>
            <a:r>
              <a:rPr lang="en-US" sz="950" dirty="0">
                <a:latin typeface="Aptos" pitchFamily="34" charset="0"/>
                <a:ea typeface="Aptos" pitchFamily="34" charset="-122"/>
                <a:cs typeface="Aptos" pitchFamily="34" charset="-120"/>
              </a:rPr>
              <a:t> - member home city</a:t>
            </a:r>
            <a:endParaRPr lang="en-US" sz="950" dirty="0"/>
          </a:p>
        </p:txBody>
      </p:sp>
      <p:sp>
        <p:nvSpPr>
          <p:cNvPr id="56" name="Text 47">
            <a:extLst>
              <a:ext uri="{FF2B5EF4-FFF2-40B4-BE49-F238E27FC236}">
                <a16:creationId xmlns:a16="http://schemas.microsoft.com/office/drawing/2014/main" id="{D4233208-8E0D-02BC-8830-9F6CD0867A5B}"/>
              </a:ext>
            </a:extLst>
          </p:cNvPr>
          <p:cNvSpPr/>
          <p:nvPr/>
        </p:nvSpPr>
        <p:spPr>
          <a:xfrm>
            <a:off x="1399032" y="4970417"/>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membership_tier</a:t>
            </a:r>
            <a:r>
              <a:rPr lang="en-US" sz="950" dirty="0">
                <a:latin typeface="Aptos" pitchFamily="34" charset="0"/>
                <a:ea typeface="Aptos" pitchFamily="34" charset="-122"/>
                <a:cs typeface="Aptos" pitchFamily="34" charset="-120"/>
              </a:rPr>
              <a:t> - membership tier</a:t>
            </a:r>
            <a:endParaRPr lang="en-US" sz="950" dirty="0"/>
          </a:p>
        </p:txBody>
      </p:sp>
      <p:sp>
        <p:nvSpPr>
          <p:cNvPr id="57" name="Text 48">
            <a:extLst>
              <a:ext uri="{FF2B5EF4-FFF2-40B4-BE49-F238E27FC236}">
                <a16:creationId xmlns:a16="http://schemas.microsoft.com/office/drawing/2014/main" id="{886AB0DD-D1CF-92AD-9AE8-B476C5C88C29}"/>
              </a:ext>
            </a:extLst>
          </p:cNvPr>
          <p:cNvSpPr/>
          <p:nvPr/>
        </p:nvSpPr>
        <p:spPr>
          <a:xfrm>
            <a:off x="1399032" y="5142847"/>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acquisition_channel</a:t>
            </a:r>
            <a:r>
              <a:rPr lang="en-US" sz="950" dirty="0">
                <a:latin typeface="Aptos" pitchFamily="34" charset="0"/>
                <a:ea typeface="Aptos" pitchFamily="34" charset="-122"/>
                <a:cs typeface="Aptos" pitchFamily="34" charset="-120"/>
              </a:rPr>
              <a:t> - member acquisition source</a:t>
            </a:r>
            <a:endParaRPr lang="en-US" sz="950" dirty="0"/>
          </a:p>
        </p:txBody>
      </p:sp>
      <p:sp>
        <p:nvSpPr>
          <p:cNvPr id="58" name="Text 49">
            <a:extLst>
              <a:ext uri="{FF2B5EF4-FFF2-40B4-BE49-F238E27FC236}">
                <a16:creationId xmlns:a16="http://schemas.microsoft.com/office/drawing/2014/main" id="{48CD92D9-7DDF-96E9-111A-A71BC2983A32}"/>
              </a:ext>
            </a:extLst>
          </p:cNvPr>
          <p:cNvSpPr/>
          <p:nvPr/>
        </p:nvSpPr>
        <p:spPr>
          <a:xfrm>
            <a:off x="1399032" y="5315277"/>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points_balance</a:t>
            </a:r>
            <a:r>
              <a:rPr lang="en-US" sz="950" dirty="0">
                <a:latin typeface="Aptos" pitchFamily="34" charset="0"/>
                <a:ea typeface="Aptos" pitchFamily="34" charset="-122"/>
                <a:cs typeface="Aptos" pitchFamily="34" charset="-120"/>
              </a:rPr>
              <a:t> - current loyalty point balance</a:t>
            </a:r>
            <a:endParaRPr lang="en-US" sz="950" dirty="0"/>
          </a:p>
        </p:txBody>
      </p:sp>
      <p:sp>
        <p:nvSpPr>
          <p:cNvPr id="59" name="Text 50">
            <a:extLst>
              <a:ext uri="{FF2B5EF4-FFF2-40B4-BE49-F238E27FC236}">
                <a16:creationId xmlns:a16="http://schemas.microsoft.com/office/drawing/2014/main" id="{C51EDD31-253A-A91B-F657-E6409B97F0CB}"/>
              </a:ext>
            </a:extLst>
          </p:cNvPr>
          <p:cNvSpPr/>
          <p:nvPr/>
        </p:nvSpPr>
        <p:spPr>
          <a:xfrm>
            <a:off x="1399032" y="5487706"/>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last_active_date</a:t>
            </a:r>
            <a:r>
              <a:rPr lang="en-US" sz="950" dirty="0">
                <a:latin typeface="Aptos" pitchFamily="34" charset="0"/>
                <a:ea typeface="Aptos" pitchFamily="34" charset="-122"/>
                <a:cs typeface="Aptos" pitchFamily="34" charset="-120"/>
              </a:rPr>
              <a:t> - latest recorded activity date</a:t>
            </a:r>
            <a:endParaRPr lang="en-US" sz="950" dirty="0"/>
          </a:p>
        </p:txBody>
      </p:sp>
      <p:sp>
        <p:nvSpPr>
          <p:cNvPr id="60" name="Shape 51">
            <a:extLst>
              <a:ext uri="{FF2B5EF4-FFF2-40B4-BE49-F238E27FC236}">
                <a16:creationId xmlns:a16="http://schemas.microsoft.com/office/drawing/2014/main" id="{04F13F68-E974-6B70-0722-9950E00F445B}"/>
              </a:ext>
            </a:extLst>
          </p:cNvPr>
          <p:cNvSpPr/>
          <p:nvPr/>
        </p:nvSpPr>
        <p:spPr>
          <a:xfrm>
            <a:off x="6217920" y="3703320"/>
            <a:ext cx="4709160" cy="2103120"/>
          </a:xfrm>
          <a:prstGeom prst="roundRect">
            <a:avLst>
              <a:gd name="adj" fmla="val 2609"/>
            </a:avLst>
          </a:prstGeom>
          <a:solidFill>
            <a:srgbClr val="FFFFFF"/>
          </a:solidFill>
          <a:ln w="13970">
            <a:solidFill>
              <a:srgbClr val="D9DCE3"/>
            </a:solidFill>
            <a:prstDash val="solid"/>
          </a:ln>
          <a:effectLst>
            <a:outerShdw blurRad="15240" dist="50800" dir="2700000" algn="bl" rotWithShape="0">
              <a:srgbClr val="C9CDD5">
                <a:alpha val="16000"/>
              </a:srgbClr>
            </a:outerShdw>
          </a:effectLst>
        </p:spPr>
        <p:txBody>
          <a:bodyPr/>
          <a:lstStyle/>
          <a:p>
            <a:endParaRPr lang="en-US"/>
          </a:p>
        </p:txBody>
      </p:sp>
      <p:sp>
        <p:nvSpPr>
          <p:cNvPr id="61" name="Shape 52">
            <a:extLst>
              <a:ext uri="{FF2B5EF4-FFF2-40B4-BE49-F238E27FC236}">
                <a16:creationId xmlns:a16="http://schemas.microsoft.com/office/drawing/2014/main" id="{802F51FD-B7D9-9D7D-A3F5-DD0509C7545B}"/>
              </a:ext>
            </a:extLst>
          </p:cNvPr>
          <p:cNvSpPr/>
          <p:nvPr/>
        </p:nvSpPr>
        <p:spPr>
          <a:xfrm>
            <a:off x="6217920" y="3703320"/>
            <a:ext cx="4709160" cy="384048"/>
          </a:xfrm>
          <a:prstGeom prst="roundRect">
            <a:avLst>
              <a:gd name="adj" fmla="val 14286"/>
            </a:avLst>
          </a:prstGeom>
          <a:solidFill>
            <a:srgbClr val="D71920"/>
          </a:solidFill>
          <a:ln w="12700">
            <a:solidFill>
              <a:srgbClr val="D71920"/>
            </a:solidFill>
            <a:prstDash val="solid"/>
          </a:ln>
        </p:spPr>
        <p:txBody>
          <a:bodyPr/>
          <a:lstStyle/>
          <a:p>
            <a:endParaRPr lang="en-US"/>
          </a:p>
        </p:txBody>
      </p:sp>
      <p:sp>
        <p:nvSpPr>
          <p:cNvPr id="62" name="Shape 53">
            <a:extLst>
              <a:ext uri="{FF2B5EF4-FFF2-40B4-BE49-F238E27FC236}">
                <a16:creationId xmlns:a16="http://schemas.microsoft.com/office/drawing/2014/main" id="{121DFB6E-DB87-148C-2661-1A0B16371AA9}"/>
              </a:ext>
            </a:extLst>
          </p:cNvPr>
          <p:cNvSpPr/>
          <p:nvPr/>
        </p:nvSpPr>
        <p:spPr>
          <a:xfrm>
            <a:off x="6217920" y="3959352"/>
            <a:ext cx="4709160" cy="128016"/>
          </a:xfrm>
          <a:prstGeom prst="rect">
            <a:avLst/>
          </a:prstGeom>
          <a:solidFill>
            <a:srgbClr val="D71920"/>
          </a:solidFill>
          <a:ln w="12700">
            <a:solidFill>
              <a:srgbClr val="D71920"/>
            </a:solidFill>
            <a:prstDash val="solid"/>
          </a:ln>
        </p:spPr>
        <p:txBody>
          <a:bodyPr/>
          <a:lstStyle/>
          <a:p>
            <a:endParaRPr lang="en-US"/>
          </a:p>
        </p:txBody>
      </p:sp>
      <p:sp>
        <p:nvSpPr>
          <p:cNvPr id="63" name="Text 54">
            <a:extLst>
              <a:ext uri="{FF2B5EF4-FFF2-40B4-BE49-F238E27FC236}">
                <a16:creationId xmlns:a16="http://schemas.microsoft.com/office/drawing/2014/main" id="{D64BB1F9-425F-25A6-E87A-A9C1BF06643C}"/>
              </a:ext>
            </a:extLst>
          </p:cNvPr>
          <p:cNvSpPr/>
          <p:nvPr/>
        </p:nvSpPr>
        <p:spPr>
          <a:xfrm>
            <a:off x="6364224" y="3785616"/>
            <a:ext cx="4416552" cy="182880"/>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ALFA_COMPLAINT_TICKETS</a:t>
            </a:r>
            <a:endParaRPr lang="en-US" sz="1300" dirty="0"/>
          </a:p>
        </p:txBody>
      </p:sp>
      <p:sp>
        <p:nvSpPr>
          <p:cNvPr id="64" name="Text 55">
            <a:extLst>
              <a:ext uri="{FF2B5EF4-FFF2-40B4-BE49-F238E27FC236}">
                <a16:creationId xmlns:a16="http://schemas.microsoft.com/office/drawing/2014/main" id="{DD1C0467-1D52-DFC0-23BB-ACA33354ABFE}"/>
              </a:ext>
            </a:extLst>
          </p:cNvPr>
          <p:cNvSpPr/>
          <p:nvPr/>
        </p:nvSpPr>
        <p:spPr>
          <a:xfrm>
            <a:off x="6364224" y="4178808"/>
            <a:ext cx="4416552" cy="201168"/>
          </a:xfrm>
          <a:prstGeom prst="rect">
            <a:avLst/>
          </a:prstGeom>
          <a:noFill/>
          <a:ln/>
        </p:spPr>
        <p:txBody>
          <a:bodyPr wrap="square" lIns="0" tIns="0" rIns="0" bIns="0" rtlCol="0" anchor="ctr"/>
          <a:lstStyle/>
          <a:p>
            <a:pPr marL="0" indent="0">
              <a:buNone/>
            </a:pPr>
            <a:r>
              <a:rPr lang="en-US" sz="1040" b="1" dirty="0">
                <a:solidFill>
                  <a:srgbClr val="1F233A"/>
                </a:solidFill>
                <a:latin typeface="Aptos" pitchFamily="34" charset="0"/>
                <a:ea typeface="Aptos" pitchFamily="34" charset="-122"/>
                <a:cs typeface="Aptos" pitchFamily="34" charset="-120"/>
              </a:rPr>
              <a:t>Customer complaint table  •  10,759 tickets  •  9 columns</a:t>
            </a:r>
            <a:endParaRPr lang="en-US" sz="1040" dirty="0"/>
          </a:p>
        </p:txBody>
      </p:sp>
      <p:sp>
        <p:nvSpPr>
          <p:cNvPr id="65" name="Text 56">
            <a:extLst>
              <a:ext uri="{FF2B5EF4-FFF2-40B4-BE49-F238E27FC236}">
                <a16:creationId xmlns:a16="http://schemas.microsoft.com/office/drawing/2014/main" id="{781E62E5-D7AC-AD22-3264-C700B2E5EF1A}"/>
              </a:ext>
            </a:extLst>
          </p:cNvPr>
          <p:cNvSpPr/>
          <p:nvPr/>
        </p:nvSpPr>
        <p:spPr>
          <a:xfrm>
            <a:off x="6382512" y="4453128"/>
            <a:ext cx="4379976" cy="155187"/>
          </a:xfrm>
          <a:prstGeom prst="rect">
            <a:avLst/>
          </a:prstGeom>
          <a:noFill/>
          <a:ln/>
        </p:spPr>
        <p:txBody>
          <a:bodyPr wrap="square" lIns="0" tIns="0" rIns="0" bIns="0" rtlCol="0" anchor="ctr"/>
          <a:lstStyle/>
          <a:p>
            <a:pPr marL="0" indent="0">
              <a:buNone/>
            </a:pPr>
            <a:r>
              <a:rPr lang="en-US" sz="950" b="1" dirty="0" err="1">
                <a:solidFill>
                  <a:srgbClr val="1F233A"/>
                </a:solidFill>
                <a:latin typeface="Aptos" pitchFamily="34" charset="0"/>
                <a:ea typeface="Aptos" pitchFamily="34" charset="-122"/>
                <a:cs typeface="Aptos" pitchFamily="34" charset="-120"/>
              </a:rPr>
              <a:t>ticket_id</a:t>
            </a:r>
            <a:r>
              <a:rPr lang="en-US" sz="950" dirty="0">
                <a:solidFill>
                  <a:srgbClr val="545B70"/>
                </a:solidFill>
                <a:latin typeface="Aptos" pitchFamily="34" charset="0"/>
                <a:ea typeface="Aptos" pitchFamily="34" charset="-122"/>
                <a:cs typeface="Aptos" pitchFamily="34" charset="-120"/>
              </a:rPr>
              <a:t> - </a:t>
            </a:r>
            <a:r>
              <a:rPr lang="en-US" sz="950" dirty="0">
                <a:latin typeface="Aptos" pitchFamily="34" charset="0"/>
                <a:ea typeface="Aptos" pitchFamily="34" charset="-122"/>
                <a:cs typeface="Aptos" pitchFamily="34" charset="-120"/>
              </a:rPr>
              <a:t>unique complaint ticket ID</a:t>
            </a:r>
            <a:endParaRPr lang="en-US" sz="950" dirty="0"/>
          </a:p>
        </p:txBody>
      </p:sp>
      <p:sp>
        <p:nvSpPr>
          <p:cNvPr id="66" name="Text 57">
            <a:extLst>
              <a:ext uri="{FF2B5EF4-FFF2-40B4-BE49-F238E27FC236}">
                <a16:creationId xmlns:a16="http://schemas.microsoft.com/office/drawing/2014/main" id="{3767E127-0C43-ADAE-D167-9537232A5323}"/>
              </a:ext>
            </a:extLst>
          </p:cNvPr>
          <p:cNvSpPr/>
          <p:nvPr/>
        </p:nvSpPr>
        <p:spPr>
          <a:xfrm>
            <a:off x="6382512" y="4625558"/>
            <a:ext cx="4379976" cy="155187"/>
          </a:xfrm>
          <a:prstGeom prst="rect">
            <a:avLst/>
          </a:prstGeom>
          <a:noFill/>
          <a:ln/>
        </p:spPr>
        <p:txBody>
          <a:bodyPr wrap="square" lIns="0" tIns="0" rIns="0" bIns="0" rtlCol="0" anchor="ctr"/>
          <a:lstStyle/>
          <a:p>
            <a:pPr marL="0" indent="0">
              <a:buNone/>
            </a:pPr>
            <a:r>
              <a:rPr lang="en-US" sz="950" b="1" dirty="0" err="1">
                <a:solidFill>
                  <a:srgbClr val="D71920"/>
                </a:solidFill>
                <a:latin typeface="Aptos" pitchFamily="34" charset="0"/>
                <a:ea typeface="Aptos" pitchFamily="34" charset="-122"/>
                <a:cs typeface="Aptos" pitchFamily="34" charset="-120"/>
              </a:rPr>
              <a:t>receipt_id</a:t>
            </a:r>
            <a:r>
              <a:rPr lang="en-US" sz="950" dirty="0">
                <a:solidFill>
                  <a:srgbClr val="545B70"/>
                </a:solidFill>
                <a:latin typeface="Aptos" pitchFamily="34" charset="0"/>
                <a:ea typeface="Aptos" pitchFamily="34" charset="-122"/>
                <a:cs typeface="Aptos" pitchFamily="34" charset="-120"/>
              </a:rPr>
              <a:t> - </a:t>
            </a:r>
            <a:r>
              <a:rPr lang="en-US" sz="950" dirty="0">
                <a:latin typeface="Aptos" pitchFamily="34" charset="0"/>
                <a:ea typeface="Aptos" pitchFamily="34" charset="-122"/>
                <a:cs typeface="Aptos" pitchFamily="34" charset="-120"/>
              </a:rPr>
              <a:t>linked transaction receipt</a:t>
            </a:r>
            <a:endParaRPr lang="en-US" sz="950" dirty="0"/>
          </a:p>
        </p:txBody>
      </p:sp>
      <p:sp>
        <p:nvSpPr>
          <p:cNvPr id="67" name="Text 58">
            <a:extLst>
              <a:ext uri="{FF2B5EF4-FFF2-40B4-BE49-F238E27FC236}">
                <a16:creationId xmlns:a16="http://schemas.microsoft.com/office/drawing/2014/main" id="{F956C509-E874-0545-6868-DB72A9A39120}"/>
              </a:ext>
            </a:extLst>
          </p:cNvPr>
          <p:cNvSpPr/>
          <p:nvPr/>
        </p:nvSpPr>
        <p:spPr>
          <a:xfrm>
            <a:off x="6382512" y="4797987"/>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complaint_category</a:t>
            </a:r>
            <a:r>
              <a:rPr lang="en-US" sz="950" dirty="0">
                <a:latin typeface="Aptos" pitchFamily="34" charset="0"/>
                <a:ea typeface="Aptos" pitchFamily="34" charset="-122"/>
                <a:cs typeface="Aptos" pitchFamily="34" charset="-120"/>
              </a:rPr>
              <a:t> - complaint category</a:t>
            </a:r>
            <a:endParaRPr lang="en-US" sz="950" dirty="0"/>
          </a:p>
        </p:txBody>
      </p:sp>
      <p:sp>
        <p:nvSpPr>
          <p:cNvPr id="68" name="Text 59">
            <a:extLst>
              <a:ext uri="{FF2B5EF4-FFF2-40B4-BE49-F238E27FC236}">
                <a16:creationId xmlns:a16="http://schemas.microsoft.com/office/drawing/2014/main" id="{0A585BDB-3341-1391-B959-E122E50EF115}"/>
              </a:ext>
            </a:extLst>
          </p:cNvPr>
          <p:cNvSpPr/>
          <p:nvPr/>
        </p:nvSpPr>
        <p:spPr>
          <a:xfrm>
            <a:off x="6382512" y="4970417"/>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ticket_date</a:t>
            </a:r>
            <a:r>
              <a:rPr lang="en-US" sz="950" dirty="0">
                <a:latin typeface="Aptos" pitchFamily="34" charset="0"/>
                <a:ea typeface="Aptos" pitchFamily="34" charset="-122"/>
                <a:cs typeface="Aptos" pitchFamily="34" charset="-120"/>
              </a:rPr>
              <a:t> - complaint date</a:t>
            </a:r>
            <a:endParaRPr lang="en-US" sz="950" dirty="0"/>
          </a:p>
        </p:txBody>
      </p:sp>
      <p:sp>
        <p:nvSpPr>
          <p:cNvPr id="69" name="Text 60">
            <a:extLst>
              <a:ext uri="{FF2B5EF4-FFF2-40B4-BE49-F238E27FC236}">
                <a16:creationId xmlns:a16="http://schemas.microsoft.com/office/drawing/2014/main" id="{5BEE3B21-DA78-2A40-6979-81BC3B888196}"/>
              </a:ext>
            </a:extLst>
          </p:cNvPr>
          <p:cNvSpPr/>
          <p:nvPr/>
        </p:nvSpPr>
        <p:spPr>
          <a:xfrm>
            <a:off x="6382512" y="5142847"/>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resolution_status</a:t>
            </a:r>
            <a:r>
              <a:rPr lang="en-US" sz="950" dirty="0">
                <a:latin typeface="Aptos" pitchFamily="34" charset="0"/>
                <a:ea typeface="Aptos" pitchFamily="34" charset="-122"/>
                <a:cs typeface="Aptos" pitchFamily="34" charset="-120"/>
              </a:rPr>
              <a:t> - resolution status</a:t>
            </a:r>
            <a:endParaRPr lang="en-US" sz="950" dirty="0"/>
          </a:p>
        </p:txBody>
      </p:sp>
      <p:sp>
        <p:nvSpPr>
          <p:cNvPr id="70" name="Text 61">
            <a:extLst>
              <a:ext uri="{FF2B5EF4-FFF2-40B4-BE49-F238E27FC236}">
                <a16:creationId xmlns:a16="http://schemas.microsoft.com/office/drawing/2014/main" id="{9A516152-7FFF-0B24-8F35-B64213064F0A}"/>
              </a:ext>
            </a:extLst>
          </p:cNvPr>
          <p:cNvSpPr/>
          <p:nvPr/>
        </p:nvSpPr>
        <p:spPr>
          <a:xfrm>
            <a:off x="6382512" y="5315277"/>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csat_score</a:t>
            </a:r>
            <a:r>
              <a:rPr lang="en-US" sz="950" dirty="0">
                <a:latin typeface="Aptos" pitchFamily="34" charset="0"/>
                <a:ea typeface="Aptos" pitchFamily="34" charset="-122"/>
                <a:cs typeface="Aptos" pitchFamily="34" charset="-120"/>
              </a:rPr>
              <a:t> - customer satisfaction score</a:t>
            </a:r>
            <a:endParaRPr lang="en-US" sz="950" dirty="0"/>
          </a:p>
        </p:txBody>
      </p:sp>
      <p:sp>
        <p:nvSpPr>
          <p:cNvPr id="71" name="Text 62">
            <a:extLst>
              <a:ext uri="{FF2B5EF4-FFF2-40B4-BE49-F238E27FC236}">
                <a16:creationId xmlns:a16="http://schemas.microsoft.com/office/drawing/2014/main" id="{091BF3B9-D6EB-C6C4-3729-9707EB203BC7}"/>
              </a:ext>
            </a:extLst>
          </p:cNvPr>
          <p:cNvSpPr/>
          <p:nvPr/>
        </p:nvSpPr>
        <p:spPr>
          <a:xfrm>
            <a:off x="6382512" y="5487706"/>
            <a:ext cx="4379976" cy="155187"/>
          </a:xfrm>
          <a:prstGeom prst="rect">
            <a:avLst/>
          </a:prstGeom>
          <a:noFill/>
          <a:ln/>
        </p:spPr>
        <p:txBody>
          <a:bodyPr wrap="square" lIns="0" tIns="0" rIns="0" bIns="0" rtlCol="0" anchor="ctr"/>
          <a:lstStyle/>
          <a:p>
            <a:pPr marL="0" indent="0">
              <a:buNone/>
            </a:pPr>
            <a:r>
              <a:rPr lang="en-US" sz="950" b="1" dirty="0" err="1">
                <a:latin typeface="Aptos" pitchFamily="34" charset="0"/>
                <a:ea typeface="Aptos" pitchFamily="34" charset="-122"/>
                <a:cs typeface="Aptos" pitchFamily="34" charset="-120"/>
              </a:rPr>
              <a:t>disputed_amount</a:t>
            </a:r>
            <a:r>
              <a:rPr lang="en-US" sz="950" dirty="0">
                <a:latin typeface="Aptos" pitchFamily="34" charset="0"/>
                <a:ea typeface="Aptos" pitchFamily="34" charset="-122"/>
                <a:cs typeface="Aptos" pitchFamily="34" charset="-120"/>
              </a:rPr>
              <a:t> - amount disputed by customer</a:t>
            </a:r>
            <a:endParaRPr lang="en-US" sz="950" dirty="0"/>
          </a:p>
        </p:txBody>
      </p:sp>
      <p:sp>
        <p:nvSpPr>
          <p:cNvPr id="74" name="TextBox 73">
            <a:extLst>
              <a:ext uri="{FF2B5EF4-FFF2-40B4-BE49-F238E27FC236}">
                <a16:creationId xmlns:a16="http://schemas.microsoft.com/office/drawing/2014/main" id="{80978F85-9827-42FF-3C2D-A7ED9D147830}"/>
              </a:ext>
            </a:extLst>
          </p:cNvPr>
          <p:cNvSpPr txBox="1"/>
          <p:nvPr/>
        </p:nvSpPr>
        <p:spPr>
          <a:xfrm>
            <a:off x="502920" y="327398"/>
            <a:ext cx="5795882" cy="430887"/>
          </a:xfrm>
          <a:prstGeom prst="rect">
            <a:avLst/>
          </a:prstGeom>
          <a:noFill/>
        </p:spPr>
        <p:txBody>
          <a:bodyPr wrap="none" lIns="0" tIns="0" rIns="0" bIns="0">
            <a:spAutoFit/>
          </a:bodyPr>
          <a:lstStyle/>
          <a:p>
            <a:pPr>
              <a:spcBef>
                <a:spcPts val="0"/>
              </a:spcBef>
              <a:spcAft>
                <a:spcPts val="0"/>
              </a:spcAft>
            </a:pPr>
            <a:r>
              <a:rPr lang="en-ID" sz="2800" b="1" i="0" dirty="0">
                <a:solidFill>
                  <a:srgbClr val="C8181A"/>
                </a:solidFill>
                <a:latin typeface="Arial"/>
              </a:rPr>
              <a:t>Dataset Structure &amp; Key Variables</a:t>
            </a:r>
          </a:p>
        </p:txBody>
      </p:sp>
    </p:spTree>
    <p:extLst>
      <p:ext uri="{BB962C8B-B14F-4D97-AF65-F5344CB8AC3E}">
        <p14:creationId xmlns:p14="http://schemas.microsoft.com/office/powerpoint/2010/main" val="2095146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28CEC-08ED-3C7B-A37F-CE243AEF08A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49AD3A3-220A-DDD1-6EA2-9729C83DE9F9}"/>
              </a:ext>
            </a:extLst>
          </p:cNvPr>
          <p:cNvSpPr/>
          <p:nvPr/>
        </p:nvSpPr>
        <p:spPr>
          <a:xfrm>
            <a:off x="-1" y="0"/>
            <a:ext cx="12192001" cy="6858001"/>
          </a:xfrm>
          <a:prstGeom prst="rect">
            <a:avLst/>
          </a:prstGeom>
          <a:solidFill>
            <a:srgbClr val="E0E3E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DCE23CE-BD56-B2B4-DEF0-86191FAB0672}"/>
              </a:ext>
            </a:extLst>
          </p:cNvPr>
          <p:cNvSpPr txBox="1"/>
          <p:nvPr/>
        </p:nvSpPr>
        <p:spPr>
          <a:xfrm>
            <a:off x="604519" y="566081"/>
            <a:ext cx="999197" cy="220810"/>
          </a:xfrm>
          <a:prstGeom prst="rect">
            <a:avLst/>
          </a:prstGeom>
          <a:noFill/>
        </p:spPr>
        <p:txBody>
          <a:bodyPr wrap="none" lIns="0" tIns="0" rIns="0" bIns="0">
            <a:spAutoFit/>
          </a:bodyPr>
          <a:lstStyle/>
          <a:p>
            <a:pPr>
              <a:spcBef>
                <a:spcPts val="0"/>
              </a:spcBef>
              <a:spcAft>
                <a:spcPts val="0"/>
              </a:spcAft>
            </a:pPr>
            <a:r>
              <a:rPr sz="1071" b="1" i="0" dirty="0">
                <a:solidFill>
                  <a:srgbClr val="C8181A"/>
                </a:solidFill>
                <a:latin typeface="Arial"/>
              </a:rPr>
              <a:t>S E C T I O N</a:t>
            </a:r>
          </a:p>
        </p:txBody>
      </p:sp>
      <p:sp>
        <p:nvSpPr>
          <p:cNvPr id="8" name="TextBox 7">
            <a:extLst>
              <a:ext uri="{FF2B5EF4-FFF2-40B4-BE49-F238E27FC236}">
                <a16:creationId xmlns:a16="http://schemas.microsoft.com/office/drawing/2014/main" id="{3B55CD35-419C-4E60-3084-93A93ADA0A97}"/>
              </a:ext>
            </a:extLst>
          </p:cNvPr>
          <p:cNvSpPr txBox="1"/>
          <p:nvPr/>
        </p:nvSpPr>
        <p:spPr>
          <a:xfrm>
            <a:off x="745284" y="566081"/>
            <a:ext cx="2541080" cy="2646878"/>
          </a:xfrm>
          <a:prstGeom prst="rect">
            <a:avLst/>
          </a:prstGeom>
          <a:noFill/>
        </p:spPr>
        <p:txBody>
          <a:bodyPr wrap="none" rtlCol="0">
            <a:spAutoFit/>
          </a:bodyPr>
          <a:lstStyle/>
          <a:p>
            <a:r>
              <a:rPr lang="en-US" sz="16600" b="1" dirty="0">
                <a:solidFill>
                  <a:srgbClr val="2B5CAA"/>
                </a:solidFill>
                <a:latin typeface="Impact" panose="020B0806030902050204" pitchFamily="34" charset="0"/>
                <a:ea typeface="STHupo" panose="02010800040101010101" pitchFamily="2" charset="-122"/>
              </a:rPr>
              <a:t>03</a:t>
            </a:r>
          </a:p>
        </p:txBody>
      </p:sp>
      <p:cxnSp>
        <p:nvCxnSpPr>
          <p:cNvPr id="9" name="Straight Connector 8">
            <a:extLst>
              <a:ext uri="{FF2B5EF4-FFF2-40B4-BE49-F238E27FC236}">
                <a16:creationId xmlns:a16="http://schemas.microsoft.com/office/drawing/2014/main" id="{4597BB66-9120-D970-27D7-B47316903C28}"/>
              </a:ext>
            </a:extLst>
          </p:cNvPr>
          <p:cNvCxnSpPr>
            <a:cxnSpLocks/>
          </p:cNvCxnSpPr>
          <p:nvPr/>
        </p:nvCxnSpPr>
        <p:spPr>
          <a:xfrm>
            <a:off x="604519" y="4823418"/>
            <a:ext cx="6091703" cy="0"/>
          </a:xfrm>
          <a:prstGeom prst="line">
            <a:avLst/>
          </a:prstGeom>
          <a:ln w="41275">
            <a:solidFill>
              <a:srgbClr val="FFFF00"/>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D279A518-CC30-9011-A65B-1C0A3D427555}"/>
              </a:ext>
            </a:extLst>
          </p:cNvPr>
          <p:cNvSpPr txBox="1"/>
          <p:nvPr/>
        </p:nvSpPr>
        <p:spPr>
          <a:xfrm>
            <a:off x="604518" y="2897965"/>
            <a:ext cx="5725944" cy="1846659"/>
          </a:xfrm>
          <a:prstGeom prst="rect">
            <a:avLst/>
          </a:prstGeom>
          <a:noFill/>
        </p:spPr>
        <p:txBody>
          <a:bodyPr wrap="square" lIns="0" tIns="0" rIns="0" bIns="0">
            <a:spAutoFit/>
          </a:bodyPr>
          <a:lstStyle/>
          <a:p>
            <a:pPr>
              <a:spcBef>
                <a:spcPts val="0"/>
              </a:spcBef>
              <a:spcAft>
                <a:spcPts val="0"/>
              </a:spcAft>
            </a:pPr>
            <a:r>
              <a:rPr lang="en-ID" sz="4000" b="1" i="0" dirty="0">
                <a:solidFill>
                  <a:srgbClr val="ED1B24"/>
                </a:solidFill>
                <a:effectLst>
                  <a:outerShdw blurRad="50800" dist="38100" dir="10800000" algn="r" rotWithShape="0">
                    <a:prstClr val="black">
                      <a:alpha val="40000"/>
                    </a:prstClr>
                  </a:outerShdw>
                </a:effectLst>
                <a:latin typeface="Arial"/>
              </a:rPr>
              <a:t>JSM Promotion &amp; </a:t>
            </a:r>
          </a:p>
          <a:p>
            <a:pPr>
              <a:spcBef>
                <a:spcPts val="0"/>
              </a:spcBef>
              <a:spcAft>
                <a:spcPts val="0"/>
              </a:spcAft>
            </a:pPr>
            <a:r>
              <a:rPr lang="en-ID" sz="4000" b="1" i="0" dirty="0">
                <a:solidFill>
                  <a:srgbClr val="ED1B24"/>
                </a:solidFill>
                <a:effectLst>
                  <a:outerShdw blurRad="50800" dist="38100" dir="10800000" algn="r" rotWithShape="0">
                    <a:prstClr val="black">
                      <a:alpha val="40000"/>
                    </a:prstClr>
                  </a:outerShdw>
                </a:effectLst>
                <a:latin typeface="Arial"/>
              </a:rPr>
              <a:t>Purchase </a:t>
            </a:r>
            <a:r>
              <a:rPr lang="en-ID" sz="4000" b="1" i="0" dirty="0" err="1">
                <a:solidFill>
                  <a:srgbClr val="ED1B24"/>
                </a:solidFill>
                <a:effectLst>
                  <a:outerShdw blurRad="50800" dist="38100" dir="10800000" algn="r" rotWithShape="0">
                    <a:prstClr val="black">
                      <a:alpha val="40000"/>
                    </a:prstClr>
                  </a:outerShdw>
                </a:effectLst>
                <a:latin typeface="Arial"/>
              </a:rPr>
              <a:t>Behavior</a:t>
            </a:r>
            <a:endParaRPr lang="en-ID" sz="4000" b="1" dirty="0">
              <a:solidFill>
                <a:srgbClr val="ED1B24"/>
              </a:solidFill>
              <a:effectLst>
                <a:outerShdw blurRad="50800" dist="38100" dir="10800000" algn="r" rotWithShape="0">
                  <a:prstClr val="black">
                    <a:alpha val="40000"/>
                  </a:prstClr>
                </a:outerShdw>
              </a:effectLst>
              <a:latin typeface="Arial"/>
            </a:endParaRPr>
          </a:p>
          <a:p>
            <a:pPr>
              <a:spcBef>
                <a:spcPts val="0"/>
              </a:spcBef>
              <a:spcAft>
                <a:spcPts val="0"/>
              </a:spcAft>
            </a:pPr>
            <a:r>
              <a:rPr lang="en-ID" sz="4000" b="1" i="0" dirty="0">
                <a:solidFill>
                  <a:srgbClr val="ED1B24"/>
                </a:solidFill>
                <a:effectLst>
                  <a:outerShdw blurRad="50800" dist="38100" dir="10800000" algn="r" rotWithShape="0">
                    <a:prstClr val="black">
                      <a:alpha val="40000"/>
                    </a:prstClr>
                  </a:outerShdw>
                </a:effectLst>
                <a:latin typeface="Arial"/>
              </a:rPr>
              <a:t>Analysis</a:t>
            </a:r>
            <a:endParaRPr sz="4000" b="1" i="0" dirty="0">
              <a:solidFill>
                <a:srgbClr val="ED1B24"/>
              </a:solidFill>
              <a:effectLst>
                <a:outerShdw blurRad="50800" dist="38100" dir="10800000" algn="r" rotWithShape="0">
                  <a:prstClr val="black">
                    <a:alpha val="40000"/>
                  </a:prstClr>
                </a:outerShdw>
              </a:effectLst>
              <a:latin typeface="Arial"/>
            </a:endParaRPr>
          </a:p>
        </p:txBody>
      </p:sp>
      <p:pic>
        <p:nvPicPr>
          <p:cNvPr id="6" name="Picture 5">
            <a:extLst>
              <a:ext uri="{FF2B5EF4-FFF2-40B4-BE49-F238E27FC236}">
                <a16:creationId xmlns:a16="http://schemas.microsoft.com/office/drawing/2014/main" id="{065AC797-7F49-C17C-FB9C-6C7A6D1797BB}"/>
              </a:ext>
            </a:extLst>
          </p:cNvPr>
          <p:cNvPicPr>
            <a:picLocks noChangeAspect="1"/>
          </p:cNvPicPr>
          <p:nvPr/>
        </p:nvPicPr>
        <p:blipFill>
          <a:blip r:embed="rId2"/>
          <a:stretch>
            <a:fillRect/>
          </a:stretch>
        </p:blipFill>
        <p:spPr>
          <a:xfrm>
            <a:off x="7140728" y="0"/>
            <a:ext cx="5051272" cy="6858000"/>
          </a:xfrm>
          <a:prstGeom prst="rect">
            <a:avLst/>
          </a:prstGeom>
        </p:spPr>
      </p:pic>
    </p:spTree>
    <p:extLst>
      <p:ext uri="{BB962C8B-B14F-4D97-AF65-F5344CB8AC3E}">
        <p14:creationId xmlns:p14="http://schemas.microsoft.com/office/powerpoint/2010/main" val="3493151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A3E51-23E0-3CBF-5D3C-ED293F3C798B}"/>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5A455F41-94CB-284F-DF04-05659A7187A5}"/>
              </a:ext>
            </a:extLst>
          </p:cNvPr>
          <p:cNvPicPr>
            <a:picLocks noChangeAspect="1"/>
          </p:cNvPicPr>
          <p:nvPr/>
        </p:nvPicPr>
        <p:blipFill>
          <a:blip r:embed="rId2"/>
          <a:stretch>
            <a:fillRect/>
          </a:stretch>
        </p:blipFill>
        <p:spPr>
          <a:xfrm>
            <a:off x="0" y="-1"/>
            <a:ext cx="12192000" cy="621791"/>
          </a:xfrm>
          <a:prstGeom prst="rect">
            <a:avLst/>
          </a:prstGeom>
        </p:spPr>
      </p:pic>
      <p:sp>
        <p:nvSpPr>
          <p:cNvPr id="2" name="Text 2">
            <a:extLst>
              <a:ext uri="{FF2B5EF4-FFF2-40B4-BE49-F238E27FC236}">
                <a16:creationId xmlns:a16="http://schemas.microsoft.com/office/drawing/2014/main" id="{742D0406-8A16-8C2E-0EC0-A4A40443B367}"/>
              </a:ext>
            </a:extLst>
          </p:cNvPr>
          <p:cNvSpPr/>
          <p:nvPr/>
        </p:nvSpPr>
        <p:spPr>
          <a:xfrm>
            <a:off x="548640" y="1389888"/>
            <a:ext cx="2377440" cy="201168"/>
          </a:xfrm>
          <a:prstGeom prst="rect">
            <a:avLst/>
          </a:prstGeom>
          <a:noFill/>
          <a:ln/>
        </p:spPr>
        <p:txBody>
          <a:bodyPr wrap="square" lIns="0" tIns="0" rIns="0" bIns="0" rtlCol="0" anchor="ctr"/>
          <a:lstStyle/>
          <a:p>
            <a:pPr marL="0" indent="0">
              <a:buNone/>
            </a:pPr>
            <a:r>
              <a:rPr lang="en-US" sz="1100" b="1" kern="0" spc="120" dirty="0">
                <a:solidFill>
                  <a:srgbClr val="D51C1C"/>
                </a:solidFill>
              </a:rPr>
              <a:t>Threshold Pattern</a:t>
            </a:r>
            <a:endParaRPr lang="en-US" sz="1100" dirty="0"/>
          </a:p>
        </p:txBody>
      </p:sp>
      <p:graphicFrame>
        <p:nvGraphicFramePr>
          <p:cNvPr id="3" name="Chart 0">
            <a:extLst>
              <a:ext uri="{FF2B5EF4-FFF2-40B4-BE49-F238E27FC236}">
                <a16:creationId xmlns:a16="http://schemas.microsoft.com/office/drawing/2014/main" id="{9F4678D5-503F-8CEB-803E-9EF334E01686}"/>
              </a:ext>
            </a:extLst>
          </p:cNvPr>
          <p:cNvGraphicFramePr/>
          <p:nvPr>
            <p:extLst>
              <p:ext uri="{D42A27DB-BD31-4B8C-83A1-F6EECF244321}">
                <p14:modId xmlns:p14="http://schemas.microsoft.com/office/powerpoint/2010/main" val="603096992"/>
              </p:ext>
            </p:extLst>
          </p:nvPr>
        </p:nvGraphicFramePr>
        <p:xfrm>
          <a:off x="566928" y="1664208"/>
          <a:ext cx="68122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3">
            <a:extLst>
              <a:ext uri="{FF2B5EF4-FFF2-40B4-BE49-F238E27FC236}">
                <a16:creationId xmlns:a16="http://schemas.microsoft.com/office/drawing/2014/main" id="{5890DFAE-5C3E-714A-8047-0E9DD777D6A4}"/>
              </a:ext>
            </a:extLst>
          </p:cNvPr>
          <p:cNvSpPr/>
          <p:nvPr/>
        </p:nvSpPr>
        <p:spPr>
          <a:xfrm>
            <a:off x="7726680" y="1389888"/>
            <a:ext cx="2926080" cy="201168"/>
          </a:xfrm>
          <a:prstGeom prst="rect">
            <a:avLst/>
          </a:prstGeom>
          <a:noFill/>
          <a:ln/>
        </p:spPr>
        <p:txBody>
          <a:bodyPr wrap="square" lIns="0" tIns="0" rIns="0" bIns="0" rtlCol="0" anchor="ctr"/>
          <a:lstStyle/>
          <a:p>
            <a:pPr marL="0" indent="0">
              <a:buNone/>
            </a:pPr>
            <a:r>
              <a:rPr lang="en-US" sz="1050" b="1" kern="0" spc="120" dirty="0">
                <a:solidFill>
                  <a:srgbClr val="D51C1C"/>
                </a:solidFill>
              </a:rPr>
              <a:t>Analytical </a:t>
            </a:r>
            <a:r>
              <a:rPr lang="en-US" sz="1050" b="1" kern="0" spc="120" dirty="0" err="1">
                <a:solidFill>
                  <a:srgbClr val="D51C1C"/>
                </a:solidFill>
              </a:rPr>
              <a:t>Clasification</a:t>
            </a:r>
            <a:endParaRPr lang="en-US" sz="1050" dirty="0"/>
          </a:p>
        </p:txBody>
      </p:sp>
      <p:sp>
        <p:nvSpPr>
          <p:cNvPr id="10" name="Shape 4">
            <a:extLst>
              <a:ext uri="{FF2B5EF4-FFF2-40B4-BE49-F238E27FC236}">
                <a16:creationId xmlns:a16="http://schemas.microsoft.com/office/drawing/2014/main" id="{367CA52F-A7F6-EAEA-F3E6-FA5300E7F124}"/>
              </a:ext>
            </a:extLst>
          </p:cNvPr>
          <p:cNvSpPr/>
          <p:nvPr/>
        </p:nvSpPr>
        <p:spPr>
          <a:xfrm>
            <a:off x="7726680" y="1700784"/>
            <a:ext cx="3794760" cy="640080"/>
          </a:xfrm>
          <a:prstGeom prst="roundRect">
            <a:avLst/>
          </a:prstGeom>
          <a:solidFill>
            <a:srgbClr val="F3EFE8"/>
          </a:solidFill>
          <a:ln w="15240">
            <a:solidFill>
              <a:srgbClr val="D9D2C7"/>
            </a:solidFill>
            <a:prstDash val="solid"/>
          </a:ln>
        </p:spPr>
        <p:txBody>
          <a:bodyPr/>
          <a:lstStyle/>
          <a:p>
            <a:endParaRPr lang="en-US"/>
          </a:p>
        </p:txBody>
      </p:sp>
      <p:sp>
        <p:nvSpPr>
          <p:cNvPr id="11" name="Text 5">
            <a:extLst>
              <a:ext uri="{FF2B5EF4-FFF2-40B4-BE49-F238E27FC236}">
                <a16:creationId xmlns:a16="http://schemas.microsoft.com/office/drawing/2014/main" id="{5D0D708F-3A6A-8247-CCF2-5CDC95BA36E7}"/>
              </a:ext>
            </a:extLst>
          </p:cNvPr>
          <p:cNvSpPr/>
          <p:nvPr/>
        </p:nvSpPr>
        <p:spPr>
          <a:xfrm>
            <a:off x="7936992" y="1901952"/>
            <a:ext cx="2423160" cy="201168"/>
          </a:xfrm>
          <a:prstGeom prst="rect">
            <a:avLst/>
          </a:prstGeom>
          <a:noFill/>
          <a:ln/>
        </p:spPr>
        <p:txBody>
          <a:bodyPr wrap="square" lIns="0" tIns="0" rIns="0" bIns="0" rtlCol="0" anchor="ctr"/>
          <a:lstStyle/>
          <a:p>
            <a:pPr marL="0" indent="0">
              <a:buNone/>
            </a:pPr>
            <a:r>
              <a:rPr lang="en-US" sz="1600" b="1" dirty="0">
                <a:solidFill>
                  <a:srgbClr val="1F2033"/>
                </a:solidFill>
              </a:rPr>
              <a:t>Regular Purchase</a:t>
            </a:r>
            <a:endParaRPr lang="en-US" sz="1600" dirty="0"/>
          </a:p>
        </p:txBody>
      </p:sp>
      <p:sp>
        <p:nvSpPr>
          <p:cNvPr id="14" name="Text 6">
            <a:extLst>
              <a:ext uri="{FF2B5EF4-FFF2-40B4-BE49-F238E27FC236}">
                <a16:creationId xmlns:a16="http://schemas.microsoft.com/office/drawing/2014/main" id="{25B4B66A-5648-DF3F-D8C5-A948A2732FDF}"/>
              </a:ext>
            </a:extLst>
          </p:cNvPr>
          <p:cNvSpPr/>
          <p:nvPr/>
        </p:nvSpPr>
        <p:spPr>
          <a:xfrm>
            <a:off x="10314432" y="1901952"/>
            <a:ext cx="1005840" cy="201168"/>
          </a:xfrm>
          <a:prstGeom prst="rect">
            <a:avLst/>
          </a:prstGeom>
          <a:noFill/>
          <a:ln/>
        </p:spPr>
        <p:txBody>
          <a:bodyPr wrap="square" lIns="0" tIns="0" rIns="0" bIns="0" rtlCol="0" anchor="ctr"/>
          <a:lstStyle/>
          <a:p>
            <a:pPr marL="0" indent="0" algn="r">
              <a:buNone/>
            </a:pPr>
            <a:r>
              <a:rPr lang="en-US" sz="1600" b="1" dirty="0"/>
              <a:t>qty ≤ 40</a:t>
            </a:r>
            <a:endParaRPr lang="en-US" sz="1600" dirty="0"/>
          </a:p>
        </p:txBody>
      </p:sp>
      <p:sp>
        <p:nvSpPr>
          <p:cNvPr id="16" name="Shape 7">
            <a:extLst>
              <a:ext uri="{FF2B5EF4-FFF2-40B4-BE49-F238E27FC236}">
                <a16:creationId xmlns:a16="http://schemas.microsoft.com/office/drawing/2014/main" id="{0DE80467-D534-BB0F-28C3-1935DBB6BE45}"/>
              </a:ext>
            </a:extLst>
          </p:cNvPr>
          <p:cNvSpPr/>
          <p:nvPr/>
        </p:nvSpPr>
        <p:spPr>
          <a:xfrm>
            <a:off x="7726680" y="2487168"/>
            <a:ext cx="3794760" cy="640080"/>
          </a:xfrm>
          <a:prstGeom prst="roundRect">
            <a:avLst/>
          </a:prstGeom>
          <a:solidFill>
            <a:srgbClr val="F9ECEA"/>
          </a:solidFill>
          <a:ln w="15240">
            <a:solidFill>
              <a:srgbClr val="D51C1C"/>
            </a:solidFill>
            <a:prstDash val="solid"/>
          </a:ln>
        </p:spPr>
        <p:txBody>
          <a:bodyPr/>
          <a:lstStyle/>
          <a:p>
            <a:endParaRPr lang="en-US"/>
          </a:p>
        </p:txBody>
      </p:sp>
      <p:sp>
        <p:nvSpPr>
          <p:cNvPr id="41" name="Text 8">
            <a:extLst>
              <a:ext uri="{FF2B5EF4-FFF2-40B4-BE49-F238E27FC236}">
                <a16:creationId xmlns:a16="http://schemas.microsoft.com/office/drawing/2014/main" id="{D23E10E5-8974-7E09-AEFD-6149A92E7B1C}"/>
              </a:ext>
            </a:extLst>
          </p:cNvPr>
          <p:cNvSpPr/>
          <p:nvPr/>
        </p:nvSpPr>
        <p:spPr>
          <a:xfrm>
            <a:off x="7936992" y="2697480"/>
            <a:ext cx="2423160" cy="201168"/>
          </a:xfrm>
          <a:prstGeom prst="rect">
            <a:avLst/>
          </a:prstGeom>
          <a:noFill/>
          <a:ln/>
        </p:spPr>
        <p:txBody>
          <a:bodyPr wrap="square" lIns="0" tIns="0" rIns="0" bIns="0" rtlCol="0" anchor="ctr"/>
          <a:lstStyle/>
          <a:p>
            <a:pPr marL="0" indent="0">
              <a:buNone/>
            </a:pPr>
            <a:r>
              <a:rPr lang="en-US" sz="1600" b="1" dirty="0">
                <a:solidFill>
                  <a:srgbClr val="1F2033"/>
                </a:solidFill>
              </a:rPr>
              <a:t>High Volume Purchase</a:t>
            </a:r>
            <a:endParaRPr lang="en-US" sz="1600" dirty="0"/>
          </a:p>
        </p:txBody>
      </p:sp>
      <p:sp>
        <p:nvSpPr>
          <p:cNvPr id="46" name="Text 9">
            <a:extLst>
              <a:ext uri="{FF2B5EF4-FFF2-40B4-BE49-F238E27FC236}">
                <a16:creationId xmlns:a16="http://schemas.microsoft.com/office/drawing/2014/main" id="{2913D8CC-F671-CBB2-EFF8-6AA625C22ECB}"/>
              </a:ext>
            </a:extLst>
          </p:cNvPr>
          <p:cNvSpPr/>
          <p:nvPr/>
        </p:nvSpPr>
        <p:spPr>
          <a:xfrm>
            <a:off x="10314432" y="2697480"/>
            <a:ext cx="1005840" cy="201168"/>
          </a:xfrm>
          <a:prstGeom prst="rect">
            <a:avLst/>
          </a:prstGeom>
          <a:noFill/>
          <a:ln/>
        </p:spPr>
        <p:txBody>
          <a:bodyPr wrap="square" lIns="0" tIns="0" rIns="0" bIns="0" rtlCol="0" anchor="ctr"/>
          <a:lstStyle/>
          <a:p>
            <a:pPr marL="0" indent="0" algn="r">
              <a:buNone/>
            </a:pPr>
            <a:r>
              <a:rPr lang="en-US" sz="1600" b="1" dirty="0">
                <a:solidFill>
                  <a:srgbClr val="D51C1C"/>
                </a:solidFill>
              </a:rPr>
              <a:t>qty 41–90</a:t>
            </a:r>
            <a:endParaRPr lang="en-US" sz="1600" dirty="0"/>
          </a:p>
        </p:txBody>
      </p:sp>
      <p:sp>
        <p:nvSpPr>
          <p:cNvPr id="52" name="Shape 10">
            <a:extLst>
              <a:ext uri="{FF2B5EF4-FFF2-40B4-BE49-F238E27FC236}">
                <a16:creationId xmlns:a16="http://schemas.microsoft.com/office/drawing/2014/main" id="{CB7C344B-22BB-A8C0-31B7-783E1BDDE0C3}"/>
              </a:ext>
            </a:extLst>
          </p:cNvPr>
          <p:cNvSpPr/>
          <p:nvPr/>
        </p:nvSpPr>
        <p:spPr>
          <a:xfrm>
            <a:off x="7726680" y="3273552"/>
            <a:ext cx="3794760" cy="640080"/>
          </a:xfrm>
          <a:prstGeom prst="roundRect">
            <a:avLst/>
          </a:prstGeom>
          <a:solidFill>
            <a:srgbClr val="EDEFF5"/>
          </a:solidFill>
          <a:ln w="15240">
            <a:solidFill>
              <a:srgbClr val="1F2033"/>
            </a:solidFill>
            <a:prstDash val="solid"/>
          </a:ln>
        </p:spPr>
        <p:txBody>
          <a:bodyPr/>
          <a:lstStyle/>
          <a:p>
            <a:endParaRPr lang="en-US"/>
          </a:p>
        </p:txBody>
      </p:sp>
      <p:sp>
        <p:nvSpPr>
          <p:cNvPr id="53" name="Text 11">
            <a:extLst>
              <a:ext uri="{FF2B5EF4-FFF2-40B4-BE49-F238E27FC236}">
                <a16:creationId xmlns:a16="http://schemas.microsoft.com/office/drawing/2014/main" id="{44B08CDA-5767-23A1-5682-0657C4A962E5}"/>
              </a:ext>
            </a:extLst>
          </p:cNvPr>
          <p:cNvSpPr/>
          <p:nvPr/>
        </p:nvSpPr>
        <p:spPr>
          <a:xfrm>
            <a:off x="7936992" y="3464304"/>
            <a:ext cx="2423160" cy="201168"/>
          </a:xfrm>
          <a:prstGeom prst="rect">
            <a:avLst/>
          </a:prstGeom>
          <a:noFill/>
          <a:ln/>
        </p:spPr>
        <p:txBody>
          <a:bodyPr wrap="square" lIns="0" tIns="0" rIns="0" bIns="0" rtlCol="0" anchor="ctr"/>
          <a:lstStyle/>
          <a:p>
            <a:pPr marL="0" indent="0">
              <a:buNone/>
            </a:pPr>
            <a:r>
              <a:rPr lang="en-US" sz="1600" b="1" dirty="0">
                <a:solidFill>
                  <a:srgbClr val="1F2033"/>
                </a:solidFill>
              </a:rPr>
              <a:t>Suspected Qty Anomaly</a:t>
            </a:r>
            <a:endParaRPr lang="en-US" sz="1600" dirty="0"/>
          </a:p>
        </p:txBody>
      </p:sp>
      <p:sp>
        <p:nvSpPr>
          <p:cNvPr id="54" name="Text 12">
            <a:extLst>
              <a:ext uri="{FF2B5EF4-FFF2-40B4-BE49-F238E27FC236}">
                <a16:creationId xmlns:a16="http://schemas.microsoft.com/office/drawing/2014/main" id="{0A8A08BD-07BA-7383-B62C-34D3F8F1C2A2}"/>
              </a:ext>
            </a:extLst>
          </p:cNvPr>
          <p:cNvSpPr/>
          <p:nvPr/>
        </p:nvSpPr>
        <p:spPr>
          <a:xfrm>
            <a:off x="10314432" y="3464304"/>
            <a:ext cx="1005840" cy="201168"/>
          </a:xfrm>
          <a:prstGeom prst="rect">
            <a:avLst/>
          </a:prstGeom>
          <a:noFill/>
          <a:ln/>
        </p:spPr>
        <p:txBody>
          <a:bodyPr wrap="square" lIns="0" tIns="0" rIns="0" bIns="0" rtlCol="0" anchor="ctr"/>
          <a:lstStyle/>
          <a:p>
            <a:pPr marL="0" indent="0" algn="r">
              <a:buNone/>
            </a:pPr>
            <a:r>
              <a:rPr lang="en-US" sz="1600" b="1" dirty="0">
                <a:solidFill>
                  <a:srgbClr val="1F2033"/>
                </a:solidFill>
              </a:rPr>
              <a:t>qty &gt; 90</a:t>
            </a:r>
            <a:endParaRPr lang="en-US" sz="1600" dirty="0"/>
          </a:p>
        </p:txBody>
      </p:sp>
      <p:sp>
        <p:nvSpPr>
          <p:cNvPr id="55" name="Shape 13">
            <a:extLst>
              <a:ext uri="{FF2B5EF4-FFF2-40B4-BE49-F238E27FC236}">
                <a16:creationId xmlns:a16="http://schemas.microsoft.com/office/drawing/2014/main" id="{A817E1E5-BD26-A3FD-C224-238F25C288F0}"/>
              </a:ext>
            </a:extLst>
          </p:cNvPr>
          <p:cNvSpPr/>
          <p:nvPr/>
        </p:nvSpPr>
        <p:spPr>
          <a:xfrm>
            <a:off x="7726680" y="4160520"/>
            <a:ext cx="1737360" cy="1115568"/>
          </a:xfrm>
          <a:prstGeom prst="roundRect">
            <a:avLst/>
          </a:prstGeom>
          <a:solidFill>
            <a:srgbClr val="FFFFFF"/>
          </a:solidFill>
          <a:ln w="13970">
            <a:solidFill>
              <a:srgbClr val="D9D2C7"/>
            </a:solidFill>
            <a:prstDash val="solid"/>
          </a:ln>
        </p:spPr>
        <p:txBody>
          <a:bodyPr/>
          <a:lstStyle/>
          <a:p>
            <a:endParaRPr lang="en-US"/>
          </a:p>
        </p:txBody>
      </p:sp>
      <p:sp>
        <p:nvSpPr>
          <p:cNvPr id="56" name="Text 14">
            <a:extLst>
              <a:ext uri="{FF2B5EF4-FFF2-40B4-BE49-F238E27FC236}">
                <a16:creationId xmlns:a16="http://schemas.microsoft.com/office/drawing/2014/main" id="{53B2333A-7638-190A-5EA4-90A06DC22906}"/>
              </a:ext>
            </a:extLst>
          </p:cNvPr>
          <p:cNvSpPr/>
          <p:nvPr/>
        </p:nvSpPr>
        <p:spPr>
          <a:xfrm>
            <a:off x="7854696" y="4270248"/>
            <a:ext cx="1481328" cy="384048"/>
          </a:xfrm>
          <a:prstGeom prst="rect">
            <a:avLst/>
          </a:prstGeom>
          <a:noFill/>
          <a:ln/>
        </p:spPr>
        <p:txBody>
          <a:bodyPr wrap="square" lIns="0" tIns="0" rIns="0" bIns="0" rtlCol="0" anchor="ctr"/>
          <a:lstStyle/>
          <a:p>
            <a:pPr marL="0" indent="0" algn="ctr">
              <a:buNone/>
            </a:pPr>
            <a:r>
              <a:rPr lang="en-US" sz="2400" b="1" dirty="0">
                <a:solidFill>
                  <a:srgbClr val="D51C1C"/>
                </a:solidFill>
              </a:rPr>
              <a:t>25.06%</a:t>
            </a:r>
            <a:endParaRPr lang="en-US" sz="2400" dirty="0"/>
          </a:p>
        </p:txBody>
      </p:sp>
      <p:sp>
        <p:nvSpPr>
          <p:cNvPr id="57" name="Text 15">
            <a:extLst>
              <a:ext uri="{FF2B5EF4-FFF2-40B4-BE49-F238E27FC236}">
                <a16:creationId xmlns:a16="http://schemas.microsoft.com/office/drawing/2014/main" id="{95B4E92C-D6F8-7F32-B952-298ADFCFE7E0}"/>
              </a:ext>
            </a:extLst>
          </p:cNvPr>
          <p:cNvSpPr/>
          <p:nvPr/>
        </p:nvSpPr>
        <p:spPr>
          <a:xfrm>
            <a:off x="7836408" y="4690872"/>
            <a:ext cx="1517904" cy="512064"/>
          </a:xfrm>
          <a:prstGeom prst="rect">
            <a:avLst/>
          </a:prstGeom>
          <a:noFill/>
          <a:ln/>
        </p:spPr>
        <p:txBody>
          <a:bodyPr wrap="square" lIns="0" tIns="0" rIns="0" bIns="0" rtlCol="0" anchor="t"/>
          <a:lstStyle/>
          <a:p>
            <a:pPr marL="0" indent="0" algn="ctr">
              <a:buNone/>
            </a:pPr>
            <a:r>
              <a:rPr lang="en-US" sz="1050" dirty="0"/>
              <a:t>High volume rate</a:t>
            </a:r>
          </a:p>
          <a:p>
            <a:pPr marL="0" indent="0" algn="ctr">
              <a:buNone/>
            </a:pPr>
            <a:r>
              <a:rPr lang="en-US" sz="1050" dirty="0"/>
              <a:t>on JSM Day</a:t>
            </a:r>
          </a:p>
        </p:txBody>
      </p:sp>
      <p:sp>
        <p:nvSpPr>
          <p:cNvPr id="58" name="Shape 16">
            <a:extLst>
              <a:ext uri="{FF2B5EF4-FFF2-40B4-BE49-F238E27FC236}">
                <a16:creationId xmlns:a16="http://schemas.microsoft.com/office/drawing/2014/main" id="{D7D497E6-594A-791D-6540-AB99AFA3A09B}"/>
              </a:ext>
            </a:extLst>
          </p:cNvPr>
          <p:cNvSpPr/>
          <p:nvPr/>
        </p:nvSpPr>
        <p:spPr>
          <a:xfrm>
            <a:off x="9784080" y="4160520"/>
            <a:ext cx="1737360" cy="1115568"/>
          </a:xfrm>
          <a:prstGeom prst="roundRect">
            <a:avLst/>
          </a:prstGeom>
          <a:solidFill>
            <a:srgbClr val="FFFFFF"/>
          </a:solidFill>
          <a:ln w="13970">
            <a:solidFill>
              <a:srgbClr val="D9D2C7"/>
            </a:solidFill>
            <a:prstDash val="solid"/>
          </a:ln>
        </p:spPr>
        <p:txBody>
          <a:bodyPr/>
          <a:lstStyle/>
          <a:p>
            <a:endParaRPr lang="en-US"/>
          </a:p>
        </p:txBody>
      </p:sp>
      <p:sp>
        <p:nvSpPr>
          <p:cNvPr id="59" name="Text 17">
            <a:extLst>
              <a:ext uri="{FF2B5EF4-FFF2-40B4-BE49-F238E27FC236}">
                <a16:creationId xmlns:a16="http://schemas.microsoft.com/office/drawing/2014/main" id="{CC55B504-0C0F-AA07-6608-C3011FC7645D}"/>
              </a:ext>
            </a:extLst>
          </p:cNvPr>
          <p:cNvSpPr/>
          <p:nvPr/>
        </p:nvSpPr>
        <p:spPr>
          <a:xfrm>
            <a:off x="9912096" y="4270248"/>
            <a:ext cx="1481328" cy="384048"/>
          </a:xfrm>
          <a:prstGeom prst="rect">
            <a:avLst/>
          </a:prstGeom>
          <a:noFill/>
          <a:ln/>
        </p:spPr>
        <p:txBody>
          <a:bodyPr wrap="square" lIns="0" tIns="0" rIns="0" bIns="0" rtlCol="0" anchor="ctr"/>
          <a:lstStyle/>
          <a:p>
            <a:pPr marL="0" indent="0" algn="ctr">
              <a:buNone/>
            </a:pPr>
            <a:r>
              <a:rPr lang="en-US" sz="2400" b="1" dirty="0">
                <a:solidFill>
                  <a:srgbClr val="1F2033"/>
                </a:solidFill>
              </a:rPr>
              <a:t>6.46%</a:t>
            </a:r>
            <a:endParaRPr lang="en-US" sz="2400" dirty="0"/>
          </a:p>
        </p:txBody>
      </p:sp>
      <p:sp>
        <p:nvSpPr>
          <p:cNvPr id="60" name="Text 18">
            <a:extLst>
              <a:ext uri="{FF2B5EF4-FFF2-40B4-BE49-F238E27FC236}">
                <a16:creationId xmlns:a16="http://schemas.microsoft.com/office/drawing/2014/main" id="{C17EE795-B717-0397-2D10-71CD22DC1CA7}"/>
              </a:ext>
            </a:extLst>
          </p:cNvPr>
          <p:cNvSpPr/>
          <p:nvPr/>
        </p:nvSpPr>
        <p:spPr>
          <a:xfrm>
            <a:off x="9893808" y="4690872"/>
            <a:ext cx="1517904" cy="512064"/>
          </a:xfrm>
          <a:prstGeom prst="rect">
            <a:avLst/>
          </a:prstGeom>
          <a:noFill/>
          <a:ln/>
        </p:spPr>
        <p:txBody>
          <a:bodyPr wrap="square" lIns="0" tIns="0" rIns="0" bIns="0" rtlCol="0" anchor="t"/>
          <a:lstStyle/>
          <a:p>
            <a:pPr marL="0" indent="0" algn="ctr">
              <a:buNone/>
            </a:pPr>
            <a:r>
              <a:rPr lang="en-US" sz="1050" dirty="0"/>
              <a:t>High volume rate</a:t>
            </a:r>
          </a:p>
          <a:p>
            <a:pPr marL="0" indent="0" algn="ctr">
              <a:buNone/>
            </a:pPr>
            <a:r>
              <a:rPr lang="en-US" sz="1050" dirty="0"/>
              <a:t>on Non-JSM Day</a:t>
            </a:r>
          </a:p>
        </p:txBody>
      </p:sp>
      <p:sp>
        <p:nvSpPr>
          <p:cNvPr id="61" name="Shape 19">
            <a:extLst>
              <a:ext uri="{FF2B5EF4-FFF2-40B4-BE49-F238E27FC236}">
                <a16:creationId xmlns:a16="http://schemas.microsoft.com/office/drawing/2014/main" id="{ADFA2C34-2F62-3B8F-C536-15722987CF87}"/>
              </a:ext>
            </a:extLst>
          </p:cNvPr>
          <p:cNvSpPr/>
          <p:nvPr/>
        </p:nvSpPr>
        <p:spPr>
          <a:xfrm>
            <a:off x="769620" y="5824729"/>
            <a:ext cx="10652760" cy="557784"/>
          </a:xfrm>
          <a:prstGeom prst="roundRect">
            <a:avLst>
              <a:gd name="adj" fmla="val 9756"/>
            </a:avLst>
          </a:prstGeom>
          <a:solidFill>
            <a:srgbClr val="FFFFFF"/>
          </a:solidFill>
          <a:ln w="15240">
            <a:solidFill>
              <a:srgbClr val="D9D2C7"/>
            </a:solidFill>
            <a:prstDash val="solid"/>
          </a:ln>
          <a:effectLst>
            <a:outerShdw blurRad="12700" dist="50800" dir="2700000" algn="bl" rotWithShape="0">
              <a:srgbClr val="D0CBC4">
                <a:alpha val="18000"/>
              </a:srgbClr>
            </a:outerShdw>
          </a:effectLst>
        </p:spPr>
        <p:txBody>
          <a:bodyPr/>
          <a:lstStyle/>
          <a:p>
            <a:pPr algn="ctr"/>
            <a:endParaRPr lang="en-US" dirty="0"/>
          </a:p>
        </p:txBody>
      </p:sp>
      <p:sp>
        <p:nvSpPr>
          <p:cNvPr id="62" name="Text 20">
            <a:extLst>
              <a:ext uri="{FF2B5EF4-FFF2-40B4-BE49-F238E27FC236}">
                <a16:creationId xmlns:a16="http://schemas.microsoft.com/office/drawing/2014/main" id="{20F86BDB-EB33-2F66-7688-A8929275D4C6}"/>
              </a:ext>
            </a:extLst>
          </p:cNvPr>
          <p:cNvSpPr/>
          <p:nvPr/>
        </p:nvSpPr>
        <p:spPr>
          <a:xfrm>
            <a:off x="832104" y="5815585"/>
            <a:ext cx="10360152" cy="566928"/>
          </a:xfrm>
          <a:prstGeom prst="rect">
            <a:avLst/>
          </a:prstGeom>
          <a:noFill/>
          <a:ln/>
        </p:spPr>
        <p:txBody>
          <a:bodyPr wrap="square" lIns="254" tIns="254" rIns="254" bIns="254" rtlCol="0" anchor="ctr"/>
          <a:lstStyle/>
          <a:p>
            <a:pPr algn="ctr"/>
            <a:r>
              <a:rPr sz="1100" dirty="0">
                <a:solidFill>
                  <a:srgbClr val="23232B"/>
                </a:solidFill>
                <a:latin typeface="Aptos"/>
              </a:rPr>
              <a:t>High</a:t>
            </a:r>
            <a:r>
              <a:rPr lang="en-US" sz="1100" dirty="0">
                <a:solidFill>
                  <a:srgbClr val="23232B"/>
                </a:solidFill>
                <a:latin typeface="Aptos"/>
              </a:rPr>
              <a:t> </a:t>
            </a:r>
            <a:r>
              <a:rPr sz="1100" dirty="0">
                <a:solidFill>
                  <a:srgbClr val="23232B"/>
                </a:solidFill>
                <a:latin typeface="Aptos"/>
              </a:rPr>
              <a:t>volume purchasing is 3.88× more frequent on JSM days. 40 and 90</a:t>
            </a:r>
            <a:r>
              <a:rPr lang="en-US" sz="1100" dirty="0">
                <a:solidFill>
                  <a:srgbClr val="23232B"/>
                </a:solidFill>
                <a:latin typeface="Aptos"/>
              </a:rPr>
              <a:t> </a:t>
            </a:r>
            <a:r>
              <a:rPr sz="1100" dirty="0">
                <a:solidFill>
                  <a:srgbClr val="23232B"/>
                </a:solidFill>
                <a:latin typeface="Aptos"/>
              </a:rPr>
              <a:t>unit cutoff are analytical classification boundaries</a:t>
            </a:r>
            <a:r>
              <a:rPr lang="en-US" sz="1100" dirty="0">
                <a:solidFill>
                  <a:srgbClr val="23232B"/>
                </a:solidFill>
                <a:latin typeface="Aptos"/>
              </a:rPr>
              <a:t>, </a:t>
            </a:r>
            <a:r>
              <a:rPr sz="1100" dirty="0">
                <a:solidFill>
                  <a:srgbClr val="23232B"/>
                </a:solidFill>
                <a:latin typeface="Aptos"/>
              </a:rPr>
              <a:t>not promotional caps</a:t>
            </a:r>
            <a:endParaRPr lang="en-US" sz="1100" dirty="0">
              <a:solidFill>
                <a:srgbClr val="23232B"/>
              </a:solidFill>
              <a:latin typeface="Aptos"/>
            </a:endParaRPr>
          </a:p>
          <a:p>
            <a:pPr algn="ctr"/>
            <a:r>
              <a:rPr sz="1100" dirty="0">
                <a:solidFill>
                  <a:srgbClr val="23232B"/>
                </a:solidFill>
                <a:latin typeface="Aptos"/>
              </a:rPr>
              <a:t> qty &gt;90 is separated as a suspected quantity anomaly.</a:t>
            </a:r>
          </a:p>
        </p:txBody>
      </p:sp>
      <p:sp>
        <p:nvSpPr>
          <p:cNvPr id="63" name="Text 0">
            <a:extLst>
              <a:ext uri="{FF2B5EF4-FFF2-40B4-BE49-F238E27FC236}">
                <a16:creationId xmlns:a16="http://schemas.microsoft.com/office/drawing/2014/main" id="{06924489-6BCF-F41D-18C4-2B318EA491D1}"/>
              </a:ext>
            </a:extLst>
          </p:cNvPr>
          <p:cNvSpPr/>
          <p:nvPr/>
        </p:nvSpPr>
        <p:spPr>
          <a:xfrm>
            <a:off x="530352" y="475487"/>
            <a:ext cx="5912012" cy="411203"/>
          </a:xfrm>
          <a:prstGeom prst="rect">
            <a:avLst/>
          </a:prstGeom>
          <a:noFill/>
          <a:ln/>
        </p:spPr>
        <p:txBody>
          <a:bodyPr wrap="square" lIns="0" tIns="0" rIns="0" bIns="0" rtlCol="0" anchor="ctr"/>
          <a:lstStyle/>
          <a:p>
            <a:pPr marL="0" indent="0">
              <a:buNone/>
            </a:pPr>
            <a:r>
              <a:rPr lang="en-US" sz="2800" b="1" kern="0" spc="140" dirty="0">
                <a:solidFill>
                  <a:srgbClr val="D51C1C"/>
                </a:solidFill>
              </a:rPr>
              <a:t>EXPLORATORY DATA ANALYSIS</a:t>
            </a:r>
            <a:endParaRPr lang="en-US" sz="2800" dirty="0"/>
          </a:p>
        </p:txBody>
      </p:sp>
    </p:spTree>
    <p:extLst>
      <p:ext uri="{BB962C8B-B14F-4D97-AF65-F5344CB8AC3E}">
        <p14:creationId xmlns:p14="http://schemas.microsoft.com/office/powerpoint/2010/main" val="2573409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D2458-6E7F-11B1-3CA6-0192B462A107}"/>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4C0C703F-F56D-E73E-A0A5-E165AE8CCD75}"/>
              </a:ext>
            </a:extLst>
          </p:cNvPr>
          <p:cNvPicPr>
            <a:picLocks noChangeAspect="1"/>
          </p:cNvPicPr>
          <p:nvPr/>
        </p:nvPicPr>
        <p:blipFill>
          <a:blip r:embed="rId2"/>
          <a:stretch>
            <a:fillRect/>
          </a:stretch>
        </p:blipFill>
        <p:spPr>
          <a:xfrm>
            <a:off x="0" y="-1"/>
            <a:ext cx="12192000" cy="621791"/>
          </a:xfrm>
          <a:prstGeom prst="rect">
            <a:avLst/>
          </a:prstGeom>
        </p:spPr>
      </p:pic>
      <p:sp>
        <p:nvSpPr>
          <p:cNvPr id="4" name="Text 0">
            <a:extLst>
              <a:ext uri="{FF2B5EF4-FFF2-40B4-BE49-F238E27FC236}">
                <a16:creationId xmlns:a16="http://schemas.microsoft.com/office/drawing/2014/main" id="{0DB848C6-C3BD-E69C-B4D9-E16D91DB5969}"/>
              </a:ext>
            </a:extLst>
          </p:cNvPr>
          <p:cNvSpPr/>
          <p:nvPr/>
        </p:nvSpPr>
        <p:spPr>
          <a:xfrm>
            <a:off x="359664" y="487680"/>
            <a:ext cx="5736336" cy="383858"/>
          </a:xfrm>
          <a:prstGeom prst="rect">
            <a:avLst/>
          </a:prstGeom>
          <a:noFill/>
          <a:ln/>
        </p:spPr>
        <p:txBody>
          <a:bodyPr wrap="square" lIns="0" tIns="0" rIns="0" bIns="0" rtlCol="0" anchor="ctr"/>
          <a:lstStyle/>
          <a:p>
            <a:pPr marL="0" indent="0">
              <a:buNone/>
            </a:pPr>
            <a:r>
              <a:rPr lang="en-US" sz="2800" b="1" kern="0" spc="140" dirty="0">
                <a:solidFill>
                  <a:srgbClr val="D51C1C"/>
                </a:solidFill>
              </a:rPr>
              <a:t>CUSTOMER PATTERN ANALYSIS</a:t>
            </a:r>
            <a:endParaRPr lang="en-US" sz="2800" dirty="0"/>
          </a:p>
        </p:txBody>
      </p:sp>
      <p:sp>
        <p:nvSpPr>
          <p:cNvPr id="6" name="Text 2">
            <a:extLst>
              <a:ext uri="{FF2B5EF4-FFF2-40B4-BE49-F238E27FC236}">
                <a16:creationId xmlns:a16="http://schemas.microsoft.com/office/drawing/2014/main" id="{B90A09F6-A6BB-AF96-8D6A-7BCCC2DF9CED}"/>
              </a:ext>
            </a:extLst>
          </p:cNvPr>
          <p:cNvSpPr/>
          <p:nvPr/>
        </p:nvSpPr>
        <p:spPr>
          <a:xfrm>
            <a:off x="377952" y="1402080"/>
            <a:ext cx="2743200" cy="201168"/>
          </a:xfrm>
          <a:prstGeom prst="rect">
            <a:avLst/>
          </a:prstGeom>
          <a:noFill/>
          <a:ln/>
        </p:spPr>
        <p:txBody>
          <a:bodyPr wrap="square" lIns="0" tIns="0" rIns="0" bIns="0" rtlCol="0" anchor="ctr"/>
          <a:lstStyle/>
          <a:p>
            <a:pPr marL="0" indent="0">
              <a:buNone/>
            </a:pPr>
            <a:r>
              <a:rPr lang="en-US" sz="1200" b="1" kern="0" spc="120" dirty="0">
                <a:solidFill>
                  <a:srgbClr val="D51C1C"/>
                </a:solidFill>
              </a:rPr>
              <a:t>Repeat Frequency Among Member</a:t>
            </a:r>
            <a:endParaRPr lang="en-US" sz="1200" dirty="0"/>
          </a:p>
        </p:txBody>
      </p:sp>
      <p:sp>
        <p:nvSpPr>
          <p:cNvPr id="7" name="Text 3">
            <a:extLst>
              <a:ext uri="{FF2B5EF4-FFF2-40B4-BE49-F238E27FC236}">
                <a16:creationId xmlns:a16="http://schemas.microsoft.com/office/drawing/2014/main" id="{5A7AAA73-968B-C5EF-9D1E-ADBD60D39A14}"/>
              </a:ext>
            </a:extLst>
          </p:cNvPr>
          <p:cNvSpPr/>
          <p:nvPr/>
        </p:nvSpPr>
        <p:spPr>
          <a:xfrm>
            <a:off x="469392" y="1767840"/>
            <a:ext cx="1344168" cy="580644"/>
          </a:xfrm>
          <a:prstGeom prst="rect">
            <a:avLst/>
          </a:prstGeom>
          <a:noFill/>
          <a:ln/>
        </p:spPr>
        <p:txBody>
          <a:bodyPr wrap="square" lIns="0" tIns="0" rIns="0" bIns="0" rtlCol="0" anchor="ctr"/>
          <a:lstStyle/>
          <a:p>
            <a:pPr marL="0" indent="0">
              <a:buNone/>
            </a:pPr>
            <a:r>
              <a:rPr lang="en-US" sz="1400" dirty="0">
                <a:solidFill>
                  <a:srgbClr val="1F2033"/>
                </a:solidFill>
              </a:rPr>
              <a:t>1 transaction</a:t>
            </a:r>
            <a:endParaRPr lang="en-US" sz="1400" dirty="0"/>
          </a:p>
        </p:txBody>
      </p:sp>
      <p:sp>
        <p:nvSpPr>
          <p:cNvPr id="8" name="Shape 4">
            <a:extLst>
              <a:ext uri="{FF2B5EF4-FFF2-40B4-BE49-F238E27FC236}">
                <a16:creationId xmlns:a16="http://schemas.microsoft.com/office/drawing/2014/main" id="{42AD6195-E0B0-2AC9-1CCF-09EED031A571}"/>
              </a:ext>
            </a:extLst>
          </p:cNvPr>
          <p:cNvSpPr/>
          <p:nvPr/>
        </p:nvSpPr>
        <p:spPr>
          <a:xfrm>
            <a:off x="1886712" y="1934718"/>
            <a:ext cx="3749040" cy="234544"/>
          </a:xfrm>
          <a:prstGeom prst="rect">
            <a:avLst/>
          </a:prstGeom>
          <a:solidFill>
            <a:srgbClr val="EFECE7"/>
          </a:solidFill>
          <a:ln w="12700">
            <a:solidFill>
              <a:srgbClr val="EFECE7"/>
            </a:solidFill>
            <a:prstDash val="solid"/>
          </a:ln>
        </p:spPr>
        <p:txBody>
          <a:bodyPr/>
          <a:lstStyle/>
          <a:p>
            <a:endParaRPr lang="en-US"/>
          </a:p>
        </p:txBody>
      </p:sp>
      <p:sp>
        <p:nvSpPr>
          <p:cNvPr id="9" name="Shape 5">
            <a:extLst>
              <a:ext uri="{FF2B5EF4-FFF2-40B4-BE49-F238E27FC236}">
                <a16:creationId xmlns:a16="http://schemas.microsoft.com/office/drawing/2014/main" id="{BF69DD00-68D0-1E69-DA0A-1F4282213909}"/>
              </a:ext>
            </a:extLst>
          </p:cNvPr>
          <p:cNvSpPr/>
          <p:nvPr/>
        </p:nvSpPr>
        <p:spPr>
          <a:xfrm>
            <a:off x="1886712" y="1934718"/>
            <a:ext cx="3749040" cy="234544"/>
          </a:xfrm>
          <a:prstGeom prst="rect">
            <a:avLst/>
          </a:prstGeom>
          <a:solidFill>
            <a:srgbClr val="2B5CAA"/>
          </a:solidFill>
          <a:ln w="12700">
            <a:solidFill>
              <a:srgbClr val="1F2033"/>
            </a:solidFill>
            <a:prstDash val="solid"/>
          </a:ln>
        </p:spPr>
        <p:txBody>
          <a:bodyPr/>
          <a:lstStyle/>
          <a:p>
            <a:endParaRPr lang="en-US"/>
          </a:p>
        </p:txBody>
      </p:sp>
      <p:sp>
        <p:nvSpPr>
          <p:cNvPr id="12" name="Text 6">
            <a:extLst>
              <a:ext uri="{FF2B5EF4-FFF2-40B4-BE49-F238E27FC236}">
                <a16:creationId xmlns:a16="http://schemas.microsoft.com/office/drawing/2014/main" id="{156A560B-5080-6E66-FDF3-56C40DF6F359}"/>
              </a:ext>
            </a:extLst>
          </p:cNvPr>
          <p:cNvSpPr/>
          <p:nvPr/>
        </p:nvSpPr>
        <p:spPr>
          <a:xfrm>
            <a:off x="5699760" y="1767840"/>
            <a:ext cx="438912" cy="580644"/>
          </a:xfrm>
          <a:prstGeom prst="rect">
            <a:avLst/>
          </a:prstGeom>
          <a:noFill/>
          <a:ln/>
        </p:spPr>
        <p:txBody>
          <a:bodyPr wrap="square" lIns="0" tIns="0" rIns="0" bIns="0" rtlCol="0" anchor="ctr"/>
          <a:lstStyle/>
          <a:p>
            <a:pPr marL="0" indent="0">
              <a:buNone/>
            </a:pPr>
            <a:r>
              <a:rPr lang="en-US" sz="1400" b="1" dirty="0">
                <a:solidFill>
                  <a:srgbClr val="1F2033"/>
                </a:solidFill>
              </a:rPr>
              <a:t>7984</a:t>
            </a:r>
            <a:endParaRPr lang="en-US" sz="1400" dirty="0"/>
          </a:p>
        </p:txBody>
      </p:sp>
      <p:sp>
        <p:nvSpPr>
          <p:cNvPr id="13" name="Text 7">
            <a:extLst>
              <a:ext uri="{FF2B5EF4-FFF2-40B4-BE49-F238E27FC236}">
                <a16:creationId xmlns:a16="http://schemas.microsoft.com/office/drawing/2014/main" id="{13592E1E-5893-0622-1968-F1E32D64370B}"/>
              </a:ext>
            </a:extLst>
          </p:cNvPr>
          <p:cNvSpPr/>
          <p:nvPr/>
        </p:nvSpPr>
        <p:spPr>
          <a:xfrm>
            <a:off x="469392" y="2385060"/>
            <a:ext cx="1344168" cy="580644"/>
          </a:xfrm>
          <a:prstGeom prst="rect">
            <a:avLst/>
          </a:prstGeom>
          <a:noFill/>
          <a:ln/>
        </p:spPr>
        <p:txBody>
          <a:bodyPr wrap="square" lIns="0" tIns="0" rIns="0" bIns="0" rtlCol="0" anchor="ctr"/>
          <a:lstStyle/>
          <a:p>
            <a:pPr marL="0" indent="0">
              <a:buNone/>
            </a:pPr>
            <a:r>
              <a:rPr lang="en-US" sz="1400" dirty="0">
                <a:solidFill>
                  <a:srgbClr val="1F2033"/>
                </a:solidFill>
              </a:rPr>
              <a:t>2 transactions</a:t>
            </a:r>
            <a:endParaRPr lang="en-US" sz="1400" dirty="0"/>
          </a:p>
        </p:txBody>
      </p:sp>
      <p:sp>
        <p:nvSpPr>
          <p:cNvPr id="17" name="Shape 8">
            <a:extLst>
              <a:ext uri="{FF2B5EF4-FFF2-40B4-BE49-F238E27FC236}">
                <a16:creationId xmlns:a16="http://schemas.microsoft.com/office/drawing/2014/main" id="{F49E0009-0635-02AB-CDC8-698744EAE92E}"/>
              </a:ext>
            </a:extLst>
          </p:cNvPr>
          <p:cNvSpPr/>
          <p:nvPr/>
        </p:nvSpPr>
        <p:spPr>
          <a:xfrm>
            <a:off x="1886712" y="2551938"/>
            <a:ext cx="3749040" cy="234544"/>
          </a:xfrm>
          <a:prstGeom prst="rect">
            <a:avLst/>
          </a:prstGeom>
          <a:solidFill>
            <a:srgbClr val="EFECE7"/>
          </a:solidFill>
          <a:ln w="12700">
            <a:solidFill>
              <a:srgbClr val="EFECE7"/>
            </a:solidFill>
            <a:prstDash val="solid"/>
          </a:ln>
        </p:spPr>
        <p:txBody>
          <a:bodyPr/>
          <a:lstStyle/>
          <a:p>
            <a:endParaRPr lang="en-US"/>
          </a:p>
        </p:txBody>
      </p:sp>
      <p:sp>
        <p:nvSpPr>
          <p:cNvPr id="18" name="Shape 9">
            <a:extLst>
              <a:ext uri="{FF2B5EF4-FFF2-40B4-BE49-F238E27FC236}">
                <a16:creationId xmlns:a16="http://schemas.microsoft.com/office/drawing/2014/main" id="{C1374428-64B5-0A97-8022-EEF802775FDA}"/>
              </a:ext>
            </a:extLst>
          </p:cNvPr>
          <p:cNvSpPr/>
          <p:nvPr/>
        </p:nvSpPr>
        <p:spPr>
          <a:xfrm>
            <a:off x="1886712" y="2551938"/>
            <a:ext cx="387864" cy="234544"/>
          </a:xfrm>
          <a:prstGeom prst="rect">
            <a:avLst/>
          </a:prstGeom>
          <a:solidFill>
            <a:srgbClr val="D51C1C"/>
          </a:solidFill>
          <a:ln w="12700">
            <a:solidFill>
              <a:srgbClr val="D51C1C"/>
            </a:solidFill>
            <a:prstDash val="solid"/>
          </a:ln>
        </p:spPr>
        <p:txBody>
          <a:bodyPr/>
          <a:lstStyle/>
          <a:p>
            <a:endParaRPr lang="en-US"/>
          </a:p>
        </p:txBody>
      </p:sp>
      <p:sp>
        <p:nvSpPr>
          <p:cNvPr id="19" name="Text 10">
            <a:extLst>
              <a:ext uri="{FF2B5EF4-FFF2-40B4-BE49-F238E27FC236}">
                <a16:creationId xmlns:a16="http://schemas.microsoft.com/office/drawing/2014/main" id="{AF34079E-9447-94BF-171D-889549A1CF28}"/>
              </a:ext>
            </a:extLst>
          </p:cNvPr>
          <p:cNvSpPr/>
          <p:nvPr/>
        </p:nvSpPr>
        <p:spPr>
          <a:xfrm>
            <a:off x="5699760" y="2385060"/>
            <a:ext cx="438912" cy="580644"/>
          </a:xfrm>
          <a:prstGeom prst="rect">
            <a:avLst/>
          </a:prstGeom>
          <a:noFill/>
          <a:ln/>
        </p:spPr>
        <p:txBody>
          <a:bodyPr wrap="square" lIns="0" tIns="0" rIns="0" bIns="0" rtlCol="0" anchor="ctr"/>
          <a:lstStyle/>
          <a:p>
            <a:pPr marL="0" indent="0">
              <a:buNone/>
            </a:pPr>
            <a:r>
              <a:rPr lang="en-US" sz="1400" b="1" dirty="0">
                <a:solidFill>
                  <a:srgbClr val="1F2033"/>
                </a:solidFill>
              </a:rPr>
              <a:t>826</a:t>
            </a:r>
            <a:endParaRPr lang="en-US" sz="1400" dirty="0"/>
          </a:p>
        </p:txBody>
      </p:sp>
      <p:sp>
        <p:nvSpPr>
          <p:cNvPr id="20" name="Text 11">
            <a:extLst>
              <a:ext uri="{FF2B5EF4-FFF2-40B4-BE49-F238E27FC236}">
                <a16:creationId xmlns:a16="http://schemas.microsoft.com/office/drawing/2014/main" id="{5BF4BFBA-275D-D127-8BC2-AD7AF1913B6D}"/>
              </a:ext>
            </a:extLst>
          </p:cNvPr>
          <p:cNvSpPr/>
          <p:nvPr/>
        </p:nvSpPr>
        <p:spPr>
          <a:xfrm>
            <a:off x="469392" y="3002280"/>
            <a:ext cx="1344168" cy="580644"/>
          </a:xfrm>
          <a:prstGeom prst="rect">
            <a:avLst/>
          </a:prstGeom>
          <a:noFill/>
          <a:ln/>
        </p:spPr>
        <p:txBody>
          <a:bodyPr wrap="square" lIns="0" tIns="0" rIns="0" bIns="0" rtlCol="0" anchor="ctr"/>
          <a:lstStyle/>
          <a:p>
            <a:pPr marL="0" indent="0">
              <a:buNone/>
            </a:pPr>
            <a:r>
              <a:rPr lang="en-US" sz="1400" dirty="0">
                <a:solidFill>
                  <a:srgbClr val="1F2033"/>
                </a:solidFill>
              </a:rPr>
              <a:t>3 transactions</a:t>
            </a:r>
            <a:endParaRPr lang="en-US" sz="1400" dirty="0"/>
          </a:p>
        </p:txBody>
      </p:sp>
      <p:sp>
        <p:nvSpPr>
          <p:cNvPr id="21" name="Shape 12">
            <a:extLst>
              <a:ext uri="{FF2B5EF4-FFF2-40B4-BE49-F238E27FC236}">
                <a16:creationId xmlns:a16="http://schemas.microsoft.com/office/drawing/2014/main" id="{0D1789FA-DE7E-FA94-2DA3-AA15F37CD972}"/>
              </a:ext>
            </a:extLst>
          </p:cNvPr>
          <p:cNvSpPr/>
          <p:nvPr/>
        </p:nvSpPr>
        <p:spPr>
          <a:xfrm>
            <a:off x="1886712" y="3169158"/>
            <a:ext cx="3749040" cy="234544"/>
          </a:xfrm>
          <a:prstGeom prst="rect">
            <a:avLst/>
          </a:prstGeom>
          <a:solidFill>
            <a:srgbClr val="EFECE7"/>
          </a:solidFill>
          <a:ln w="12700">
            <a:solidFill>
              <a:srgbClr val="EFECE7"/>
            </a:solidFill>
            <a:prstDash val="solid"/>
          </a:ln>
        </p:spPr>
        <p:txBody>
          <a:bodyPr/>
          <a:lstStyle/>
          <a:p>
            <a:endParaRPr lang="en-US"/>
          </a:p>
        </p:txBody>
      </p:sp>
      <p:sp>
        <p:nvSpPr>
          <p:cNvPr id="22" name="Shape 13">
            <a:extLst>
              <a:ext uri="{FF2B5EF4-FFF2-40B4-BE49-F238E27FC236}">
                <a16:creationId xmlns:a16="http://schemas.microsoft.com/office/drawing/2014/main" id="{D58E8511-EF59-9AD9-A786-E01869F9E5F2}"/>
              </a:ext>
            </a:extLst>
          </p:cNvPr>
          <p:cNvSpPr/>
          <p:nvPr/>
        </p:nvSpPr>
        <p:spPr>
          <a:xfrm>
            <a:off x="1886712" y="3169158"/>
            <a:ext cx="30052" cy="234544"/>
          </a:xfrm>
          <a:prstGeom prst="rect">
            <a:avLst/>
          </a:prstGeom>
          <a:solidFill>
            <a:srgbClr val="D51C1C"/>
          </a:solidFill>
          <a:ln w="12700">
            <a:solidFill>
              <a:srgbClr val="D51C1C"/>
            </a:solidFill>
            <a:prstDash val="solid"/>
          </a:ln>
        </p:spPr>
        <p:txBody>
          <a:bodyPr/>
          <a:lstStyle/>
          <a:p>
            <a:endParaRPr lang="en-US"/>
          </a:p>
        </p:txBody>
      </p:sp>
      <p:sp>
        <p:nvSpPr>
          <p:cNvPr id="23" name="Text 14">
            <a:extLst>
              <a:ext uri="{FF2B5EF4-FFF2-40B4-BE49-F238E27FC236}">
                <a16:creationId xmlns:a16="http://schemas.microsoft.com/office/drawing/2014/main" id="{6B5EB023-DFF1-24B2-8A33-D2D25C0A89A1}"/>
              </a:ext>
            </a:extLst>
          </p:cNvPr>
          <p:cNvSpPr/>
          <p:nvPr/>
        </p:nvSpPr>
        <p:spPr>
          <a:xfrm>
            <a:off x="5699760" y="3002280"/>
            <a:ext cx="438912" cy="580644"/>
          </a:xfrm>
          <a:prstGeom prst="rect">
            <a:avLst/>
          </a:prstGeom>
          <a:noFill/>
          <a:ln/>
        </p:spPr>
        <p:txBody>
          <a:bodyPr wrap="square" lIns="0" tIns="0" rIns="0" bIns="0" rtlCol="0" anchor="ctr"/>
          <a:lstStyle/>
          <a:p>
            <a:pPr marL="0" indent="0">
              <a:buNone/>
            </a:pPr>
            <a:r>
              <a:rPr lang="en-US" sz="1400" b="1" dirty="0">
                <a:solidFill>
                  <a:srgbClr val="1F2033"/>
                </a:solidFill>
              </a:rPr>
              <a:t>64</a:t>
            </a:r>
            <a:endParaRPr lang="en-US" sz="1400" dirty="0"/>
          </a:p>
        </p:txBody>
      </p:sp>
      <p:sp>
        <p:nvSpPr>
          <p:cNvPr id="24" name="Text 15">
            <a:extLst>
              <a:ext uri="{FF2B5EF4-FFF2-40B4-BE49-F238E27FC236}">
                <a16:creationId xmlns:a16="http://schemas.microsoft.com/office/drawing/2014/main" id="{9E5FEC32-6544-C301-B716-8A7281ACDBB1}"/>
              </a:ext>
            </a:extLst>
          </p:cNvPr>
          <p:cNvSpPr/>
          <p:nvPr/>
        </p:nvSpPr>
        <p:spPr>
          <a:xfrm>
            <a:off x="469392" y="3619500"/>
            <a:ext cx="1344168" cy="580644"/>
          </a:xfrm>
          <a:prstGeom prst="rect">
            <a:avLst/>
          </a:prstGeom>
          <a:noFill/>
          <a:ln/>
        </p:spPr>
        <p:txBody>
          <a:bodyPr wrap="square" lIns="0" tIns="0" rIns="0" bIns="0" rtlCol="0" anchor="ctr"/>
          <a:lstStyle/>
          <a:p>
            <a:pPr marL="0" indent="0">
              <a:buNone/>
            </a:pPr>
            <a:r>
              <a:rPr lang="en-US" sz="1400" dirty="0">
                <a:solidFill>
                  <a:srgbClr val="1F2033"/>
                </a:solidFill>
              </a:rPr>
              <a:t>4 transactions</a:t>
            </a:r>
            <a:endParaRPr lang="en-US" sz="1400" dirty="0"/>
          </a:p>
        </p:txBody>
      </p:sp>
      <p:sp>
        <p:nvSpPr>
          <p:cNvPr id="25" name="Shape 16">
            <a:extLst>
              <a:ext uri="{FF2B5EF4-FFF2-40B4-BE49-F238E27FC236}">
                <a16:creationId xmlns:a16="http://schemas.microsoft.com/office/drawing/2014/main" id="{8B9B348F-5421-1A2F-86F9-C4BC9F0D5C04}"/>
              </a:ext>
            </a:extLst>
          </p:cNvPr>
          <p:cNvSpPr/>
          <p:nvPr/>
        </p:nvSpPr>
        <p:spPr>
          <a:xfrm>
            <a:off x="1886712" y="3786378"/>
            <a:ext cx="3749040" cy="234544"/>
          </a:xfrm>
          <a:prstGeom prst="rect">
            <a:avLst/>
          </a:prstGeom>
          <a:solidFill>
            <a:srgbClr val="EFECE7"/>
          </a:solidFill>
          <a:ln w="12700">
            <a:solidFill>
              <a:srgbClr val="EFECE7"/>
            </a:solidFill>
            <a:prstDash val="solid"/>
          </a:ln>
        </p:spPr>
        <p:txBody>
          <a:bodyPr/>
          <a:lstStyle/>
          <a:p>
            <a:endParaRPr lang="en-US"/>
          </a:p>
        </p:txBody>
      </p:sp>
      <p:sp>
        <p:nvSpPr>
          <p:cNvPr id="26" name="Shape 17">
            <a:extLst>
              <a:ext uri="{FF2B5EF4-FFF2-40B4-BE49-F238E27FC236}">
                <a16:creationId xmlns:a16="http://schemas.microsoft.com/office/drawing/2014/main" id="{E494BC4C-BB4E-FE3B-763A-EB7F787C49EA}"/>
              </a:ext>
            </a:extLst>
          </p:cNvPr>
          <p:cNvSpPr/>
          <p:nvPr/>
        </p:nvSpPr>
        <p:spPr>
          <a:xfrm>
            <a:off x="1886712" y="3786378"/>
            <a:ext cx="1409" cy="234544"/>
          </a:xfrm>
          <a:prstGeom prst="rect">
            <a:avLst/>
          </a:prstGeom>
          <a:solidFill>
            <a:srgbClr val="D51C1C"/>
          </a:solidFill>
          <a:ln w="12700">
            <a:solidFill>
              <a:srgbClr val="D51C1C"/>
            </a:solidFill>
            <a:prstDash val="solid"/>
          </a:ln>
        </p:spPr>
        <p:txBody>
          <a:bodyPr/>
          <a:lstStyle/>
          <a:p>
            <a:endParaRPr lang="en-US"/>
          </a:p>
        </p:txBody>
      </p:sp>
      <p:sp>
        <p:nvSpPr>
          <p:cNvPr id="27" name="Text 18">
            <a:extLst>
              <a:ext uri="{FF2B5EF4-FFF2-40B4-BE49-F238E27FC236}">
                <a16:creationId xmlns:a16="http://schemas.microsoft.com/office/drawing/2014/main" id="{FFF5E042-CCBD-1CD4-355F-510200B095CF}"/>
              </a:ext>
            </a:extLst>
          </p:cNvPr>
          <p:cNvSpPr/>
          <p:nvPr/>
        </p:nvSpPr>
        <p:spPr>
          <a:xfrm>
            <a:off x="5699760" y="3619500"/>
            <a:ext cx="438912" cy="580644"/>
          </a:xfrm>
          <a:prstGeom prst="rect">
            <a:avLst/>
          </a:prstGeom>
          <a:noFill/>
          <a:ln/>
        </p:spPr>
        <p:txBody>
          <a:bodyPr wrap="square" lIns="0" tIns="0" rIns="0" bIns="0" rtlCol="0" anchor="ctr"/>
          <a:lstStyle/>
          <a:p>
            <a:pPr marL="0" indent="0">
              <a:buNone/>
            </a:pPr>
            <a:r>
              <a:rPr lang="en-US" sz="1400" b="1" dirty="0">
                <a:solidFill>
                  <a:srgbClr val="1F2033"/>
                </a:solidFill>
              </a:rPr>
              <a:t>3</a:t>
            </a:r>
            <a:endParaRPr lang="en-US" sz="1400" dirty="0"/>
          </a:p>
        </p:txBody>
      </p:sp>
      <p:sp>
        <p:nvSpPr>
          <p:cNvPr id="28" name="Shape 19">
            <a:extLst>
              <a:ext uri="{FF2B5EF4-FFF2-40B4-BE49-F238E27FC236}">
                <a16:creationId xmlns:a16="http://schemas.microsoft.com/office/drawing/2014/main" id="{CD694575-4C62-2A26-C114-EA3A2C9871F8}"/>
              </a:ext>
            </a:extLst>
          </p:cNvPr>
          <p:cNvSpPr/>
          <p:nvPr/>
        </p:nvSpPr>
        <p:spPr>
          <a:xfrm>
            <a:off x="487680" y="4968240"/>
            <a:ext cx="1508760" cy="1078992"/>
          </a:xfrm>
          <a:prstGeom prst="roundRect">
            <a:avLst/>
          </a:prstGeom>
          <a:solidFill>
            <a:srgbClr val="FFFFFF"/>
          </a:solidFill>
          <a:ln w="13970">
            <a:solidFill>
              <a:srgbClr val="D9D2C7"/>
            </a:solidFill>
            <a:prstDash val="solid"/>
          </a:ln>
        </p:spPr>
        <p:txBody>
          <a:bodyPr/>
          <a:lstStyle/>
          <a:p>
            <a:endParaRPr lang="en-US"/>
          </a:p>
        </p:txBody>
      </p:sp>
      <p:sp>
        <p:nvSpPr>
          <p:cNvPr id="29" name="Text 20">
            <a:extLst>
              <a:ext uri="{FF2B5EF4-FFF2-40B4-BE49-F238E27FC236}">
                <a16:creationId xmlns:a16="http://schemas.microsoft.com/office/drawing/2014/main" id="{EE61E5EB-F3E5-5F59-FBB1-748717EACABF}"/>
              </a:ext>
            </a:extLst>
          </p:cNvPr>
          <p:cNvSpPr/>
          <p:nvPr/>
        </p:nvSpPr>
        <p:spPr>
          <a:xfrm>
            <a:off x="615696" y="5077968"/>
            <a:ext cx="1252728" cy="384048"/>
          </a:xfrm>
          <a:prstGeom prst="rect">
            <a:avLst/>
          </a:prstGeom>
          <a:noFill/>
          <a:ln/>
        </p:spPr>
        <p:txBody>
          <a:bodyPr wrap="square" lIns="0" tIns="0" rIns="0" bIns="0" rtlCol="0" anchor="ctr"/>
          <a:lstStyle/>
          <a:p>
            <a:pPr marL="0" indent="0" algn="ctr">
              <a:buNone/>
            </a:pPr>
            <a:r>
              <a:rPr lang="en-US" sz="2400" b="1" dirty="0">
                <a:solidFill>
                  <a:srgbClr val="1F2033"/>
                </a:solidFill>
              </a:rPr>
              <a:t>8,877</a:t>
            </a:r>
            <a:endParaRPr lang="en-US" sz="2400" dirty="0"/>
          </a:p>
        </p:txBody>
      </p:sp>
      <p:sp>
        <p:nvSpPr>
          <p:cNvPr id="30" name="Text 21">
            <a:extLst>
              <a:ext uri="{FF2B5EF4-FFF2-40B4-BE49-F238E27FC236}">
                <a16:creationId xmlns:a16="http://schemas.microsoft.com/office/drawing/2014/main" id="{2DCCC9BA-4C5C-B751-D2FB-C5DE459249D2}"/>
              </a:ext>
            </a:extLst>
          </p:cNvPr>
          <p:cNvSpPr/>
          <p:nvPr/>
        </p:nvSpPr>
        <p:spPr>
          <a:xfrm>
            <a:off x="597408" y="5498592"/>
            <a:ext cx="1289304" cy="475488"/>
          </a:xfrm>
          <a:prstGeom prst="rect">
            <a:avLst/>
          </a:prstGeom>
          <a:noFill/>
          <a:ln/>
        </p:spPr>
        <p:txBody>
          <a:bodyPr wrap="square" lIns="0" tIns="0" rIns="0" bIns="0" rtlCol="0" anchor="t"/>
          <a:lstStyle/>
          <a:p>
            <a:pPr marL="0" indent="0" algn="ctr">
              <a:buNone/>
            </a:pPr>
            <a:r>
              <a:rPr lang="en-US" sz="1050" dirty="0"/>
              <a:t>Unique members with</a:t>
            </a:r>
          </a:p>
          <a:p>
            <a:pPr marL="0" indent="0" algn="ctr">
              <a:buNone/>
            </a:pPr>
            <a:r>
              <a:rPr lang="en-US" sz="1050" dirty="0"/>
              <a:t>High volume purchase</a:t>
            </a:r>
          </a:p>
        </p:txBody>
      </p:sp>
      <p:sp>
        <p:nvSpPr>
          <p:cNvPr id="31" name="Shape 22">
            <a:extLst>
              <a:ext uri="{FF2B5EF4-FFF2-40B4-BE49-F238E27FC236}">
                <a16:creationId xmlns:a16="http://schemas.microsoft.com/office/drawing/2014/main" id="{48A60B8D-CF02-F4B1-0B59-5F4D406D9BC2}"/>
              </a:ext>
            </a:extLst>
          </p:cNvPr>
          <p:cNvSpPr/>
          <p:nvPr/>
        </p:nvSpPr>
        <p:spPr>
          <a:xfrm>
            <a:off x="2161032" y="4968240"/>
            <a:ext cx="1508760" cy="1078992"/>
          </a:xfrm>
          <a:prstGeom prst="roundRect">
            <a:avLst/>
          </a:prstGeom>
          <a:solidFill>
            <a:srgbClr val="FFFFFF"/>
          </a:solidFill>
          <a:ln w="13970">
            <a:solidFill>
              <a:srgbClr val="D9D2C7"/>
            </a:solidFill>
            <a:prstDash val="solid"/>
          </a:ln>
        </p:spPr>
        <p:txBody>
          <a:bodyPr/>
          <a:lstStyle/>
          <a:p>
            <a:endParaRPr lang="en-US"/>
          </a:p>
        </p:txBody>
      </p:sp>
      <p:sp>
        <p:nvSpPr>
          <p:cNvPr id="32" name="Text 23">
            <a:extLst>
              <a:ext uri="{FF2B5EF4-FFF2-40B4-BE49-F238E27FC236}">
                <a16:creationId xmlns:a16="http://schemas.microsoft.com/office/drawing/2014/main" id="{A071A07B-309E-8F2F-B0B1-85BD11420DB1}"/>
              </a:ext>
            </a:extLst>
          </p:cNvPr>
          <p:cNvSpPr/>
          <p:nvPr/>
        </p:nvSpPr>
        <p:spPr>
          <a:xfrm>
            <a:off x="2289048" y="5077968"/>
            <a:ext cx="1252728" cy="384048"/>
          </a:xfrm>
          <a:prstGeom prst="rect">
            <a:avLst/>
          </a:prstGeom>
          <a:noFill/>
          <a:ln/>
        </p:spPr>
        <p:txBody>
          <a:bodyPr wrap="square" lIns="0" tIns="0" rIns="0" bIns="0" rtlCol="0" anchor="ctr"/>
          <a:lstStyle/>
          <a:p>
            <a:pPr marL="0" indent="0" algn="ctr">
              <a:buNone/>
            </a:pPr>
            <a:r>
              <a:rPr lang="en-US" sz="2400" b="1" dirty="0"/>
              <a:t>893</a:t>
            </a:r>
            <a:endParaRPr lang="en-US" sz="2400" dirty="0"/>
          </a:p>
        </p:txBody>
      </p:sp>
      <p:sp>
        <p:nvSpPr>
          <p:cNvPr id="33" name="Text 24">
            <a:extLst>
              <a:ext uri="{FF2B5EF4-FFF2-40B4-BE49-F238E27FC236}">
                <a16:creationId xmlns:a16="http://schemas.microsoft.com/office/drawing/2014/main" id="{953ADDD4-523A-A400-CE95-CC0A3088A21E}"/>
              </a:ext>
            </a:extLst>
          </p:cNvPr>
          <p:cNvSpPr/>
          <p:nvPr/>
        </p:nvSpPr>
        <p:spPr>
          <a:xfrm>
            <a:off x="2270760" y="5498592"/>
            <a:ext cx="1289304" cy="475488"/>
          </a:xfrm>
          <a:prstGeom prst="rect">
            <a:avLst/>
          </a:prstGeom>
          <a:noFill/>
          <a:ln/>
        </p:spPr>
        <p:txBody>
          <a:bodyPr wrap="square" lIns="0" tIns="0" rIns="0" bIns="0" rtlCol="0" anchor="t"/>
          <a:lstStyle/>
          <a:p>
            <a:pPr marL="0" indent="0" algn="ctr">
              <a:buNone/>
            </a:pPr>
            <a:r>
              <a:rPr lang="en-US" sz="1050" dirty="0"/>
              <a:t>Repeat members</a:t>
            </a:r>
          </a:p>
          <a:p>
            <a:pPr marL="0" indent="0" algn="ctr">
              <a:buNone/>
            </a:pPr>
            <a:r>
              <a:rPr lang="en-US" sz="1050" dirty="0"/>
              <a:t>(≥2 transactions)</a:t>
            </a:r>
          </a:p>
        </p:txBody>
      </p:sp>
      <p:sp>
        <p:nvSpPr>
          <p:cNvPr id="34" name="Shape 25">
            <a:extLst>
              <a:ext uri="{FF2B5EF4-FFF2-40B4-BE49-F238E27FC236}">
                <a16:creationId xmlns:a16="http://schemas.microsoft.com/office/drawing/2014/main" id="{78BB3A66-4DBA-CF69-03B3-24B7FE598460}"/>
              </a:ext>
            </a:extLst>
          </p:cNvPr>
          <p:cNvSpPr/>
          <p:nvPr/>
        </p:nvSpPr>
        <p:spPr>
          <a:xfrm>
            <a:off x="3834384" y="4968240"/>
            <a:ext cx="1508760" cy="1078992"/>
          </a:xfrm>
          <a:prstGeom prst="roundRect">
            <a:avLst/>
          </a:prstGeom>
          <a:solidFill>
            <a:srgbClr val="FFFFFF"/>
          </a:solidFill>
          <a:ln w="13970">
            <a:solidFill>
              <a:srgbClr val="D9D2C7"/>
            </a:solidFill>
            <a:prstDash val="solid"/>
          </a:ln>
        </p:spPr>
        <p:txBody>
          <a:bodyPr/>
          <a:lstStyle/>
          <a:p>
            <a:endParaRPr lang="en-US"/>
          </a:p>
        </p:txBody>
      </p:sp>
      <p:sp>
        <p:nvSpPr>
          <p:cNvPr id="35" name="Text 26">
            <a:extLst>
              <a:ext uri="{FF2B5EF4-FFF2-40B4-BE49-F238E27FC236}">
                <a16:creationId xmlns:a16="http://schemas.microsoft.com/office/drawing/2014/main" id="{9B01F497-4CA5-D31C-F436-7C2C81CD222D}"/>
              </a:ext>
            </a:extLst>
          </p:cNvPr>
          <p:cNvSpPr/>
          <p:nvPr/>
        </p:nvSpPr>
        <p:spPr>
          <a:xfrm>
            <a:off x="3962400" y="5077968"/>
            <a:ext cx="1252728" cy="384048"/>
          </a:xfrm>
          <a:prstGeom prst="rect">
            <a:avLst/>
          </a:prstGeom>
          <a:noFill/>
          <a:ln/>
        </p:spPr>
        <p:txBody>
          <a:bodyPr wrap="square" lIns="0" tIns="0" rIns="0" bIns="0" rtlCol="0" anchor="ctr"/>
          <a:lstStyle/>
          <a:p>
            <a:pPr marL="0" indent="0" algn="ctr">
              <a:buNone/>
            </a:pPr>
            <a:r>
              <a:rPr lang="en-US" sz="2400" b="1" dirty="0"/>
              <a:t>67</a:t>
            </a:r>
            <a:endParaRPr lang="en-US" sz="2400" dirty="0"/>
          </a:p>
        </p:txBody>
      </p:sp>
      <p:sp>
        <p:nvSpPr>
          <p:cNvPr id="36" name="Text 27">
            <a:extLst>
              <a:ext uri="{FF2B5EF4-FFF2-40B4-BE49-F238E27FC236}">
                <a16:creationId xmlns:a16="http://schemas.microsoft.com/office/drawing/2014/main" id="{58E5C4B7-DC7C-689E-B230-59A449D5AF7C}"/>
              </a:ext>
            </a:extLst>
          </p:cNvPr>
          <p:cNvSpPr/>
          <p:nvPr/>
        </p:nvSpPr>
        <p:spPr>
          <a:xfrm>
            <a:off x="3944112" y="5498592"/>
            <a:ext cx="1289304" cy="475488"/>
          </a:xfrm>
          <a:prstGeom prst="rect">
            <a:avLst/>
          </a:prstGeom>
          <a:noFill/>
          <a:ln/>
        </p:spPr>
        <p:txBody>
          <a:bodyPr wrap="square" lIns="0" tIns="0" rIns="0" bIns="0" rtlCol="0" anchor="t"/>
          <a:lstStyle/>
          <a:p>
            <a:pPr marL="0" indent="0" algn="ctr">
              <a:buNone/>
            </a:pPr>
            <a:r>
              <a:rPr lang="en-US" sz="1050" dirty="0"/>
              <a:t>Frequent members</a:t>
            </a:r>
          </a:p>
          <a:p>
            <a:pPr marL="0" indent="0" algn="ctr">
              <a:buNone/>
            </a:pPr>
            <a:r>
              <a:rPr lang="en-US" sz="1050" dirty="0"/>
              <a:t>(≥3 transactions)</a:t>
            </a:r>
          </a:p>
        </p:txBody>
      </p:sp>
      <p:sp>
        <p:nvSpPr>
          <p:cNvPr id="37" name="Shape 28">
            <a:extLst>
              <a:ext uri="{FF2B5EF4-FFF2-40B4-BE49-F238E27FC236}">
                <a16:creationId xmlns:a16="http://schemas.microsoft.com/office/drawing/2014/main" id="{E7188A0D-9021-C69A-84B4-F271D9910DA8}"/>
              </a:ext>
            </a:extLst>
          </p:cNvPr>
          <p:cNvSpPr/>
          <p:nvPr/>
        </p:nvSpPr>
        <p:spPr>
          <a:xfrm>
            <a:off x="5507736" y="4968240"/>
            <a:ext cx="1508760" cy="1078992"/>
          </a:xfrm>
          <a:prstGeom prst="roundRect">
            <a:avLst/>
          </a:prstGeom>
          <a:solidFill>
            <a:srgbClr val="FFFFFF"/>
          </a:solidFill>
          <a:ln w="13970">
            <a:solidFill>
              <a:srgbClr val="D9D2C7"/>
            </a:solidFill>
            <a:prstDash val="solid"/>
          </a:ln>
        </p:spPr>
        <p:txBody>
          <a:bodyPr/>
          <a:lstStyle/>
          <a:p>
            <a:endParaRPr lang="en-US"/>
          </a:p>
        </p:txBody>
      </p:sp>
      <p:sp>
        <p:nvSpPr>
          <p:cNvPr id="38" name="Text 29">
            <a:extLst>
              <a:ext uri="{FF2B5EF4-FFF2-40B4-BE49-F238E27FC236}">
                <a16:creationId xmlns:a16="http://schemas.microsoft.com/office/drawing/2014/main" id="{9BF85404-191A-35AB-D147-27A71A6F32F8}"/>
              </a:ext>
            </a:extLst>
          </p:cNvPr>
          <p:cNvSpPr/>
          <p:nvPr/>
        </p:nvSpPr>
        <p:spPr>
          <a:xfrm>
            <a:off x="5635752" y="5077968"/>
            <a:ext cx="1252728" cy="384048"/>
          </a:xfrm>
          <a:prstGeom prst="rect">
            <a:avLst/>
          </a:prstGeom>
          <a:noFill/>
          <a:ln/>
        </p:spPr>
        <p:txBody>
          <a:bodyPr wrap="square" lIns="0" tIns="0" rIns="0" bIns="0" rtlCol="0" anchor="ctr"/>
          <a:lstStyle/>
          <a:p>
            <a:pPr marL="0" indent="0" algn="ctr">
              <a:buNone/>
            </a:pPr>
            <a:r>
              <a:rPr lang="en-US" sz="2400" b="1" dirty="0">
                <a:solidFill>
                  <a:srgbClr val="1F2033"/>
                </a:solidFill>
              </a:rPr>
              <a:t>4</a:t>
            </a:r>
            <a:endParaRPr lang="en-US" sz="2400" dirty="0"/>
          </a:p>
        </p:txBody>
      </p:sp>
      <p:sp>
        <p:nvSpPr>
          <p:cNvPr id="39" name="Text 30">
            <a:extLst>
              <a:ext uri="{FF2B5EF4-FFF2-40B4-BE49-F238E27FC236}">
                <a16:creationId xmlns:a16="http://schemas.microsoft.com/office/drawing/2014/main" id="{FDA63E44-7208-1ED1-0584-9AD246061BB8}"/>
              </a:ext>
            </a:extLst>
          </p:cNvPr>
          <p:cNvSpPr/>
          <p:nvPr/>
        </p:nvSpPr>
        <p:spPr>
          <a:xfrm>
            <a:off x="5617464" y="5498592"/>
            <a:ext cx="1289304" cy="475488"/>
          </a:xfrm>
          <a:prstGeom prst="rect">
            <a:avLst/>
          </a:prstGeom>
          <a:noFill/>
          <a:ln/>
        </p:spPr>
        <p:txBody>
          <a:bodyPr wrap="square" lIns="0" tIns="0" rIns="0" bIns="0" rtlCol="0" anchor="t"/>
          <a:lstStyle/>
          <a:p>
            <a:pPr marL="0" indent="0" algn="ctr">
              <a:buNone/>
            </a:pPr>
            <a:r>
              <a:rPr lang="en-US" sz="1050" dirty="0"/>
              <a:t>Maximum high volume</a:t>
            </a:r>
          </a:p>
          <a:p>
            <a:pPr marL="0" indent="0" algn="ctr">
              <a:buNone/>
            </a:pPr>
            <a:r>
              <a:rPr lang="en-US" sz="1050" dirty="0"/>
              <a:t>transactions/member</a:t>
            </a:r>
          </a:p>
        </p:txBody>
      </p:sp>
      <p:sp>
        <p:nvSpPr>
          <p:cNvPr id="40" name="Text 31">
            <a:extLst>
              <a:ext uri="{FF2B5EF4-FFF2-40B4-BE49-F238E27FC236}">
                <a16:creationId xmlns:a16="http://schemas.microsoft.com/office/drawing/2014/main" id="{A6924E31-556F-ADDE-1109-4687E1CA712A}"/>
              </a:ext>
            </a:extLst>
          </p:cNvPr>
          <p:cNvSpPr/>
          <p:nvPr/>
        </p:nvSpPr>
        <p:spPr>
          <a:xfrm>
            <a:off x="7353415" y="1383792"/>
            <a:ext cx="2560320" cy="201168"/>
          </a:xfrm>
          <a:prstGeom prst="rect">
            <a:avLst/>
          </a:prstGeom>
          <a:noFill/>
          <a:ln/>
        </p:spPr>
        <p:txBody>
          <a:bodyPr wrap="square" lIns="0" tIns="0" rIns="0" bIns="0" rtlCol="0" anchor="ctr"/>
          <a:lstStyle/>
          <a:p>
            <a:pPr marL="0" indent="0">
              <a:buNone/>
            </a:pPr>
            <a:r>
              <a:rPr lang="en-US" sz="1200" b="1" kern="0" spc="120" dirty="0">
                <a:solidFill>
                  <a:srgbClr val="D51C1C"/>
                </a:solidFill>
              </a:rPr>
              <a:t>Consistency Check</a:t>
            </a:r>
            <a:endParaRPr lang="en-US" sz="1200" dirty="0"/>
          </a:p>
        </p:txBody>
      </p:sp>
      <p:sp>
        <p:nvSpPr>
          <p:cNvPr id="42" name="Shape 32">
            <a:extLst>
              <a:ext uri="{FF2B5EF4-FFF2-40B4-BE49-F238E27FC236}">
                <a16:creationId xmlns:a16="http://schemas.microsoft.com/office/drawing/2014/main" id="{BA4B864C-06C9-7415-E9A7-BA572275A23D}"/>
              </a:ext>
            </a:extLst>
          </p:cNvPr>
          <p:cNvSpPr/>
          <p:nvPr/>
        </p:nvSpPr>
        <p:spPr>
          <a:xfrm>
            <a:off x="7353415" y="1749552"/>
            <a:ext cx="4343400" cy="512064"/>
          </a:xfrm>
          <a:prstGeom prst="roundRect">
            <a:avLst/>
          </a:prstGeom>
          <a:solidFill>
            <a:srgbClr val="F8E9E7"/>
          </a:solidFill>
          <a:ln w="12700">
            <a:solidFill>
              <a:srgbClr val="D51C1C"/>
            </a:solidFill>
            <a:prstDash val="solid"/>
          </a:ln>
        </p:spPr>
        <p:txBody>
          <a:bodyPr/>
          <a:lstStyle/>
          <a:p>
            <a:endParaRPr lang="en-US"/>
          </a:p>
        </p:txBody>
      </p:sp>
      <p:sp>
        <p:nvSpPr>
          <p:cNvPr id="43" name="Text 33">
            <a:extLst>
              <a:ext uri="{FF2B5EF4-FFF2-40B4-BE49-F238E27FC236}">
                <a16:creationId xmlns:a16="http://schemas.microsoft.com/office/drawing/2014/main" id="{B3237216-6BF5-AFB5-DD1E-0C2422B957FD}"/>
              </a:ext>
            </a:extLst>
          </p:cNvPr>
          <p:cNvSpPr/>
          <p:nvPr/>
        </p:nvSpPr>
        <p:spPr>
          <a:xfrm>
            <a:off x="7536295" y="1934510"/>
            <a:ext cx="2743200" cy="164592"/>
          </a:xfrm>
          <a:prstGeom prst="rect">
            <a:avLst/>
          </a:prstGeom>
          <a:noFill/>
          <a:ln/>
        </p:spPr>
        <p:txBody>
          <a:bodyPr wrap="square" lIns="0" tIns="0" rIns="0" bIns="0" rtlCol="0" anchor="ctr"/>
          <a:lstStyle/>
          <a:p>
            <a:pPr marL="0" indent="0">
              <a:buNone/>
            </a:pPr>
            <a:r>
              <a:rPr lang="en-US" sz="1200" dirty="0">
                <a:solidFill>
                  <a:srgbClr val="1F2033"/>
                </a:solidFill>
              </a:rPr>
              <a:t>Same SKU repeated</a:t>
            </a:r>
            <a:endParaRPr lang="en-US" sz="1200" dirty="0"/>
          </a:p>
        </p:txBody>
      </p:sp>
      <p:sp>
        <p:nvSpPr>
          <p:cNvPr id="44" name="Text 34">
            <a:extLst>
              <a:ext uri="{FF2B5EF4-FFF2-40B4-BE49-F238E27FC236}">
                <a16:creationId xmlns:a16="http://schemas.microsoft.com/office/drawing/2014/main" id="{B3592282-DC45-C112-C6BA-EBC75FC04D91}"/>
              </a:ext>
            </a:extLst>
          </p:cNvPr>
          <p:cNvSpPr/>
          <p:nvPr/>
        </p:nvSpPr>
        <p:spPr>
          <a:xfrm>
            <a:off x="10279495" y="1916222"/>
            <a:ext cx="1188720" cy="182880"/>
          </a:xfrm>
          <a:prstGeom prst="rect">
            <a:avLst/>
          </a:prstGeom>
          <a:noFill/>
          <a:ln/>
        </p:spPr>
        <p:txBody>
          <a:bodyPr wrap="square" lIns="0" tIns="0" rIns="0" bIns="0" rtlCol="0" anchor="ctr"/>
          <a:lstStyle/>
          <a:p>
            <a:pPr marL="0" indent="0" algn="r">
              <a:buNone/>
            </a:pPr>
            <a:r>
              <a:rPr lang="en-US" sz="1200" b="1" dirty="0">
                <a:solidFill>
                  <a:srgbClr val="D51C1C"/>
                </a:solidFill>
              </a:rPr>
              <a:t>11 members</a:t>
            </a:r>
            <a:endParaRPr lang="en-US" sz="1200" dirty="0"/>
          </a:p>
        </p:txBody>
      </p:sp>
      <p:sp>
        <p:nvSpPr>
          <p:cNvPr id="45" name="Shape 35">
            <a:extLst>
              <a:ext uri="{FF2B5EF4-FFF2-40B4-BE49-F238E27FC236}">
                <a16:creationId xmlns:a16="http://schemas.microsoft.com/office/drawing/2014/main" id="{6D2F7613-512E-BD31-DA57-E4762B20C1CA}"/>
              </a:ext>
            </a:extLst>
          </p:cNvPr>
          <p:cNvSpPr/>
          <p:nvPr/>
        </p:nvSpPr>
        <p:spPr>
          <a:xfrm>
            <a:off x="7353415" y="2592878"/>
            <a:ext cx="4343400" cy="512064"/>
          </a:xfrm>
          <a:prstGeom prst="roundRect">
            <a:avLst/>
          </a:prstGeom>
          <a:solidFill>
            <a:srgbClr val="F8E9E7"/>
          </a:solidFill>
          <a:ln w="12700">
            <a:solidFill>
              <a:srgbClr val="D51C1C"/>
            </a:solidFill>
            <a:prstDash val="solid"/>
          </a:ln>
        </p:spPr>
        <p:txBody>
          <a:bodyPr/>
          <a:lstStyle/>
          <a:p>
            <a:endParaRPr lang="en-US"/>
          </a:p>
        </p:txBody>
      </p:sp>
      <p:sp>
        <p:nvSpPr>
          <p:cNvPr id="47" name="Text 36">
            <a:extLst>
              <a:ext uri="{FF2B5EF4-FFF2-40B4-BE49-F238E27FC236}">
                <a16:creationId xmlns:a16="http://schemas.microsoft.com/office/drawing/2014/main" id="{6301BE97-381C-65C8-BA6F-FE42D6E335AC}"/>
              </a:ext>
            </a:extLst>
          </p:cNvPr>
          <p:cNvSpPr/>
          <p:nvPr/>
        </p:nvSpPr>
        <p:spPr>
          <a:xfrm>
            <a:off x="7536295" y="2764272"/>
            <a:ext cx="2743200" cy="164592"/>
          </a:xfrm>
          <a:prstGeom prst="rect">
            <a:avLst/>
          </a:prstGeom>
          <a:noFill/>
          <a:ln/>
        </p:spPr>
        <p:txBody>
          <a:bodyPr wrap="square" lIns="0" tIns="0" rIns="0" bIns="0" rtlCol="0" anchor="ctr"/>
          <a:lstStyle/>
          <a:p>
            <a:pPr marL="0" indent="0">
              <a:buNone/>
            </a:pPr>
            <a:r>
              <a:rPr lang="en-US" sz="1200" dirty="0">
                <a:solidFill>
                  <a:srgbClr val="1F2033"/>
                </a:solidFill>
              </a:rPr>
              <a:t>Same store repeated</a:t>
            </a:r>
            <a:endParaRPr lang="en-US" sz="1200" dirty="0"/>
          </a:p>
        </p:txBody>
      </p:sp>
      <p:sp>
        <p:nvSpPr>
          <p:cNvPr id="48" name="Text 37">
            <a:extLst>
              <a:ext uri="{FF2B5EF4-FFF2-40B4-BE49-F238E27FC236}">
                <a16:creationId xmlns:a16="http://schemas.microsoft.com/office/drawing/2014/main" id="{A1822A6B-C9FF-8F83-3701-9940FB21B6B6}"/>
              </a:ext>
            </a:extLst>
          </p:cNvPr>
          <p:cNvSpPr/>
          <p:nvPr/>
        </p:nvSpPr>
        <p:spPr>
          <a:xfrm>
            <a:off x="10279495" y="2745984"/>
            <a:ext cx="1188720" cy="182880"/>
          </a:xfrm>
          <a:prstGeom prst="rect">
            <a:avLst/>
          </a:prstGeom>
          <a:noFill/>
          <a:ln/>
        </p:spPr>
        <p:txBody>
          <a:bodyPr wrap="square" lIns="0" tIns="0" rIns="0" bIns="0" rtlCol="0" anchor="ctr"/>
          <a:lstStyle/>
          <a:p>
            <a:pPr marL="0" indent="0" algn="r">
              <a:buNone/>
            </a:pPr>
            <a:r>
              <a:rPr lang="en-US" sz="1200" b="1" dirty="0">
                <a:solidFill>
                  <a:srgbClr val="D51C1C"/>
                </a:solidFill>
              </a:rPr>
              <a:t>15 members</a:t>
            </a:r>
            <a:endParaRPr lang="en-US" sz="1200" dirty="0"/>
          </a:p>
        </p:txBody>
      </p:sp>
      <p:sp>
        <p:nvSpPr>
          <p:cNvPr id="49" name="Shape 38">
            <a:extLst>
              <a:ext uri="{FF2B5EF4-FFF2-40B4-BE49-F238E27FC236}">
                <a16:creationId xmlns:a16="http://schemas.microsoft.com/office/drawing/2014/main" id="{44BF224A-F59D-D197-0D87-43357ACC7B4B}"/>
              </a:ext>
            </a:extLst>
          </p:cNvPr>
          <p:cNvSpPr/>
          <p:nvPr/>
        </p:nvSpPr>
        <p:spPr>
          <a:xfrm>
            <a:off x="7353415" y="3438338"/>
            <a:ext cx="4343400" cy="512064"/>
          </a:xfrm>
          <a:prstGeom prst="roundRect">
            <a:avLst/>
          </a:prstGeom>
          <a:solidFill>
            <a:srgbClr val="F4F0EA"/>
          </a:solidFill>
          <a:ln w="12700">
            <a:solidFill>
              <a:srgbClr val="D9D2C7"/>
            </a:solidFill>
            <a:prstDash val="solid"/>
          </a:ln>
        </p:spPr>
        <p:txBody>
          <a:bodyPr/>
          <a:lstStyle/>
          <a:p>
            <a:endParaRPr lang="en-US"/>
          </a:p>
        </p:txBody>
      </p:sp>
      <p:sp>
        <p:nvSpPr>
          <p:cNvPr id="50" name="Text 39">
            <a:extLst>
              <a:ext uri="{FF2B5EF4-FFF2-40B4-BE49-F238E27FC236}">
                <a16:creationId xmlns:a16="http://schemas.microsoft.com/office/drawing/2014/main" id="{B71B821F-1836-4249-C7DE-0B2FCF3AEA07}"/>
              </a:ext>
            </a:extLst>
          </p:cNvPr>
          <p:cNvSpPr/>
          <p:nvPr/>
        </p:nvSpPr>
        <p:spPr>
          <a:xfrm>
            <a:off x="7536295" y="3601212"/>
            <a:ext cx="2743200" cy="164592"/>
          </a:xfrm>
          <a:prstGeom prst="rect">
            <a:avLst/>
          </a:prstGeom>
          <a:noFill/>
          <a:ln/>
        </p:spPr>
        <p:txBody>
          <a:bodyPr wrap="square" lIns="0" tIns="0" rIns="0" bIns="0" rtlCol="0" anchor="ctr"/>
          <a:lstStyle/>
          <a:p>
            <a:pPr marL="0" indent="0">
              <a:buNone/>
            </a:pPr>
            <a:r>
              <a:rPr lang="en-US" sz="1200" dirty="0">
                <a:solidFill>
                  <a:srgbClr val="1F2033"/>
                </a:solidFill>
              </a:rPr>
              <a:t>Repeat members returning to same store</a:t>
            </a:r>
            <a:endParaRPr lang="en-US" sz="1200" dirty="0"/>
          </a:p>
        </p:txBody>
      </p:sp>
      <p:sp>
        <p:nvSpPr>
          <p:cNvPr id="51" name="Text 40">
            <a:extLst>
              <a:ext uri="{FF2B5EF4-FFF2-40B4-BE49-F238E27FC236}">
                <a16:creationId xmlns:a16="http://schemas.microsoft.com/office/drawing/2014/main" id="{50BCE874-2005-BB14-BB4B-34715B5528FC}"/>
              </a:ext>
            </a:extLst>
          </p:cNvPr>
          <p:cNvSpPr/>
          <p:nvPr/>
        </p:nvSpPr>
        <p:spPr>
          <a:xfrm>
            <a:off x="10279495" y="3582924"/>
            <a:ext cx="1188720" cy="182880"/>
          </a:xfrm>
          <a:prstGeom prst="rect">
            <a:avLst/>
          </a:prstGeom>
          <a:noFill/>
          <a:ln/>
        </p:spPr>
        <p:txBody>
          <a:bodyPr wrap="square" lIns="0" tIns="0" rIns="0" bIns="0" rtlCol="0" anchor="ctr"/>
          <a:lstStyle/>
          <a:p>
            <a:pPr marL="0" indent="0" algn="r">
              <a:buNone/>
            </a:pPr>
            <a:r>
              <a:rPr lang="en-US" sz="1200" b="1" dirty="0">
                <a:solidFill>
                  <a:srgbClr val="1F2033"/>
                </a:solidFill>
              </a:rPr>
              <a:t>1.68%</a:t>
            </a:r>
            <a:endParaRPr lang="en-US" sz="1200" dirty="0"/>
          </a:p>
        </p:txBody>
      </p:sp>
      <p:sp>
        <p:nvSpPr>
          <p:cNvPr id="64" name="Shape 41">
            <a:extLst>
              <a:ext uri="{FF2B5EF4-FFF2-40B4-BE49-F238E27FC236}">
                <a16:creationId xmlns:a16="http://schemas.microsoft.com/office/drawing/2014/main" id="{D9520243-84CF-8099-7D44-5BC6947005FF}"/>
              </a:ext>
            </a:extLst>
          </p:cNvPr>
          <p:cNvSpPr/>
          <p:nvPr/>
        </p:nvSpPr>
        <p:spPr>
          <a:xfrm>
            <a:off x="7353415" y="4283798"/>
            <a:ext cx="4343400" cy="512064"/>
          </a:xfrm>
          <a:prstGeom prst="roundRect">
            <a:avLst/>
          </a:prstGeom>
          <a:solidFill>
            <a:srgbClr val="F4F0EA"/>
          </a:solidFill>
          <a:ln w="12700">
            <a:solidFill>
              <a:srgbClr val="D9D2C7"/>
            </a:solidFill>
            <a:prstDash val="solid"/>
          </a:ln>
        </p:spPr>
        <p:txBody>
          <a:bodyPr/>
          <a:lstStyle/>
          <a:p>
            <a:endParaRPr lang="en-US"/>
          </a:p>
        </p:txBody>
      </p:sp>
      <p:sp>
        <p:nvSpPr>
          <p:cNvPr id="65" name="Text 42">
            <a:extLst>
              <a:ext uri="{FF2B5EF4-FFF2-40B4-BE49-F238E27FC236}">
                <a16:creationId xmlns:a16="http://schemas.microsoft.com/office/drawing/2014/main" id="{25652CE8-6002-622D-5873-9BC0DFE0F97A}"/>
              </a:ext>
            </a:extLst>
          </p:cNvPr>
          <p:cNvSpPr/>
          <p:nvPr/>
        </p:nvSpPr>
        <p:spPr>
          <a:xfrm>
            <a:off x="7536295" y="4466170"/>
            <a:ext cx="2743200" cy="164592"/>
          </a:xfrm>
          <a:prstGeom prst="rect">
            <a:avLst/>
          </a:prstGeom>
          <a:noFill/>
          <a:ln/>
        </p:spPr>
        <p:txBody>
          <a:bodyPr wrap="square" lIns="0" tIns="0" rIns="0" bIns="0" rtlCol="0" anchor="ctr"/>
          <a:lstStyle/>
          <a:p>
            <a:pPr marL="0" indent="0">
              <a:buNone/>
            </a:pPr>
            <a:r>
              <a:rPr lang="en-US" sz="1200" dirty="0">
                <a:solidFill>
                  <a:srgbClr val="1F2033"/>
                </a:solidFill>
              </a:rPr>
              <a:t>Median interval between repeats</a:t>
            </a:r>
            <a:endParaRPr lang="en-US" sz="1200" dirty="0"/>
          </a:p>
        </p:txBody>
      </p:sp>
      <p:sp>
        <p:nvSpPr>
          <p:cNvPr id="66" name="Text 43">
            <a:extLst>
              <a:ext uri="{FF2B5EF4-FFF2-40B4-BE49-F238E27FC236}">
                <a16:creationId xmlns:a16="http://schemas.microsoft.com/office/drawing/2014/main" id="{0682BB51-26B9-5BA1-5399-1A7A1A05747C}"/>
              </a:ext>
            </a:extLst>
          </p:cNvPr>
          <p:cNvSpPr/>
          <p:nvPr/>
        </p:nvSpPr>
        <p:spPr>
          <a:xfrm>
            <a:off x="10279495" y="4447882"/>
            <a:ext cx="1188720" cy="182880"/>
          </a:xfrm>
          <a:prstGeom prst="rect">
            <a:avLst/>
          </a:prstGeom>
          <a:noFill/>
          <a:ln/>
        </p:spPr>
        <p:txBody>
          <a:bodyPr wrap="square" lIns="0" tIns="0" rIns="0" bIns="0" rtlCol="0" anchor="ctr"/>
          <a:lstStyle/>
          <a:p>
            <a:pPr marL="0" indent="0" algn="r">
              <a:buNone/>
            </a:pPr>
            <a:r>
              <a:rPr lang="en-US" sz="1200" b="1" dirty="0">
                <a:solidFill>
                  <a:srgbClr val="1F2033"/>
                </a:solidFill>
              </a:rPr>
              <a:t>356 days</a:t>
            </a:r>
            <a:endParaRPr lang="en-US" sz="1200" dirty="0"/>
          </a:p>
        </p:txBody>
      </p:sp>
      <p:sp>
        <p:nvSpPr>
          <p:cNvPr id="67" name="Shape 44">
            <a:extLst>
              <a:ext uri="{FF2B5EF4-FFF2-40B4-BE49-F238E27FC236}">
                <a16:creationId xmlns:a16="http://schemas.microsoft.com/office/drawing/2014/main" id="{DF4D1AD8-3CD3-1E00-7D0E-FEBFD16C5D9D}"/>
              </a:ext>
            </a:extLst>
          </p:cNvPr>
          <p:cNvSpPr/>
          <p:nvPr/>
        </p:nvSpPr>
        <p:spPr>
          <a:xfrm>
            <a:off x="7353415" y="5129258"/>
            <a:ext cx="4343400" cy="512064"/>
          </a:xfrm>
          <a:prstGeom prst="roundRect">
            <a:avLst/>
          </a:prstGeom>
          <a:solidFill>
            <a:srgbClr val="F4F0EA"/>
          </a:solidFill>
          <a:ln w="12700">
            <a:solidFill>
              <a:srgbClr val="D9D2C7"/>
            </a:solidFill>
            <a:prstDash val="solid"/>
          </a:ln>
        </p:spPr>
        <p:txBody>
          <a:bodyPr/>
          <a:lstStyle/>
          <a:p>
            <a:endParaRPr lang="en-US"/>
          </a:p>
        </p:txBody>
      </p:sp>
      <p:sp>
        <p:nvSpPr>
          <p:cNvPr id="68" name="Text 45">
            <a:extLst>
              <a:ext uri="{FF2B5EF4-FFF2-40B4-BE49-F238E27FC236}">
                <a16:creationId xmlns:a16="http://schemas.microsoft.com/office/drawing/2014/main" id="{65228892-BAD7-8DB7-81F8-32E41F00377E}"/>
              </a:ext>
            </a:extLst>
          </p:cNvPr>
          <p:cNvSpPr/>
          <p:nvPr/>
        </p:nvSpPr>
        <p:spPr>
          <a:xfrm>
            <a:off x="7536295" y="5297424"/>
            <a:ext cx="2743200" cy="164592"/>
          </a:xfrm>
          <a:prstGeom prst="rect">
            <a:avLst/>
          </a:prstGeom>
          <a:noFill/>
          <a:ln/>
        </p:spPr>
        <p:txBody>
          <a:bodyPr wrap="square" lIns="0" tIns="0" rIns="0" bIns="0" rtlCol="0" anchor="ctr"/>
          <a:lstStyle/>
          <a:p>
            <a:pPr marL="0" indent="0">
              <a:buNone/>
            </a:pPr>
            <a:r>
              <a:rPr lang="en-US" sz="1200" dirty="0">
                <a:solidFill>
                  <a:srgbClr val="1F2033"/>
                </a:solidFill>
              </a:rPr>
              <a:t>Intervals &gt; 365 days</a:t>
            </a:r>
            <a:endParaRPr lang="en-US" sz="1200" dirty="0"/>
          </a:p>
        </p:txBody>
      </p:sp>
      <p:sp>
        <p:nvSpPr>
          <p:cNvPr id="69" name="Text 46">
            <a:extLst>
              <a:ext uri="{FF2B5EF4-FFF2-40B4-BE49-F238E27FC236}">
                <a16:creationId xmlns:a16="http://schemas.microsoft.com/office/drawing/2014/main" id="{30F3B943-0BCE-CDC0-49AB-6DEBCEE41237}"/>
              </a:ext>
            </a:extLst>
          </p:cNvPr>
          <p:cNvSpPr/>
          <p:nvPr/>
        </p:nvSpPr>
        <p:spPr>
          <a:xfrm>
            <a:off x="10279495" y="5279136"/>
            <a:ext cx="1188720" cy="182880"/>
          </a:xfrm>
          <a:prstGeom prst="rect">
            <a:avLst/>
          </a:prstGeom>
          <a:noFill/>
          <a:ln/>
        </p:spPr>
        <p:txBody>
          <a:bodyPr wrap="square" lIns="0" tIns="0" rIns="0" bIns="0" rtlCol="0" anchor="ctr"/>
          <a:lstStyle/>
          <a:p>
            <a:pPr marL="0" indent="0" algn="r">
              <a:buNone/>
            </a:pPr>
            <a:r>
              <a:rPr lang="en-US" sz="1200" b="1" dirty="0">
                <a:solidFill>
                  <a:srgbClr val="1F2033"/>
                </a:solidFill>
              </a:rPr>
              <a:t>470</a:t>
            </a:r>
            <a:endParaRPr lang="en-US" sz="1200" dirty="0"/>
          </a:p>
        </p:txBody>
      </p:sp>
    </p:spTree>
    <p:extLst>
      <p:ext uri="{BB962C8B-B14F-4D97-AF65-F5344CB8AC3E}">
        <p14:creationId xmlns:p14="http://schemas.microsoft.com/office/powerpoint/2010/main" val="3172882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C4F5D-ACCF-E2A4-85D8-C1632444B791}"/>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0F632894-58A8-D1B6-B2E8-D7970B314F70}"/>
              </a:ext>
            </a:extLst>
          </p:cNvPr>
          <p:cNvPicPr>
            <a:picLocks noChangeAspect="1"/>
          </p:cNvPicPr>
          <p:nvPr/>
        </p:nvPicPr>
        <p:blipFill>
          <a:blip r:embed="rId2"/>
          <a:stretch>
            <a:fillRect/>
          </a:stretch>
        </p:blipFill>
        <p:spPr>
          <a:xfrm>
            <a:off x="0" y="-1"/>
            <a:ext cx="12192000" cy="621791"/>
          </a:xfrm>
          <a:prstGeom prst="rect">
            <a:avLst/>
          </a:prstGeom>
        </p:spPr>
      </p:pic>
      <p:sp>
        <p:nvSpPr>
          <p:cNvPr id="2" name="Text 0">
            <a:extLst>
              <a:ext uri="{FF2B5EF4-FFF2-40B4-BE49-F238E27FC236}">
                <a16:creationId xmlns:a16="http://schemas.microsoft.com/office/drawing/2014/main" id="{C8E7DABC-0E5D-D82D-3A51-70D0F4993745}"/>
              </a:ext>
            </a:extLst>
          </p:cNvPr>
          <p:cNvSpPr/>
          <p:nvPr/>
        </p:nvSpPr>
        <p:spPr>
          <a:xfrm>
            <a:off x="530352" y="475488"/>
            <a:ext cx="6863676" cy="310894"/>
          </a:xfrm>
          <a:prstGeom prst="rect">
            <a:avLst/>
          </a:prstGeom>
          <a:noFill/>
          <a:ln/>
        </p:spPr>
        <p:txBody>
          <a:bodyPr wrap="square" lIns="0" tIns="0" rIns="0" bIns="0" rtlCol="0" anchor="ctr"/>
          <a:lstStyle/>
          <a:p>
            <a:pPr marL="0" indent="0">
              <a:buNone/>
            </a:pPr>
            <a:r>
              <a:rPr lang="en-US" sz="2800" b="1" kern="0" spc="140" dirty="0">
                <a:solidFill>
                  <a:srgbClr val="D51C1C"/>
                </a:solidFill>
              </a:rPr>
              <a:t>FINANCIAL EXPOSURE ANALYSIS</a:t>
            </a:r>
            <a:endParaRPr lang="en-US" sz="2800" dirty="0"/>
          </a:p>
        </p:txBody>
      </p:sp>
      <p:sp>
        <p:nvSpPr>
          <p:cNvPr id="3" name="Text 1">
            <a:extLst>
              <a:ext uri="{FF2B5EF4-FFF2-40B4-BE49-F238E27FC236}">
                <a16:creationId xmlns:a16="http://schemas.microsoft.com/office/drawing/2014/main" id="{AA9DBDA3-696E-DC04-22D3-BF4DB2D3E1A8}"/>
              </a:ext>
            </a:extLst>
          </p:cNvPr>
          <p:cNvSpPr/>
          <p:nvPr/>
        </p:nvSpPr>
        <p:spPr>
          <a:xfrm>
            <a:off x="530352" y="804670"/>
            <a:ext cx="10332720" cy="512064"/>
          </a:xfrm>
          <a:prstGeom prst="rect">
            <a:avLst/>
          </a:prstGeom>
          <a:noFill/>
          <a:ln/>
        </p:spPr>
        <p:txBody>
          <a:bodyPr wrap="square" lIns="0" tIns="0" rIns="0" bIns="0" rtlCol="0" anchor="ctr"/>
          <a:lstStyle/>
          <a:p>
            <a:pPr marL="0" indent="0">
              <a:buNone/>
            </a:pPr>
            <a:r>
              <a:rPr lang="en-US" sz="1400" b="1" dirty="0">
                <a:solidFill>
                  <a:srgbClr val="1F2033"/>
                </a:solidFill>
              </a:rPr>
              <a:t>High Volume Transactions Concentrate JSM Promotional Discount Exposure</a:t>
            </a:r>
            <a:endParaRPr lang="en-US" sz="1400" dirty="0"/>
          </a:p>
        </p:txBody>
      </p:sp>
      <p:sp>
        <p:nvSpPr>
          <p:cNvPr id="5" name="Shape 2">
            <a:extLst>
              <a:ext uri="{FF2B5EF4-FFF2-40B4-BE49-F238E27FC236}">
                <a16:creationId xmlns:a16="http://schemas.microsoft.com/office/drawing/2014/main" id="{F3E2B690-3E23-0BF3-51AD-9B1750F73988}"/>
              </a:ext>
            </a:extLst>
          </p:cNvPr>
          <p:cNvSpPr/>
          <p:nvPr/>
        </p:nvSpPr>
        <p:spPr>
          <a:xfrm>
            <a:off x="1216152" y="1467611"/>
            <a:ext cx="2240280" cy="1298448"/>
          </a:xfrm>
          <a:prstGeom prst="roundRect">
            <a:avLst/>
          </a:prstGeom>
          <a:solidFill>
            <a:srgbClr val="FFFFFF"/>
          </a:solidFill>
          <a:ln w="13970">
            <a:solidFill>
              <a:srgbClr val="D9D2C7"/>
            </a:solidFill>
            <a:prstDash val="solid"/>
          </a:ln>
        </p:spPr>
        <p:txBody>
          <a:bodyPr/>
          <a:lstStyle/>
          <a:p>
            <a:endParaRPr lang="en-US"/>
          </a:p>
        </p:txBody>
      </p:sp>
      <p:sp>
        <p:nvSpPr>
          <p:cNvPr id="10" name="Text 3">
            <a:extLst>
              <a:ext uri="{FF2B5EF4-FFF2-40B4-BE49-F238E27FC236}">
                <a16:creationId xmlns:a16="http://schemas.microsoft.com/office/drawing/2014/main" id="{3961D280-A428-37E8-7F05-ABE09BE973B0}"/>
              </a:ext>
            </a:extLst>
          </p:cNvPr>
          <p:cNvSpPr/>
          <p:nvPr/>
        </p:nvSpPr>
        <p:spPr>
          <a:xfrm>
            <a:off x="1344168" y="1577339"/>
            <a:ext cx="1984248" cy="384048"/>
          </a:xfrm>
          <a:prstGeom prst="rect">
            <a:avLst/>
          </a:prstGeom>
          <a:noFill/>
          <a:ln/>
        </p:spPr>
        <p:txBody>
          <a:bodyPr wrap="square" lIns="0" tIns="0" rIns="0" bIns="0" rtlCol="0" anchor="ctr"/>
          <a:lstStyle/>
          <a:p>
            <a:pPr marL="0" indent="0" algn="ctr">
              <a:buNone/>
            </a:pPr>
            <a:r>
              <a:rPr lang="en-US" sz="2400" b="1" dirty="0">
                <a:solidFill>
                  <a:srgbClr val="1F2033"/>
                </a:solidFill>
              </a:rPr>
              <a:t>Rp 7.97 B</a:t>
            </a:r>
            <a:endParaRPr lang="en-US" sz="2400" dirty="0"/>
          </a:p>
        </p:txBody>
      </p:sp>
      <p:sp>
        <p:nvSpPr>
          <p:cNvPr id="11" name="Text 4">
            <a:extLst>
              <a:ext uri="{FF2B5EF4-FFF2-40B4-BE49-F238E27FC236}">
                <a16:creationId xmlns:a16="http://schemas.microsoft.com/office/drawing/2014/main" id="{08B53202-84E6-0A32-7BF3-14EEC0DC3F43}"/>
              </a:ext>
            </a:extLst>
          </p:cNvPr>
          <p:cNvSpPr/>
          <p:nvPr/>
        </p:nvSpPr>
        <p:spPr>
          <a:xfrm>
            <a:off x="1325880" y="1997963"/>
            <a:ext cx="2020824" cy="694944"/>
          </a:xfrm>
          <a:prstGeom prst="rect">
            <a:avLst/>
          </a:prstGeom>
          <a:noFill/>
          <a:ln/>
        </p:spPr>
        <p:txBody>
          <a:bodyPr wrap="square" lIns="0" tIns="0" rIns="0" bIns="0" rtlCol="0" anchor="t"/>
          <a:lstStyle/>
          <a:p>
            <a:pPr marL="0" indent="0" algn="ctr">
              <a:buNone/>
            </a:pPr>
            <a:r>
              <a:rPr lang="en-US" sz="1100" dirty="0"/>
              <a:t>Total JSM promotional</a:t>
            </a:r>
          </a:p>
          <a:p>
            <a:pPr marL="0" indent="0" algn="ctr">
              <a:buNone/>
            </a:pPr>
            <a:r>
              <a:rPr lang="en-US" sz="1100" dirty="0"/>
              <a:t>discount exposure</a:t>
            </a:r>
          </a:p>
        </p:txBody>
      </p:sp>
      <p:sp>
        <p:nvSpPr>
          <p:cNvPr id="14" name="Shape 5">
            <a:extLst>
              <a:ext uri="{FF2B5EF4-FFF2-40B4-BE49-F238E27FC236}">
                <a16:creationId xmlns:a16="http://schemas.microsoft.com/office/drawing/2014/main" id="{E03F6F95-32B5-8166-B247-A7A20F0F19CD}"/>
              </a:ext>
            </a:extLst>
          </p:cNvPr>
          <p:cNvSpPr/>
          <p:nvPr/>
        </p:nvSpPr>
        <p:spPr>
          <a:xfrm>
            <a:off x="3685032" y="1467611"/>
            <a:ext cx="2240280" cy="1298448"/>
          </a:xfrm>
          <a:prstGeom prst="roundRect">
            <a:avLst/>
          </a:prstGeom>
          <a:solidFill>
            <a:srgbClr val="FFFFFF"/>
          </a:solidFill>
          <a:ln w="13970">
            <a:solidFill>
              <a:srgbClr val="D9D2C7"/>
            </a:solidFill>
            <a:prstDash val="solid"/>
          </a:ln>
        </p:spPr>
        <p:txBody>
          <a:bodyPr/>
          <a:lstStyle/>
          <a:p>
            <a:endParaRPr lang="en-US"/>
          </a:p>
        </p:txBody>
      </p:sp>
      <p:sp>
        <p:nvSpPr>
          <p:cNvPr id="16" name="Text 6">
            <a:extLst>
              <a:ext uri="{FF2B5EF4-FFF2-40B4-BE49-F238E27FC236}">
                <a16:creationId xmlns:a16="http://schemas.microsoft.com/office/drawing/2014/main" id="{03D2CE75-3D6F-AB64-E50A-3BB82A1DD777}"/>
              </a:ext>
            </a:extLst>
          </p:cNvPr>
          <p:cNvSpPr/>
          <p:nvPr/>
        </p:nvSpPr>
        <p:spPr>
          <a:xfrm>
            <a:off x="3813048" y="1577339"/>
            <a:ext cx="1984248" cy="384048"/>
          </a:xfrm>
          <a:prstGeom prst="rect">
            <a:avLst/>
          </a:prstGeom>
          <a:noFill/>
          <a:ln/>
        </p:spPr>
        <p:txBody>
          <a:bodyPr wrap="square" lIns="0" tIns="0" rIns="0" bIns="0" rtlCol="0" anchor="ctr"/>
          <a:lstStyle/>
          <a:p>
            <a:pPr marL="0" indent="0" algn="ctr">
              <a:buNone/>
            </a:pPr>
            <a:r>
              <a:rPr lang="en-US" sz="2400" b="1" dirty="0"/>
              <a:t>Rp 5.91 B</a:t>
            </a:r>
            <a:endParaRPr lang="en-US" sz="2400" dirty="0"/>
          </a:p>
        </p:txBody>
      </p:sp>
      <p:sp>
        <p:nvSpPr>
          <p:cNvPr id="41" name="Text 7">
            <a:extLst>
              <a:ext uri="{FF2B5EF4-FFF2-40B4-BE49-F238E27FC236}">
                <a16:creationId xmlns:a16="http://schemas.microsoft.com/office/drawing/2014/main" id="{B1E6A1B0-ADEA-AA0E-FBCB-C5E5354100C0}"/>
              </a:ext>
            </a:extLst>
          </p:cNvPr>
          <p:cNvSpPr/>
          <p:nvPr/>
        </p:nvSpPr>
        <p:spPr>
          <a:xfrm>
            <a:off x="3794760" y="1997963"/>
            <a:ext cx="2020824" cy="694944"/>
          </a:xfrm>
          <a:prstGeom prst="rect">
            <a:avLst/>
          </a:prstGeom>
          <a:noFill/>
          <a:ln/>
        </p:spPr>
        <p:txBody>
          <a:bodyPr wrap="square" lIns="0" tIns="0" rIns="0" bIns="0" rtlCol="0" anchor="t"/>
          <a:lstStyle/>
          <a:p>
            <a:pPr marL="0" indent="0" algn="ctr">
              <a:buNone/>
            </a:pPr>
            <a:r>
              <a:rPr lang="en-US" sz="1100" dirty="0"/>
              <a:t>Discount exposure from</a:t>
            </a:r>
          </a:p>
          <a:p>
            <a:pPr marL="0" indent="0" algn="ctr">
              <a:buNone/>
            </a:pPr>
            <a:r>
              <a:rPr lang="en-US" sz="1100" dirty="0"/>
              <a:t>High volume purchases</a:t>
            </a:r>
          </a:p>
        </p:txBody>
      </p:sp>
      <p:sp>
        <p:nvSpPr>
          <p:cNvPr id="46" name="Shape 8">
            <a:extLst>
              <a:ext uri="{FF2B5EF4-FFF2-40B4-BE49-F238E27FC236}">
                <a16:creationId xmlns:a16="http://schemas.microsoft.com/office/drawing/2014/main" id="{7F822DD2-59AB-A61A-B4E9-B41DB207D8D1}"/>
              </a:ext>
            </a:extLst>
          </p:cNvPr>
          <p:cNvSpPr/>
          <p:nvPr/>
        </p:nvSpPr>
        <p:spPr>
          <a:xfrm>
            <a:off x="6153912" y="1467611"/>
            <a:ext cx="2240280" cy="1298448"/>
          </a:xfrm>
          <a:prstGeom prst="roundRect">
            <a:avLst/>
          </a:prstGeom>
          <a:solidFill>
            <a:srgbClr val="FFFFFF"/>
          </a:solidFill>
          <a:ln w="13970">
            <a:solidFill>
              <a:srgbClr val="D9D2C7"/>
            </a:solidFill>
            <a:prstDash val="solid"/>
          </a:ln>
        </p:spPr>
        <p:txBody>
          <a:bodyPr/>
          <a:lstStyle/>
          <a:p>
            <a:endParaRPr lang="en-US"/>
          </a:p>
        </p:txBody>
      </p:sp>
      <p:sp>
        <p:nvSpPr>
          <p:cNvPr id="52" name="Text 9">
            <a:extLst>
              <a:ext uri="{FF2B5EF4-FFF2-40B4-BE49-F238E27FC236}">
                <a16:creationId xmlns:a16="http://schemas.microsoft.com/office/drawing/2014/main" id="{FA8A66D8-CBB1-C7D1-F66C-0C3E404186E2}"/>
              </a:ext>
            </a:extLst>
          </p:cNvPr>
          <p:cNvSpPr/>
          <p:nvPr/>
        </p:nvSpPr>
        <p:spPr>
          <a:xfrm>
            <a:off x="6281928" y="1577339"/>
            <a:ext cx="1984248" cy="384048"/>
          </a:xfrm>
          <a:prstGeom prst="rect">
            <a:avLst/>
          </a:prstGeom>
          <a:noFill/>
          <a:ln/>
        </p:spPr>
        <p:txBody>
          <a:bodyPr wrap="square" lIns="0" tIns="0" rIns="0" bIns="0" rtlCol="0" anchor="ctr"/>
          <a:lstStyle/>
          <a:p>
            <a:pPr marL="0" indent="0" algn="ctr">
              <a:buNone/>
            </a:pPr>
            <a:r>
              <a:rPr lang="en-US" sz="2400" b="1" dirty="0"/>
              <a:t>74.14%</a:t>
            </a:r>
            <a:endParaRPr lang="en-US" sz="2400" dirty="0"/>
          </a:p>
        </p:txBody>
      </p:sp>
      <p:sp>
        <p:nvSpPr>
          <p:cNvPr id="53" name="Text 10">
            <a:extLst>
              <a:ext uri="{FF2B5EF4-FFF2-40B4-BE49-F238E27FC236}">
                <a16:creationId xmlns:a16="http://schemas.microsoft.com/office/drawing/2014/main" id="{EC07C098-D519-9EC0-5B0D-6C6F764FF6EA}"/>
              </a:ext>
            </a:extLst>
          </p:cNvPr>
          <p:cNvSpPr/>
          <p:nvPr/>
        </p:nvSpPr>
        <p:spPr>
          <a:xfrm>
            <a:off x="6263640" y="1997963"/>
            <a:ext cx="2020824" cy="694944"/>
          </a:xfrm>
          <a:prstGeom prst="rect">
            <a:avLst/>
          </a:prstGeom>
          <a:noFill/>
          <a:ln/>
        </p:spPr>
        <p:txBody>
          <a:bodyPr wrap="square" lIns="0" tIns="0" rIns="0" bIns="0" rtlCol="0" anchor="t"/>
          <a:lstStyle/>
          <a:p>
            <a:pPr marL="0" indent="0" algn="ctr">
              <a:buNone/>
            </a:pPr>
            <a:r>
              <a:rPr lang="en-US" sz="1100" dirty="0"/>
              <a:t>Share of total JSM discount</a:t>
            </a:r>
          </a:p>
          <a:p>
            <a:pPr marL="0" indent="0" algn="ctr">
              <a:buNone/>
            </a:pPr>
            <a:r>
              <a:rPr lang="en-US" sz="1100" dirty="0"/>
              <a:t>associated with high volume</a:t>
            </a:r>
          </a:p>
        </p:txBody>
      </p:sp>
      <p:sp>
        <p:nvSpPr>
          <p:cNvPr id="54" name="Shape 11">
            <a:extLst>
              <a:ext uri="{FF2B5EF4-FFF2-40B4-BE49-F238E27FC236}">
                <a16:creationId xmlns:a16="http://schemas.microsoft.com/office/drawing/2014/main" id="{6855A558-E48D-349D-6676-DE30F4F32AD9}"/>
              </a:ext>
            </a:extLst>
          </p:cNvPr>
          <p:cNvSpPr/>
          <p:nvPr/>
        </p:nvSpPr>
        <p:spPr>
          <a:xfrm>
            <a:off x="8622792" y="1467611"/>
            <a:ext cx="2240280" cy="1298448"/>
          </a:xfrm>
          <a:prstGeom prst="roundRect">
            <a:avLst/>
          </a:prstGeom>
          <a:solidFill>
            <a:srgbClr val="FFFFFF"/>
          </a:solidFill>
          <a:ln w="13970">
            <a:solidFill>
              <a:srgbClr val="D9D2C7"/>
            </a:solidFill>
            <a:prstDash val="solid"/>
          </a:ln>
        </p:spPr>
        <p:txBody>
          <a:bodyPr/>
          <a:lstStyle/>
          <a:p>
            <a:endParaRPr lang="en-US"/>
          </a:p>
        </p:txBody>
      </p:sp>
      <p:sp>
        <p:nvSpPr>
          <p:cNvPr id="55" name="Text 12">
            <a:extLst>
              <a:ext uri="{FF2B5EF4-FFF2-40B4-BE49-F238E27FC236}">
                <a16:creationId xmlns:a16="http://schemas.microsoft.com/office/drawing/2014/main" id="{BB9833FB-4C80-95EE-2EC0-CB33CF266EDE}"/>
              </a:ext>
            </a:extLst>
          </p:cNvPr>
          <p:cNvSpPr/>
          <p:nvPr/>
        </p:nvSpPr>
        <p:spPr>
          <a:xfrm>
            <a:off x="8750808" y="1577339"/>
            <a:ext cx="1984248" cy="384048"/>
          </a:xfrm>
          <a:prstGeom prst="rect">
            <a:avLst/>
          </a:prstGeom>
          <a:noFill/>
          <a:ln/>
        </p:spPr>
        <p:txBody>
          <a:bodyPr wrap="square" lIns="0" tIns="0" rIns="0" bIns="0" rtlCol="0" anchor="ctr"/>
          <a:lstStyle/>
          <a:p>
            <a:pPr marL="0" indent="0" algn="ctr">
              <a:buNone/>
            </a:pPr>
            <a:r>
              <a:rPr lang="en-US" sz="2400" b="1" dirty="0">
                <a:solidFill>
                  <a:srgbClr val="1F2033"/>
                </a:solidFill>
              </a:rPr>
              <a:t>25.06%</a:t>
            </a:r>
            <a:endParaRPr lang="en-US" sz="2400" dirty="0"/>
          </a:p>
        </p:txBody>
      </p:sp>
      <p:sp>
        <p:nvSpPr>
          <p:cNvPr id="56" name="Text 13">
            <a:extLst>
              <a:ext uri="{FF2B5EF4-FFF2-40B4-BE49-F238E27FC236}">
                <a16:creationId xmlns:a16="http://schemas.microsoft.com/office/drawing/2014/main" id="{C3A91E20-B755-667F-DF9C-33819E3A3AE7}"/>
              </a:ext>
            </a:extLst>
          </p:cNvPr>
          <p:cNvSpPr/>
          <p:nvPr/>
        </p:nvSpPr>
        <p:spPr>
          <a:xfrm>
            <a:off x="8732520" y="1997963"/>
            <a:ext cx="2020824" cy="694944"/>
          </a:xfrm>
          <a:prstGeom prst="rect">
            <a:avLst/>
          </a:prstGeom>
          <a:noFill/>
          <a:ln/>
        </p:spPr>
        <p:txBody>
          <a:bodyPr wrap="square" lIns="0" tIns="0" rIns="0" bIns="0" rtlCol="0" anchor="t"/>
          <a:lstStyle/>
          <a:p>
            <a:pPr marL="0" indent="0" algn="ctr">
              <a:buNone/>
            </a:pPr>
            <a:r>
              <a:rPr lang="en-US" sz="1100" dirty="0"/>
              <a:t>High volume transaction rate</a:t>
            </a:r>
          </a:p>
          <a:p>
            <a:pPr marL="0" indent="0" algn="ctr">
              <a:buNone/>
            </a:pPr>
            <a:r>
              <a:rPr lang="en-US" sz="1100" dirty="0"/>
              <a:t>on JSM days</a:t>
            </a:r>
          </a:p>
        </p:txBody>
      </p:sp>
      <p:graphicFrame>
        <p:nvGraphicFramePr>
          <p:cNvPr id="57" name="Chart 0">
            <a:extLst>
              <a:ext uri="{FF2B5EF4-FFF2-40B4-BE49-F238E27FC236}">
                <a16:creationId xmlns:a16="http://schemas.microsoft.com/office/drawing/2014/main" id="{1CE0525B-DE3C-9ADE-D8CF-CA0B5BD523BB}"/>
              </a:ext>
            </a:extLst>
          </p:cNvPr>
          <p:cNvGraphicFramePr/>
          <p:nvPr>
            <p:extLst>
              <p:ext uri="{D42A27DB-BD31-4B8C-83A1-F6EECF244321}">
                <p14:modId xmlns:p14="http://schemas.microsoft.com/office/powerpoint/2010/main" val="2478115449"/>
              </p:ext>
            </p:extLst>
          </p:nvPr>
        </p:nvGraphicFramePr>
        <p:xfrm>
          <a:off x="868680" y="3154680"/>
          <a:ext cx="438912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58" name="Text 14">
            <a:extLst>
              <a:ext uri="{FF2B5EF4-FFF2-40B4-BE49-F238E27FC236}">
                <a16:creationId xmlns:a16="http://schemas.microsoft.com/office/drawing/2014/main" id="{FBEA888F-2454-7728-FED2-05C749CDD456}"/>
              </a:ext>
            </a:extLst>
          </p:cNvPr>
          <p:cNvSpPr/>
          <p:nvPr/>
        </p:nvSpPr>
        <p:spPr>
          <a:xfrm>
            <a:off x="502920" y="4343400"/>
            <a:ext cx="1920240" cy="438912"/>
          </a:xfrm>
          <a:prstGeom prst="rect">
            <a:avLst/>
          </a:prstGeom>
          <a:noFill/>
          <a:ln/>
        </p:spPr>
        <p:txBody>
          <a:bodyPr wrap="square" lIns="0" tIns="0" rIns="0" bIns="0" rtlCol="0" anchor="ctr"/>
          <a:lstStyle/>
          <a:p>
            <a:pPr marL="0" indent="0" algn="ctr">
              <a:buNone/>
            </a:pPr>
            <a:r>
              <a:rPr lang="en-US" sz="3000" b="1" dirty="0">
                <a:solidFill>
                  <a:srgbClr val="D51C1C"/>
                </a:solidFill>
              </a:rPr>
              <a:t>74.14%</a:t>
            </a:r>
            <a:endParaRPr lang="en-US" sz="3000" dirty="0"/>
          </a:p>
        </p:txBody>
      </p:sp>
      <p:sp>
        <p:nvSpPr>
          <p:cNvPr id="59" name="Text 15">
            <a:extLst>
              <a:ext uri="{FF2B5EF4-FFF2-40B4-BE49-F238E27FC236}">
                <a16:creationId xmlns:a16="http://schemas.microsoft.com/office/drawing/2014/main" id="{E12D0C7D-956D-B19E-4D40-C09B0E9A4477}"/>
              </a:ext>
            </a:extLst>
          </p:cNvPr>
          <p:cNvSpPr/>
          <p:nvPr/>
        </p:nvSpPr>
        <p:spPr>
          <a:xfrm>
            <a:off x="411480" y="4828032"/>
            <a:ext cx="2103120" cy="219456"/>
          </a:xfrm>
          <a:prstGeom prst="rect">
            <a:avLst/>
          </a:prstGeom>
          <a:noFill/>
          <a:ln/>
        </p:spPr>
        <p:txBody>
          <a:bodyPr wrap="square" lIns="0" tIns="0" rIns="0" bIns="0" rtlCol="0" anchor="ctr"/>
          <a:lstStyle/>
          <a:p>
            <a:pPr marL="0" indent="0" algn="ctr">
              <a:buNone/>
            </a:pPr>
            <a:r>
              <a:rPr lang="en-US" sz="1100" dirty="0"/>
              <a:t>of JSM discount exposure</a:t>
            </a:r>
          </a:p>
        </p:txBody>
      </p:sp>
      <p:sp>
        <p:nvSpPr>
          <p:cNvPr id="60" name="Text 16">
            <a:extLst>
              <a:ext uri="{FF2B5EF4-FFF2-40B4-BE49-F238E27FC236}">
                <a16:creationId xmlns:a16="http://schemas.microsoft.com/office/drawing/2014/main" id="{7632189C-6BEE-4DA0-E9C4-4BB07795462E}"/>
              </a:ext>
            </a:extLst>
          </p:cNvPr>
          <p:cNvSpPr/>
          <p:nvPr/>
        </p:nvSpPr>
        <p:spPr>
          <a:xfrm>
            <a:off x="5714999" y="3246120"/>
            <a:ext cx="3996159" cy="365760"/>
          </a:xfrm>
          <a:prstGeom prst="rect">
            <a:avLst/>
          </a:prstGeom>
          <a:noFill/>
          <a:ln/>
        </p:spPr>
        <p:txBody>
          <a:bodyPr wrap="square" lIns="0" tIns="0" rIns="0" bIns="0" rtlCol="0" anchor="ctr"/>
          <a:lstStyle/>
          <a:p>
            <a:pPr marL="0" indent="0">
              <a:buNone/>
            </a:pPr>
            <a:r>
              <a:rPr lang="en-US" sz="1600" b="1" kern="0" spc="120" dirty="0">
                <a:solidFill>
                  <a:srgbClr val="D51C1C"/>
                </a:solidFill>
              </a:rPr>
              <a:t>Business Interpretation</a:t>
            </a:r>
            <a:endParaRPr lang="en-US" sz="1600" dirty="0"/>
          </a:p>
        </p:txBody>
      </p:sp>
      <p:sp>
        <p:nvSpPr>
          <p:cNvPr id="61" name="Text 17">
            <a:extLst>
              <a:ext uri="{FF2B5EF4-FFF2-40B4-BE49-F238E27FC236}">
                <a16:creationId xmlns:a16="http://schemas.microsoft.com/office/drawing/2014/main" id="{885D1634-A090-95AF-3266-AA2ECB516A76}"/>
              </a:ext>
            </a:extLst>
          </p:cNvPr>
          <p:cNvSpPr/>
          <p:nvPr/>
        </p:nvSpPr>
        <p:spPr>
          <a:xfrm>
            <a:off x="5715000" y="3611880"/>
            <a:ext cx="5166360" cy="1325880"/>
          </a:xfrm>
          <a:prstGeom prst="rect">
            <a:avLst/>
          </a:prstGeom>
          <a:noFill/>
          <a:ln/>
        </p:spPr>
        <p:txBody>
          <a:bodyPr wrap="square" lIns="254" tIns="254" rIns="254" bIns="254" rtlCol="0" anchor="ctr"/>
          <a:lstStyle/>
          <a:p>
            <a:pPr marL="0" indent="0">
              <a:buNone/>
            </a:pPr>
            <a:r>
              <a:rPr lang="en-US" sz="1400" dirty="0">
                <a:solidFill>
                  <a:srgbClr val="1F2033"/>
                </a:solidFill>
              </a:rPr>
              <a:t>High volume transactions are not the majority of JSM transactions, </a:t>
            </a:r>
            <a:r>
              <a:rPr lang="en-US" sz="1400" b="1" dirty="0"/>
              <a:t>but they account for nearly three quarters of promotional discount exposure.</a:t>
            </a:r>
            <a:endParaRPr lang="en-US" sz="1400" dirty="0"/>
          </a:p>
          <a:p>
            <a:pPr marL="0" indent="0">
              <a:buNone/>
            </a:pPr>
            <a:endParaRPr lang="en-US" sz="1400" dirty="0"/>
          </a:p>
          <a:p>
            <a:pPr marL="0" indent="0">
              <a:buNone/>
            </a:pPr>
            <a:r>
              <a:rPr lang="en-US" sz="1400" dirty="0">
                <a:solidFill>
                  <a:srgbClr val="1F2033"/>
                </a:solidFill>
              </a:rPr>
              <a:t>This makes quantity eligibility a meaningful promotion control lever.</a:t>
            </a:r>
            <a:endParaRPr lang="en-US" sz="1400" dirty="0"/>
          </a:p>
        </p:txBody>
      </p:sp>
      <p:sp>
        <p:nvSpPr>
          <p:cNvPr id="62" name="Shape 18">
            <a:extLst>
              <a:ext uri="{FF2B5EF4-FFF2-40B4-BE49-F238E27FC236}">
                <a16:creationId xmlns:a16="http://schemas.microsoft.com/office/drawing/2014/main" id="{F877C4BF-1CF3-77F9-2BEF-DDC05C3D4D8C}"/>
              </a:ext>
            </a:extLst>
          </p:cNvPr>
          <p:cNvSpPr/>
          <p:nvPr/>
        </p:nvSpPr>
        <p:spPr>
          <a:xfrm>
            <a:off x="5715000" y="5166360"/>
            <a:ext cx="5166360" cy="658368"/>
          </a:xfrm>
          <a:prstGeom prst="roundRect">
            <a:avLst>
              <a:gd name="adj" fmla="val 11111"/>
            </a:avLst>
          </a:prstGeom>
          <a:solidFill>
            <a:srgbClr val="FFFFFF"/>
          </a:solidFill>
          <a:ln w="15240">
            <a:solidFill>
              <a:srgbClr val="ED1B24"/>
            </a:solidFill>
            <a:prstDash val="dash"/>
          </a:ln>
          <a:effectLst>
            <a:outerShdw blurRad="12700" dist="50800" dir="2700000" algn="bl" rotWithShape="0">
              <a:srgbClr val="D0CBC4">
                <a:alpha val="18000"/>
              </a:srgbClr>
            </a:outerShdw>
          </a:effectLst>
        </p:spPr>
        <p:txBody>
          <a:bodyPr/>
          <a:lstStyle/>
          <a:p>
            <a:endParaRPr lang="en-US"/>
          </a:p>
        </p:txBody>
      </p:sp>
      <p:sp>
        <p:nvSpPr>
          <p:cNvPr id="63" name="Text 19">
            <a:extLst>
              <a:ext uri="{FF2B5EF4-FFF2-40B4-BE49-F238E27FC236}">
                <a16:creationId xmlns:a16="http://schemas.microsoft.com/office/drawing/2014/main" id="{321A0696-FEA6-A482-DB54-13533C022075}"/>
              </a:ext>
            </a:extLst>
          </p:cNvPr>
          <p:cNvSpPr/>
          <p:nvPr/>
        </p:nvSpPr>
        <p:spPr>
          <a:xfrm>
            <a:off x="5861304" y="5257800"/>
            <a:ext cx="4873752" cy="475488"/>
          </a:xfrm>
          <a:prstGeom prst="rect">
            <a:avLst/>
          </a:prstGeom>
          <a:noFill/>
          <a:ln/>
        </p:spPr>
        <p:txBody>
          <a:bodyPr wrap="square" lIns="254" tIns="254" rIns="254" bIns="254" rtlCol="0" anchor="ctr"/>
          <a:lstStyle/>
          <a:p>
            <a:pPr marL="0" indent="0">
              <a:buNone/>
            </a:pPr>
            <a:r>
              <a:rPr lang="en-US" sz="1350" dirty="0">
                <a:solidFill>
                  <a:srgbClr val="1F2033"/>
                </a:solidFill>
              </a:rPr>
              <a:t>This is promotional discount exposure, not proven profit leakage. Actual profit impact would require product level margin/COGS data.</a:t>
            </a:r>
            <a:endParaRPr lang="en-US" sz="1350" dirty="0"/>
          </a:p>
        </p:txBody>
      </p:sp>
    </p:spTree>
    <p:extLst>
      <p:ext uri="{BB962C8B-B14F-4D97-AF65-F5344CB8AC3E}">
        <p14:creationId xmlns:p14="http://schemas.microsoft.com/office/powerpoint/2010/main" val="587928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A6003-79BC-7491-0EA7-C9346AEE88C2}"/>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9C6578BC-AFD3-F270-EEA1-4148EED88D03}"/>
              </a:ext>
            </a:extLst>
          </p:cNvPr>
          <p:cNvPicPr>
            <a:picLocks noChangeAspect="1"/>
          </p:cNvPicPr>
          <p:nvPr/>
        </p:nvPicPr>
        <p:blipFill>
          <a:blip r:embed="rId2"/>
          <a:stretch>
            <a:fillRect/>
          </a:stretch>
        </p:blipFill>
        <p:spPr>
          <a:xfrm>
            <a:off x="0" y="-1"/>
            <a:ext cx="12192000" cy="621791"/>
          </a:xfrm>
          <a:prstGeom prst="rect">
            <a:avLst/>
          </a:prstGeom>
        </p:spPr>
      </p:pic>
      <p:sp>
        <p:nvSpPr>
          <p:cNvPr id="4" name="Text 0">
            <a:extLst>
              <a:ext uri="{FF2B5EF4-FFF2-40B4-BE49-F238E27FC236}">
                <a16:creationId xmlns:a16="http://schemas.microsoft.com/office/drawing/2014/main" id="{63AC0864-4CDD-18C3-1CC0-3DE924F56D63}"/>
              </a:ext>
            </a:extLst>
          </p:cNvPr>
          <p:cNvSpPr/>
          <p:nvPr/>
        </p:nvSpPr>
        <p:spPr>
          <a:xfrm>
            <a:off x="530351" y="475487"/>
            <a:ext cx="6355357" cy="512063"/>
          </a:xfrm>
          <a:prstGeom prst="rect">
            <a:avLst/>
          </a:prstGeom>
          <a:noFill/>
          <a:ln/>
        </p:spPr>
        <p:txBody>
          <a:bodyPr wrap="square" lIns="0" tIns="0" rIns="0" bIns="0" rtlCol="0" anchor="ctr"/>
          <a:lstStyle/>
          <a:p>
            <a:pPr marL="0" indent="0">
              <a:buNone/>
            </a:pPr>
            <a:r>
              <a:rPr lang="en-US" sz="2800" b="1" kern="0" spc="140" dirty="0">
                <a:solidFill>
                  <a:srgbClr val="D51C1C"/>
                </a:solidFill>
              </a:rPr>
              <a:t>POLICY TRADE-OFF ANALYSIS</a:t>
            </a:r>
            <a:endParaRPr lang="en-US" sz="2800" dirty="0"/>
          </a:p>
        </p:txBody>
      </p:sp>
      <p:sp>
        <p:nvSpPr>
          <p:cNvPr id="6" name="Text 1">
            <a:extLst>
              <a:ext uri="{FF2B5EF4-FFF2-40B4-BE49-F238E27FC236}">
                <a16:creationId xmlns:a16="http://schemas.microsoft.com/office/drawing/2014/main" id="{0BDE12FF-3662-228C-56C4-F7AC4874900D}"/>
              </a:ext>
            </a:extLst>
          </p:cNvPr>
          <p:cNvSpPr/>
          <p:nvPr/>
        </p:nvSpPr>
        <p:spPr>
          <a:xfrm>
            <a:off x="530352" y="877823"/>
            <a:ext cx="10332720" cy="512064"/>
          </a:xfrm>
          <a:prstGeom prst="rect">
            <a:avLst/>
          </a:prstGeom>
          <a:noFill/>
          <a:ln/>
        </p:spPr>
        <p:txBody>
          <a:bodyPr wrap="square" lIns="0" tIns="0" rIns="0" bIns="0" rtlCol="0" anchor="ctr"/>
          <a:lstStyle/>
          <a:p>
            <a:pPr marL="0" indent="0">
              <a:buNone/>
            </a:pPr>
            <a:r>
              <a:rPr lang="en-US" sz="1400" b="1" dirty="0">
                <a:solidFill>
                  <a:srgbClr val="1F2033"/>
                </a:solidFill>
              </a:rPr>
              <a:t>Universal quantity limits protect more discount, but affect more transactions</a:t>
            </a:r>
            <a:endParaRPr lang="en-US" sz="1400" dirty="0"/>
          </a:p>
        </p:txBody>
      </p:sp>
      <p:sp>
        <p:nvSpPr>
          <p:cNvPr id="7" name="Text 2">
            <a:extLst>
              <a:ext uri="{FF2B5EF4-FFF2-40B4-BE49-F238E27FC236}">
                <a16:creationId xmlns:a16="http://schemas.microsoft.com/office/drawing/2014/main" id="{1A739B6C-C6CE-64A2-4A40-C2DD40CE5F11}"/>
              </a:ext>
            </a:extLst>
          </p:cNvPr>
          <p:cNvSpPr/>
          <p:nvPr/>
        </p:nvSpPr>
        <p:spPr>
          <a:xfrm>
            <a:off x="548640" y="1792225"/>
            <a:ext cx="2560320" cy="201168"/>
          </a:xfrm>
          <a:prstGeom prst="rect">
            <a:avLst/>
          </a:prstGeom>
          <a:noFill/>
          <a:ln/>
        </p:spPr>
        <p:txBody>
          <a:bodyPr wrap="square" lIns="0" tIns="0" rIns="0" bIns="0" rtlCol="0" anchor="ctr"/>
          <a:lstStyle/>
          <a:p>
            <a:pPr marL="0" indent="0">
              <a:buNone/>
            </a:pPr>
            <a:r>
              <a:rPr lang="en-US" sz="1100" b="1" kern="0" spc="120" dirty="0">
                <a:solidFill>
                  <a:srgbClr val="D51C1C"/>
                </a:solidFill>
              </a:rPr>
              <a:t>Universal Cap Scenarios</a:t>
            </a:r>
            <a:endParaRPr lang="en-US" sz="1100" dirty="0"/>
          </a:p>
        </p:txBody>
      </p:sp>
      <p:graphicFrame>
        <p:nvGraphicFramePr>
          <p:cNvPr id="8" name="Chart 0">
            <a:extLst>
              <a:ext uri="{FF2B5EF4-FFF2-40B4-BE49-F238E27FC236}">
                <a16:creationId xmlns:a16="http://schemas.microsoft.com/office/drawing/2014/main" id="{F3263EF6-E00A-B29E-46C2-401D47BC0882}"/>
              </a:ext>
            </a:extLst>
          </p:cNvPr>
          <p:cNvGraphicFramePr/>
          <p:nvPr>
            <p:extLst>
              <p:ext uri="{D42A27DB-BD31-4B8C-83A1-F6EECF244321}">
                <p14:modId xmlns:p14="http://schemas.microsoft.com/office/powerpoint/2010/main" val="3720495190"/>
              </p:ext>
            </p:extLst>
          </p:nvPr>
        </p:nvGraphicFramePr>
        <p:xfrm>
          <a:off x="640080" y="2093977"/>
          <a:ext cx="699516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3">
            <a:extLst>
              <a:ext uri="{FF2B5EF4-FFF2-40B4-BE49-F238E27FC236}">
                <a16:creationId xmlns:a16="http://schemas.microsoft.com/office/drawing/2014/main" id="{12A6914E-D14E-97EC-CEDC-C735B2446255}"/>
              </a:ext>
            </a:extLst>
          </p:cNvPr>
          <p:cNvSpPr/>
          <p:nvPr/>
        </p:nvSpPr>
        <p:spPr>
          <a:xfrm>
            <a:off x="7973568" y="1792225"/>
            <a:ext cx="2286000" cy="201168"/>
          </a:xfrm>
          <a:prstGeom prst="rect">
            <a:avLst/>
          </a:prstGeom>
          <a:noFill/>
          <a:ln/>
        </p:spPr>
        <p:txBody>
          <a:bodyPr wrap="square" lIns="0" tIns="0" rIns="0" bIns="0" rtlCol="0" anchor="ctr"/>
          <a:lstStyle/>
          <a:p>
            <a:pPr marL="0" indent="0">
              <a:buNone/>
            </a:pPr>
            <a:r>
              <a:rPr lang="en-US" sz="1100" b="1" kern="0" spc="120" dirty="0">
                <a:solidFill>
                  <a:srgbClr val="D51C1C"/>
                </a:solidFill>
              </a:rPr>
              <a:t>Potential Reduction</a:t>
            </a:r>
            <a:endParaRPr lang="en-US" sz="1100" dirty="0"/>
          </a:p>
        </p:txBody>
      </p:sp>
      <p:sp>
        <p:nvSpPr>
          <p:cNvPr id="12" name="Shape 4">
            <a:extLst>
              <a:ext uri="{FF2B5EF4-FFF2-40B4-BE49-F238E27FC236}">
                <a16:creationId xmlns:a16="http://schemas.microsoft.com/office/drawing/2014/main" id="{4DF9D2A3-888D-7DF9-F6F5-7428EF5E17AF}"/>
              </a:ext>
            </a:extLst>
          </p:cNvPr>
          <p:cNvSpPr/>
          <p:nvPr/>
        </p:nvSpPr>
        <p:spPr>
          <a:xfrm>
            <a:off x="7973568" y="2139697"/>
            <a:ext cx="3383280" cy="512064"/>
          </a:xfrm>
          <a:prstGeom prst="roundRect">
            <a:avLst/>
          </a:prstGeom>
          <a:solidFill>
            <a:srgbClr val="FFFFFF"/>
          </a:solidFill>
          <a:ln w="12700">
            <a:solidFill>
              <a:srgbClr val="D9D2C7"/>
            </a:solidFill>
            <a:prstDash val="solid"/>
          </a:ln>
        </p:spPr>
        <p:txBody>
          <a:bodyPr/>
          <a:lstStyle/>
          <a:p>
            <a:endParaRPr lang="en-US" sz="2000"/>
          </a:p>
        </p:txBody>
      </p:sp>
      <p:sp>
        <p:nvSpPr>
          <p:cNvPr id="13" name="Text 5">
            <a:extLst>
              <a:ext uri="{FF2B5EF4-FFF2-40B4-BE49-F238E27FC236}">
                <a16:creationId xmlns:a16="http://schemas.microsoft.com/office/drawing/2014/main" id="{868EE7A9-F662-4914-075C-7DBD673C5833}"/>
              </a:ext>
            </a:extLst>
          </p:cNvPr>
          <p:cNvSpPr/>
          <p:nvPr/>
        </p:nvSpPr>
        <p:spPr>
          <a:xfrm>
            <a:off x="8119872" y="2322577"/>
            <a:ext cx="1280160" cy="164592"/>
          </a:xfrm>
          <a:prstGeom prst="rect">
            <a:avLst/>
          </a:prstGeom>
          <a:noFill/>
          <a:ln/>
        </p:spPr>
        <p:txBody>
          <a:bodyPr wrap="square" lIns="0" tIns="0" rIns="0" bIns="0" rtlCol="0" anchor="ctr"/>
          <a:lstStyle/>
          <a:p>
            <a:pPr marL="0" indent="0">
              <a:buNone/>
            </a:pPr>
            <a:r>
              <a:rPr lang="en-US" sz="1200" dirty="0">
                <a:solidFill>
                  <a:srgbClr val="1F2033"/>
                </a:solidFill>
              </a:rPr>
              <a:t>Limit 10</a:t>
            </a:r>
            <a:endParaRPr lang="en-US" sz="1200" dirty="0"/>
          </a:p>
        </p:txBody>
      </p:sp>
      <p:sp>
        <p:nvSpPr>
          <p:cNvPr id="17" name="Text 6">
            <a:extLst>
              <a:ext uri="{FF2B5EF4-FFF2-40B4-BE49-F238E27FC236}">
                <a16:creationId xmlns:a16="http://schemas.microsoft.com/office/drawing/2014/main" id="{A0E634EC-6BCB-25F0-5967-C6DC85FE0E62}"/>
              </a:ext>
            </a:extLst>
          </p:cNvPr>
          <p:cNvSpPr/>
          <p:nvPr/>
        </p:nvSpPr>
        <p:spPr>
          <a:xfrm>
            <a:off x="9747504" y="2304289"/>
            <a:ext cx="1325880" cy="182880"/>
          </a:xfrm>
          <a:prstGeom prst="rect">
            <a:avLst/>
          </a:prstGeom>
          <a:noFill/>
          <a:ln/>
        </p:spPr>
        <p:txBody>
          <a:bodyPr wrap="square" lIns="0" tIns="0" rIns="0" bIns="0" rtlCol="0" anchor="ctr"/>
          <a:lstStyle/>
          <a:p>
            <a:pPr marL="0" indent="0" algn="r">
              <a:buNone/>
            </a:pPr>
            <a:r>
              <a:rPr lang="en-US" sz="1400" b="1" dirty="0">
                <a:solidFill>
                  <a:srgbClr val="23232B"/>
                </a:solidFill>
              </a:rPr>
              <a:t>Rp 5.94 B</a:t>
            </a:r>
            <a:endParaRPr lang="en-US" sz="1400" dirty="0"/>
          </a:p>
        </p:txBody>
      </p:sp>
      <p:sp>
        <p:nvSpPr>
          <p:cNvPr id="18" name="Shape 7">
            <a:extLst>
              <a:ext uri="{FF2B5EF4-FFF2-40B4-BE49-F238E27FC236}">
                <a16:creationId xmlns:a16="http://schemas.microsoft.com/office/drawing/2014/main" id="{5277791D-5E35-F19A-5C1B-CF426415245E}"/>
              </a:ext>
            </a:extLst>
          </p:cNvPr>
          <p:cNvSpPr/>
          <p:nvPr/>
        </p:nvSpPr>
        <p:spPr>
          <a:xfrm>
            <a:off x="7973568" y="2825497"/>
            <a:ext cx="3383280" cy="512064"/>
          </a:xfrm>
          <a:prstGeom prst="roundRect">
            <a:avLst/>
          </a:prstGeom>
          <a:solidFill>
            <a:srgbClr val="FFFFFF"/>
          </a:solidFill>
          <a:ln w="12700">
            <a:solidFill>
              <a:srgbClr val="D9D2C7"/>
            </a:solidFill>
            <a:prstDash val="solid"/>
          </a:ln>
        </p:spPr>
        <p:txBody>
          <a:bodyPr/>
          <a:lstStyle/>
          <a:p>
            <a:endParaRPr lang="en-US" sz="2000"/>
          </a:p>
        </p:txBody>
      </p:sp>
      <p:sp>
        <p:nvSpPr>
          <p:cNvPr id="19" name="Text 8">
            <a:extLst>
              <a:ext uri="{FF2B5EF4-FFF2-40B4-BE49-F238E27FC236}">
                <a16:creationId xmlns:a16="http://schemas.microsoft.com/office/drawing/2014/main" id="{4A2E6F03-268E-DEB7-096B-8E605B8FE9B2}"/>
              </a:ext>
            </a:extLst>
          </p:cNvPr>
          <p:cNvSpPr/>
          <p:nvPr/>
        </p:nvSpPr>
        <p:spPr>
          <a:xfrm>
            <a:off x="8119872" y="3008377"/>
            <a:ext cx="1280160" cy="164592"/>
          </a:xfrm>
          <a:prstGeom prst="rect">
            <a:avLst/>
          </a:prstGeom>
          <a:noFill/>
          <a:ln/>
        </p:spPr>
        <p:txBody>
          <a:bodyPr wrap="square" lIns="0" tIns="0" rIns="0" bIns="0" rtlCol="0" anchor="ctr"/>
          <a:lstStyle/>
          <a:p>
            <a:pPr marL="0" indent="0">
              <a:buNone/>
            </a:pPr>
            <a:r>
              <a:rPr lang="en-US" sz="1200" dirty="0">
                <a:solidFill>
                  <a:srgbClr val="1F2033"/>
                </a:solidFill>
              </a:rPr>
              <a:t>Limit 20</a:t>
            </a:r>
            <a:endParaRPr lang="en-US" sz="1200" dirty="0"/>
          </a:p>
        </p:txBody>
      </p:sp>
      <p:sp>
        <p:nvSpPr>
          <p:cNvPr id="20" name="Text 9">
            <a:extLst>
              <a:ext uri="{FF2B5EF4-FFF2-40B4-BE49-F238E27FC236}">
                <a16:creationId xmlns:a16="http://schemas.microsoft.com/office/drawing/2014/main" id="{4E63E819-C5E2-DBB4-20C3-FFD2AC4D0A10}"/>
              </a:ext>
            </a:extLst>
          </p:cNvPr>
          <p:cNvSpPr/>
          <p:nvPr/>
        </p:nvSpPr>
        <p:spPr>
          <a:xfrm>
            <a:off x="9747504" y="2990089"/>
            <a:ext cx="1325880" cy="182880"/>
          </a:xfrm>
          <a:prstGeom prst="rect">
            <a:avLst/>
          </a:prstGeom>
          <a:noFill/>
          <a:ln/>
        </p:spPr>
        <p:txBody>
          <a:bodyPr wrap="square" lIns="0" tIns="0" rIns="0" bIns="0" rtlCol="0" anchor="ctr"/>
          <a:lstStyle/>
          <a:p>
            <a:pPr marL="0" indent="0" algn="r">
              <a:buNone/>
            </a:pPr>
            <a:r>
              <a:rPr lang="en-US" sz="1400" b="1" dirty="0">
                <a:solidFill>
                  <a:srgbClr val="23232B"/>
                </a:solidFill>
              </a:rPr>
              <a:t>Rp 4.50 B</a:t>
            </a:r>
            <a:endParaRPr lang="en-US" sz="1400" dirty="0"/>
          </a:p>
        </p:txBody>
      </p:sp>
      <p:sp>
        <p:nvSpPr>
          <p:cNvPr id="21" name="Shape 10">
            <a:extLst>
              <a:ext uri="{FF2B5EF4-FFF2-40B4-BE49-F238E27FC236}">
                <a16:creationId xmlns:a16="http://schemas.microsoft.com/office/drawing/2014/main" id="{5D18B5B3-EB1E-AFC3-0976-558F69681EB6}"/>
              </a:ext>
            </a:extLst>
          </p:cNvPr>
          <p:cNvSpPr/>
          <p:nvPr/>
        </p:nvSpPr>
        <p:spPr>
          <a:xfrm>
            <a:off x="7973568" y="3511297"/>
            <a:ext cx="3383280" cy="512064"/>
          </a:xfrm>
          <a:prstGeom prst="roundRect">
            <a:avLst/>
          </a:prstGeom>
          <a:solidFill>
            <a:srgbClr val="FFFFFF"/>
          </a:solidFill>
          <a:ln w="12700">
            <a:solidFill>
              <a:srgbClr val="D9D2C7"/>
            </a:solidFill>
            <a:prstDash val="solid"/>
          </a:ln>
        </p:spPr>
        <p:txBody>
          <a:bodyPr/>
          <a:lstStyle/>
          <a:p>
            <a:endParaRPr lang="en-US" sz="2000"/>
          </a:p>
        </p:txBody>
      </p:sp>
      <p:sp>
        <p:nvSpPr>
          <p:cNvPr id="22" name="Text 11">
            <a:extLst>
              <a:ext uri="{FF2B5EF4-FFF2-40B4-BE49-F238E27FC236}">
                <a16:creationId xmlns:a16="http://schemas.microsoft.com/office/drawing/2014/main" id="{56C40C38-717A-5F62-172F-C46C71D578E0}"/>
              </a:ext>
            </a:extLst>
          </p:cNvPr>
          <p:cNvSpPr/>
          <p:nvPr/>
        </p:nvSpPr>
        <p:spPr>
          <a:xfrm>
            <a:off x="8119872" y="3694177"/>
            <a:ext cx="1280160" cy="164592"/>
          </a:xfrm>
          <a:prstGeom prst="rect">
            <a:avLst/>
          </a:prstGeom>
          <a:noFill/>
          <a:ln/>
        </p:spPr>
        <p:txBody>
          <a:bodyPr wrap="square" lIns="0" tIns="0" rIns="0" bIns="0" rtlCol="0" anchor="ctr"/>
          <a:lstStyle/>
          <a:p>
            <a:pPr marL="0" indent="0">
              <a:buNone/>
            </a:pPr>
            <a:r>
              <a:rPr lang="en-US" sz="1200" dirty="0">
                <a:solidFill>
                  <a:srgbClr val="1F2033"/>
                </a:solidFill>
              </a:rPr>
              <a:t>Limit 30</a:t>
            </a:r>
            <a:endParaRPr lang="en-US" sz="1200" dirty="0"/>
          </a:p>
        </p:txBody>
      </p:sp>
      <p:sp>
        <p:nvSpPr>
          <p:cNvPr id="23" name="Text 12">
            <a:extLst>
              <a:ext uri="{FF2B5EF4-FFF2-40B4-BE49-F238E27FC236}">
                <a16:creationId xmlns:a16="http://schemas.microsoft.com/office/drawing/2014/main" id="{7F267B9A-4FDD-62A6-B392-BE58C5B3A160}"/>
              </a:ext>
            </a:extLst>
          </p:cNvPr>
          <p:cNvSpPr/>
          <p:nvPr/>
        </p:nvSpPr>
        <p:spPr>
          <a:xfrm>
            <a:off x="9747504" y="3675889"/>
            <a:ext cx="1325880" cy="182880"/>
          </a:xfrm>
          <a:prstGeom prst="rect">
            <a:avLst/>
          </a:prstGeom>
          <a:noFill/>
          <a:ln/>
        </p:spPr>
        <p:txBody>
          <a:bodyPr wrap="square" lIns="0" tIns="0" rIns="0" bIns="0" rtlCol="0" anchor="ctr"/>
          <a:lstStyle/>
          <a:p>
            <a:pPr marL="0" indent="0" algn="r">
              <a:buNone/>
            </a:pPr>
            <a:r>
              <a:rPr lang="en-US" sz="1400" b="1" dirty="0">
                <a:solidFill>
                  <a:srgbClr val="23232B"/>
                </a:solidFill>
              </a:rPr>
              <a:t>Rp 3.27 B</a:t>
            </a:r>
            <a:endParaRPr lang="en-US" sz="1400" dirty="0"/>
          </a:p>
        </p:txBody>
      </p:sp>
      <p:sp>
        <p:nvSpPr>
          <p:cNvPr id="24" name="Shape 13">
            <a:extLst>
              <a:ext uri="{FF2B5EF4-FFF2-40B4-BE49-F238E27FC236}">
                <a16:creationId xmlns:a16="http://schemas.microsoft.com/office/drawing/2014/main" id="{B1D5E4FC-2D2F-5C85-B5C0-306DF38C05BA}"/>
              </a:ext>
            </a:extLst>
          </p:cNvPr>
          <p:cNvSpPr/>
          <p:nvPr/>
        </p:nvSpPr>
        <p:spPr>
          <a:xfrm>
            <a:off x="7973568" y="4197097"/>
            <a:ext cx="3383280" cy="512064"/>
          </a:xfrm>
          <a:prstGeom prst="roundRect">
            <a:avLst/>
          </a:prstGeom>
          <a:solidFill>
            <a:srgbClr val="FFFFFF"/>
          </a:solidFill>
          <a:ln w="12700">
            <a:solidFill>
              <a:srgbClr val="D9D2C7"/>
            </a:solidFill>
            <a:prstDash val="solid"/>
          </a:ln>
        </p:spPr>
        <p:txBody>
          <a:bodyPr/>
          <a:lstStyle/>
          <a:p>
            <a:endParaRPr lang="en-US" sz="2000"/>
          </a:p>
        </p:txBody>
      </p:sp>
      <p:sp>
        <p:nvSpPr>
          <p:cNvPr id="25" name="Text 14">
            <a:extLst>
              <a:ext uri="{FF2B5EF4-FFF2-40B4-BE49-F238E27FC236}">
                <a16:creationId xmlns:a16="http://schemas.microsoft.com/office/drawing/2014/main" id="{B7222AE4-ADC8-2F96-96E0-FA178977400A}"/>
              </a:ext>
            </a:extLst>
          </p:cNvPr>
          <p:cNvSpPr/>
          <p:nvPr/>
        </p:nvSpPr>
        <p:spPr>
          <a:xfrm>
            <a:off x="8119872" y="4379977"/>
            <a:ext cx="1280160" cy="164592"/>
          </a:xfrm>
          <a:prstGeom prst="rect">
            <a:avLst/>
          </a:prstGeom>
          <a:noFill/>
          <a:ln/>
        </p:spPr>
        <p:txBody>
          <a:bodyPr wrap="square" lIns="0" tIns="0" rIns="0" bIns="0" rtlCol="0" anchor="ctr"/>
          <a:lstStyle/>
          <a:p>
            <a:pPr marL="0" indent="0">
              <a:buNone/>
            </a:pPr>
            <a:r>
              <a:rPr lang="en-US" sz="1200" dirty="0">
                <a:solidFill>
                  <a:srgbClr val="1F2033"/>
                </a:solidFill>
              </a:rPr>
              <a:t>Limit 40</a:t>
            </a:r>
            <a:endParaRPr lang="en-US" sz="1200" dirty="0"/>
          </a:p>
        </p:txBody>
      </p:sp>
      <p:sp>
        <p:nvSpPr>
          <p:cNvPr id="26" name="Text 15">
            <a:extLst>
              <a:ext uri="{FF2B5EF4-FFF2-40B4-BE49-F238E27FC236}">
                <a16:creationId xmlns:a16="http://schemas.microsoft.com/office/drawing/2014/main" id="{20B22198-EFD2-B83C-9836-36FF95182EED}"/>
              </a:ext>
            </a:extLst>
          </p:cNvPr>
          <p:cNvSpPr/>
          <p:nvPr/>
        </p:nvSpPr>
        <p:spPr>
          <a:xfrm>
            <a:off x="9747504" y="4361689"/>
            <a:ext cx="1325880" cy="182880"/>
          </a:xfrm>
          <a:prstGeom prst="rect">
            <a:avLst/>
          </a:prstGeom>
          <a:noFill/>
          <a:ln/>
        </p:spPr>
        <p:txBody>
          <a:bodyPr wrap="square" lIns="0" tIns="0" rIns="0" bIns="0" rtlCol="0" anchor="ctr"/>
          <a:lstStyle/>
          <a:p>
            <a:pPr marL="0" indent="0" algn="r">
              <a:buNone/>
            </a:pPr>
            <a:r>
              <a:rPr lang="en-US" sz="1400" b="1" dirty="0">
                <a:solidFill>
                  <a:srgbClr val="23232B"/>
                </a:solidFill>
              </a:rPr>
              <a:t>Rp 2.26 B</a:t>
            </a:r>
            <a:endParaRPr lang="en-US" sz="1400" dirty="0"/>
          </a:p>
        </p:txBody>
      </p:sp>
      <p:sp>
        <p:nvSpPr>
          <p:cNvPr id="27" name="Shape 16">
            <a:extLst>
              <a:ext uri="{FF2B5EF4-FFF2-40B4-BE49-F238E27FC236}">
                <a16:creationId xmlns:a16="http://schemas.microsoft.com/office/drawing/2014/main" id="{B3DF65DD-1820-E188-1827-B7607B7135B0}"/>
              </a:ext>
            </a:extLst>
          </p:cNvPr>
          <p:cNvSpPr/>
          <p:nvPr/>
        </p:nvSpPr>
        <p:spPr>
          <a:xfrm>
            <a:off x="7973568" y="5020057"/>
            <a:ext cx="3383280" cy="1024128"/>
          </a:xfrm>
          <a:prstGeom prst="roundRect">
            <a:avLst>
              <a:gd name="adj" fmla="val 7143"/>
            </a:avLst>
          </a:prstGeom>
          <a:solidFill>
            <a:srgbClr val="FFFFFF"/>
          </a:solidFill>
          <a:ln w="15240">
            <a:solidFill>
              <a:srgbClr val="D9D2C7"/>
            </a:solidFill>
            <a:prstDash val="solid"/>
          </a:ln>
          <a:effectLst>
            <a:outerShdw blurRad="12700" dist="50800" dir="2700000" algn="bl" rotWithShape="0">
              <a:srgbClr val="D0CBC4">
                <a:alpha val="18000"/>
              </a:srgbClr>
            </a:outerShdw>
          </a:effectLst>
        </p:spPr>
        <p:txBody>
          <a:bodyPr/>
          <a:lstStyle/>
          <a:p>
            <a:endParaRPr lang="en-US"/>
          </a:p>
        </p:txBody>
      </p:sp>
      <p:sp>
        <p:nvSpPr>
          <p:cNvPr id="28" name="Text 17">
            <a:extLst>
              <a:ext uri="{FF2B5EF4-FFF2-40B4-BE49-F238E27FC236}">
                <a16:creationId xmlns:a16="http://schemas.microsoft.com/office/drawing/2014/main" id="{84C2BA67-A58B-DE7F-E419-07FE0286B89F}"/>
              </a:ext>
            </a:extLst>
          </p:cNvPr>
          <p:cNvSpPr/>
          <p:nvPr/>
        </p:nvSpPr>
        <p:spPr>
          <a:xfrm>
            <a:off x="8119872" y="5111497"/>
            <a:ext cx="3090672" cy="841248"/>
          </a:xfrm>
          <a:prstGeom prst="rect">
            <a:avLst/>
          </a:prstGeom>
          <a:noFill/>
          <a:ln/>
        </p:spPr>
        <p:txBody>
          <a:bodyPr wrap="square" lIns="254" tIns="254" rIns="254" bIns="254" rtlCol="0" anchor="ctr"/>
          <a:lstStyle/>
          <a:p>
            <a:r>
              <a:rPr sz="900" dirty="0">
                <a:solidFill>
                  <a:srgbClr val="23232B"/>
                </a:solidFill>
                <a:latin typeface="Aptos"/>
              </a:rPr>
              <a:t>A single universal limit is simple, but it </a:t>
            </a:r>
            <a:r>
              <a:rPr sz="900" b="1" dirty="0">
                <a:solidFill>
                  <a:srgbClr val="23232B"/>
                </a:solidFill>
                <a:latin typeface="Aptos"/>
              </a:rPr>
              <a:t>ignores different normal purchase quantities across SKUs</a:t>
            </a:r>
            <a:r>
              <a:rPr sz="900" dirty="0">
                <a:solidFill>
                  <a:srgbClr val="23232B"/>
                </a:solidFill>
                <a:latin typeface="Aptos"/>
              </a:rPr>
              <a:t>. </a:t>
            </a:r>
            <a:r>
              <a:rPr sz="900" b="1" dirty="0">
                <a:solidFill>
                  <a:srgbClr val="FF0000"/>
                </a:solidFill>
                <a:latin typeface="Aptos"/>
              </a:rPr>
              <a:t>Lower limits </a:t>
            </a:r>
            <a:r>
              <a:rPr sz="900" b="1" dirty="0">
                <a:solidFill>
                  <a:srgbClr val="23232B"/>
                </a:solidFill>
                <a:latin typeface="Aptos"/>
              </a:rPr>
              <a:t>protect more discount exposure </a:t>
            </a:r>
            <a:r>
              <a:rPr sz="900" dirty="0">
                <a:solidFill>
                  <a:srgbClr val="23232B"/>
                </a:solidFill>
                <a:latin typeface="Aptos"/>
              </a:rPr>
              <a:t>but </a:t>
            </a:r>
            <a:r>
              <a:rPr sz="900" b="1" dirty="0">
                <a:solidFill>
                  <a:srgbClr val="FF0000"/>
                </a:solidFill>
                <a:latin typeface="Aptos"/>
              </a:rPr>
              <a:t>affect more transactions</a:t>
            </a:r>
            <a:r>
              <a:rPr sz="900" dirty="0">
                <a:solidFill>
                  <a:srgbClr val="23232B"/>
                </a:solidFill>
                <a:latin typeface="Aptos"/>
              </a:rPr>
              <a:t>. Limit 40 is only the most conservative universal benchmark</a:t>
            </a:r>
            <a:r>
              <a:rPr lang="en-US" sz="900" dirty="0">
                <a:solidFill>
                  <a:srgbClr val="23232B"/>
                </a:solidFill>
                <a:latin typeface="Aptos"/>
              </a:rPr>
              <a:t>, </a:t>
            </a:r>
            <a:r>
              <a:rPr sz="900" dirty="0">
                <a:solidFill>
                  <a:srgbClr val="23232B"/>
                </a:solidFill>
                <a:latin typeface="Aptos"/>
              </a:rPr>
              <a:t>not the final recommendation.</a:t>
            </a:r>
          </a:p>
        </p:txBody>
      </p:sp>
    </p:spTree>
    <p:extLst>
      <p:ext uri="{BB962C8B-B14F-4D97-AF65-F5344CB8AC3E}">
        <p14:creationId xmlns:p14="http://schemas.microsoft.com/office/powerpoint/2010/main" val="3049489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9826-3590-5E8B-FB0B-59C1EA0896E4}"/>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AF2462BD-417E-3467-6E9E-17CAAAEE82D1}"/>
              </a:ext>
            </a:extLst>
          </p:cNvPr>
          <p:cNvPicPr>
            <a:picLocks noChangeAspect="1"/>
          </p:cNvPicPr>
          <p:nvPr/>
        </p:nvPicPr>
        <p:blipFill>
          <a:blip r:embed="rId2"/>
          <a:stretch>
            <a:fillRect/>
          </a:stretch>
        </p:blipFill>
        <p:spPr>
          <a:xfrm>
            <a:off x="0" y="-1"/>
            <a:ext cx="12192000" cy="621791"/>
          </a:xfrm>
          <a:prstGeom prst="rect">
            <a:avLst/>
          </a:prstGeom>
        </p:spPr>
      </p:pic>
      <p:sp>
        <p:nvSpPr>
          <p:cNvPr id="2" name="Rounded Rectangle 1">
            <a:extLst>
              <a:ext uri="{FF2B5EF4-FFF2-40B4-BE49-F238E27FC236}">
                <a16:creationId xmlns:a16="http://schemas.microsoft.com/office/drawing/2014/main" id="{2455ADD8-DD37-587D-2CC5-354DDFD8AABE}"/>
              </a:ext>
            </a:extLst>
          </p:cNvPr>
          <p:cNvSpPr/>
          <p:nvPr/>
        </p:nvSpPr>
        <p:spPr>
          <a:xfrm>
            <a:off x="2852928" y="2181673"/>
            <a:ext cx="1298448" cy="3822191"/>
          </a:xfrm>
          <a:prstGeom prst="roundRect">
            <a:avLst/>
          </a:prstGeom>
          <a:noFill/>
          <a:ln w="16510">
            <a:solidFill>
              <a:srgbClr val="D5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 0">
            <a:extLst>
              <a:ext uri="{FF2B5EF4-FFF2-40B4-BE49-F238E27FC236}">
                <a16:creationId xmlns:a16="http://schemas.microsoft.com/office/drawing/2014/main" id="{E7CFCF97-35FA-0F25-5ED5-E8F7A12FF947}"/>
              </a:ext>
            </a:extLst>
          </p:cNvPr>
          <p:cNvSpPr/>
          <p:nvPr/>
        </p:nvSpPr>
        <p:spPr>
          <a:xfrm>
            <a:off x="530351" y="475488"/>
            <a:ext cx="4471139" cy="310894"/>
          </a:xfrm>
          <a:prstGeom prst="rect">
            <a:avLst/>
          </a:prstGeom>
          <a:noFill/>
          <a:ln/>
        </p:spPr>
        <p:txBody>
          <a:bodyPr wrap="square" lIns="0" tIns="0" rIns="0" bIns="0" rtlCol="0" anchor="ctr"/>
          <a:lstStyle/>
          <a:p>
            <a:pPr marL="0" indent="0">
              <a:buNone/>
            </a:pPr>
            <a:r>
              <a:rPr lang="en-US" sz="2800" b="1" kern="0" spc="140" dirty="0">
                <a:solidFill>
                  <a:srgbClr val="D51C1C"/>
                </a:solidFill>
              </a:rPr>
              <a:t>SENSITIVITY ANALYSIS</a:t>
            </a:r>
            <a:endParaRPr lang="en-US" sz="2800" dirty="0"/>
          </a:p>
        </p:txBody>
      </p:sp>
      <p:sp>
        <p:nvSpPr>
          <p:cNvPr id="5" name="Text 1">
            <a:extLst>
              <a:ext uri="{FF2B5EF4-FFF2-40B4-BE49-F238E27FC236}">
                <a16:creationId xmlns:a16="http://schemas.microsoft.com/office/drawing/2014/main" id="{14A5ABF7-AC69-CB37-30D6-C535E15471A7}"/>
              </a:ext>
            </a:extLst>
          </p:cNvPr>
          <p:cNvSpPr/>
          <p:nvPr/>
        </p:nvSpPr>
        <p:spPr>
          <a:xfrm>
            <a:off x="530352" y="809242"/>
            <a:ext cx="10332720" cy="512064"/>
          </a:xfrm>
          <a:prstGeom prst="rect">
            <a:avLst/>
          </a:prstGeom>
          <a:noFill/>
          <a:ln/>
        </p:spPr>
        <p:txBody>
          <a:bodyPr wrap="square" lIns="0" tIns="0" rIns="0" bIns="0" rtlCol="0" anchor="ctr"/>
          <a:lstStyle/>
          <a:p>
            <a:pPr marL="0" indent="0">
              <a:buNone/>
            </a:pPr>
            <a:r>
              <a:rPr lang="en-US" sz="1400" b="1" dirty="0">
                <a:solidFill>
                  <a:srgbClr val="1F2033"/>
                </a:solidFill>
              </a:rPr>
              <a:t>SKU Specific P95 Provides a More Balanced, Product Adaptive Policy</a:t>
            </a:r>
            <a:endParaRPr lang="en-US" sz="1400" dirty="0"/>
          </a:p>
        </p:txBody>
      </p:sp>
      <p:sp>
        <p:nvSpPr>
          <p:cNvPr id="10" name="Text 2">
            <a:extLst>
              <a:ext uri="{FF2B5EF4-FFF2-40B4-BE49-F238E27FC236}">
                <a16:creationId xmlns:a16="http://schemas.microsoft.com/office/drawing/2014/main" id="{710CA306-598B-7B2E-7595-FA834E31E427}"/>
              </a:ext>
            </a:extLst>
          </p:cNvPr>
          <p:cNvSpPr/>
          <p:nvPr/>
        </p:nvSpPr>
        <p:spPr>
          <a:xfrm>
            <a:off x="548640" y="1788481"/>
            <a:ext cx="2926080" cy="201168"/>
          </a:xfrm>
          <a:prstGeom prst="rect">
            <a:avLst/>
          </a:prstGeom>
          <a:noFill/>
          <a:ln/>
        </p:spPr>
        <p:txBody>
          <a:bodyPr wrap="square" lIns="0" tIns="0" rIns="0" bIns="0" rtlCol="0" anchor="ctr"/>
          <a:lstStyle/>
          <a:p>
            <a:pPr marL="0" indent="0">
              <a:buNone/>
            </a:pPr>
            <a:r>
              <a:rPr lang="en-US" sz="1000" b="1" kern="0" spc="120" dirty="0">
                <a:solidFill>
                  <a:srgbClr val="D51C1C"/>
                </a:solidFill>
              </a:rPr>
              <a:t>P90/P95/P99 Comparison</a:t>
            </a:r>
            <a:endParaRPr lang="en-US" sz="1000" dirty="0"/>
          </a:p>
        </p:txBody>
      </p:sp>
      <p:sp>
        <p:nvSpPr>
          <p:cNvPr id="11" name="Shape 3">
            <a:extLst>
              <a:ext uri="{FF2B5EF4-FFF2-40B4-BE49-F238E27FC236}">
                <a16:creationId xmlns:a16="http://schemas.microsoft.com/office/drawing/2014/main" id="{91536D84-8E8B-EE62-4479-0AB271418958}"/>
              </a:ext>
            </a:extLst>
          </p:cNvPr>
          <p:cNvSpPr/>
          <p:nvPr/>
        </p:nvSpPr>
        <p:spPr>
          <a:xfrm>
            <a:off x="822960" y="5564953"/>
            <a:ext cx="5669280" cy="0"/>
          </a:xfrm>
          <a:prstGeom prst="line">
            <a:avLst/>
          </a:prstGeom>
          <a:noFill/>
          <a:ln w="12700">
            <a:solidFill>
              <a:srgbClr val="E9E5DE"/>
            </a:solidFill>
            <a:prstDash val="solid"/>
          </a:ln>
        </p:spPr>
        <p:txBody>
          <a:bodyPr/>
          <a:lstStyle/>
          <a:p>
            <a:endParaRPr/>
          </a:p>
        </p:txBody>
      </p:sp>
      <p:sp>
        <p:nvSpPr>
          <p:cNvPr id="14" name="Text 4">
            <a:extLst>
              <a:ext uri="{FF2B5EF4-FFF2-40B4-BE49-F238E27FC236}">
                <a16:creationId xmlns:a16="http://schemas.microsoft.com/office/drawing/2014/main" id="{0837CF54-3304-A1B5-C185-D4DF6F525C96}"/>
              </a:ext>
            </a:extLst>
          </p:cNvPr>
          <p:cNvSpPr/>
          <p:nvPr/>
        </p:nvSpPr>
        <p:spPr>
          <a:xfrm>
            <a:off x="502920" y="5482657"/>
            <a:ext cx="274320" cy="164592"/>
          </a:xfrm>
          <a:prstGeom prst="rect">
            <a:avLst/>
          </a:prstGeom>
          <a:noFill/>
          <a:ln/>
        </p:spPr>
        <p:txBody>
          <a:bodyPr wrap="square" lIns="0" tIns="0" rIns="0" bIns="0" rtlCol="0" anchor="ctr"/>
          <a:lstStyle/>
          <a:p>
            <a:pPr marL="0" indent="0" algn="r">
              <a:buNone/>
            </a:pPr>
            <a:r>
              <a:rPr lang="en-US" sz="850" dirty="0">
                <a:solidFill>
                  <a:srgbClr val="77798A"/>
                </a:solidFill>
              </a:rPr>
              <a:t>0</a:t>
            </a:r>
            <a:endParaRPr lang="en-US" sz="850" dirty="0"/>
          </a:p>
        </p:txBody>
      </p:sp>
      <p:sp>
        <p:nvSpPr>
          <p:cNvPr id="16" name="Shape 5">
            <a:extLst>
              <a:ext uri="{FF2B5EF4-FFF2-40B4-BE49-F238E27FC236}">
                <a16:creationId xmlns:a16="http://schemas.microsoft.com/office/drawing/2014/main" id="{90656EAE-680D-A4F1-29D5-106A501E3073}"/>
              </a:ext>
            </a:extLst>
          </p:cNvPr>
          <p:cNvSpPr/>
          <p:nvPr/>
        </p:nvSpPr>
        <p:spPr>
          <a:xfrm>
            <a:off x="822960" y="4961449"/>
            <a:ext cx="5669280" cy="0"/>
          </a:xfrm>
          <a:prstGeom prst="line">
            <a:avLst/>
          </a:prstGeom>
          <a:noFill/>
          <a:ln w="12700">
            <a:solidFill>
              <a:srgbClr val="E9E5DE"/>
            </a:solidFill>
            <a:prstDash val="solid"/>
          </a:ln>
        </p:spPr>
        <p:txBody>
          <a:bodyPr/>
          <a:lstStyle/>
          <a:p>
            <a:endParaRPr/>
          </a:p>
        </p:txBody>
      </p:sp>
      <p:sp>
        <p:nvSpPr>
          <p:cNvPr id="29" name="Text 6">
            <a:extLst>
              <a:ext uri="{FF2B5EF4-FFF2-40B4-BE49-F238E27FC236}">
                <a16:creationId xmlns:a16="http://schemas.microsoft.com/office/drawing/2014/main" id="{2A4AA9C3-8AE4-B939-A704-3F14F84EA8EB}"/>
              </a:ext>
            </a:extLst>
          </p:cNvPr>
          <p:cNvSpPr/>
          <p:nvPr/>
        </p:nvSpPr>
        <p:spPr>
          <a:xfrm>
            <a:off x="502920" y="4879153"/>
            <a:ext cx="274320" cy="164592"/>
          </a:xfrm>
          <a:prstGeom prst="rect">
            <a:avLst/>
          </a:prstGeom>
          <a:noFill/>
          <a:ln/>
        </p:spPr>
        <p:txBody>
          <a:bodyPr wrap="square" lIns="0" tIns="0" rIns="0" bIns="0" rtlCol="0" anchor="ctr"/>
          <a:lstStyle/>
          <a:p>
            <a:pPr marL="0" indent="0" algn="r">
              <a:buNone/>
            </a:pPr>
            <a:r>
              <a:rPr lang="en-US" sz="850" dirty="0">
                <a:solidFill>
                  <a:srgbClr val="77798A"/>
                </a:solidFill>
              </a:rPr>
              <a:t>10</a:t>
            </a:r>
            <a:endParaRPr lang="en-US" sz="850" dirty="0"/>
          </a:p>
        </p:txBody>
      </p:sp>
      <p:sp>
        <p:nvSpPr>
          <p:cNvPr id="30" name="Shape 7">
            <a:extLst>
              <a:ext uri="{FF2B5EF4-FFF2-40B4-BE49-F238E27FC236}">
                <a16:creationId xmlns:a16="http://schemas.microsoft.com/office/drawing/2014/main" id="{06D4577F-C124-351A-D4FA-3B41333F44F9}"/>
              </a:ext>
            </a:extLst>
          </p:cNvPr>
          <p:cNvSpPr/>
          <p:nvPr/>
        </p:nvSpPr>
        <p:spPr>
          <a:xfrm>
            <a:off x="822960" y="4357945"/>
            <a:ext cx="5669280" cy="0"/>
          </a:xfrm>
          <a:prstGeom prst="line">
            <a:avLst/>
          </a:prstGeom>
          <a:noFill/>
          <a:ln w="12700">
            <a:solidFill>
              <a:srgbClr val="E9E5DE"/>
            </a:solidFill>
            <a:prstDash val="solid"/>
          </a:ln>
        </p:spPr>
        <p:txBody>
          <a:bodyPr/>
          <a:lstStyle/>
          <a:p>
            <a:endParaRPr/>
          </a:p>
        </p:txBody>
      </p:sp>
      <p:sp>
        <p:nvSpPr>
          <p:cNvPr id="31" name="Text 8">
            <a:extLst>
              <a:ext uri="{FF2B5EF4-FFF2-40B4-BE49-F238E27FC236}">
                <a16:creationId xmlns:a16="http://schemas.microsoft.com/office/drawing/2014/main" id="{AF00CA8E-8372-7EF4-864E-0668D8B4B5DD}"/>
              </a:ext>
            </a:extLst>
          </p:cNvPr>
          <p:cNvSpPr/>
          <p:nvPr/>
        </p:nvSpPr>
        <p:spPr>
          <a:xfrm>
            <a:off x="502920" y="4275649"/>
            <a:ext cx="274320" cy="164592"/>
          </a:xfrm>
          <a:prstGeom prst="rect">
            <a:avLst/>
          </a:prstGeom>
          <a:noFill/>
          <a:ln/>
        </p:spPr>
        <p:txBody>
          <a:bodyPr wrap="square" lIns="0" tIns="0" rIns="0" bIns="0" rtlCol="0" anchor="ctr"/>
          <a:lstStyle/>
          <a:p>
            <a:pPr marL="0" indent="0" algn="r">
              <a:buNone/>
            </a:pPr>
            <a:r>
              <a:rPr lang="en-US" sz="850" dirty="0">
                <a:solidFill>
                  <a:srgbClr val="77798A"/>
                </a:solidFill>
              </a:rPr>
              <a:t>20</a:t>
            </a:r>
            <a:endParaRPr lang="en-US" sz="850" dirty="0"/>
          </a:p>
        </p:txBody>
      </p:sp>
      <p:sp>
        <p:nvSpPr>
          <p:cNvPr id="32" name="Shape 9">
            <a:extLst>
              <a:ext uri="{FF2B5EF4-FFF2-40B4-BE49-F238E27FC236}">
                <a16:creationId xmlns:a16="http://schemas.microsoft.com/office/drawing/2014/main" id="{13665A52-F2A9-06B3-4780-851E9FF52055}"/>
              </a:ext>
            </a:extLst>
          </p:cNvPr>
          <p:cNvSpPr/>
          <p:nvPr/>
        </p:nvSpPr>
        <p:spPr>
          <a:xfrm>
            <a:off x="822960" y="3754441"/>
            <a:ext cx="5669280" cy="0"/>
          </a:xfrm>
          <a:prstGeom prst="line">
            <a:avLst/>
          </a:prstGeom>
          <a:noFill/>
          <a:ln w="12700">
            <a:solidFill>
              <a:srgbClr val="E9E5DE"/>
            </a:solidFill>
            <a:prstDash val="solid"/>
          </a:ln>
        </p:spPr>
        <p:txBody>
          <a:bodyPr/>
          <a:lstStyle/>
          <a:p>
            <a:endParaRPr/>
          </a:p>
        </p:txBody>
      </p:sp>
      <p:sp>
        <p:nvSpPr>
          <p:cNvPr id="33" name="Text 10">
            <a:extLst>
              <a:ext uri="{FF2B5EF4-FFF2-40B4-BE49-F238E27FC236}">
                <a16:creationId xmlns:a16="http://schemas.microsoft.com/office/drawing/2014/main" id="{786201E1-3CDE-2EC3-49D9-11040AB84228}"/>
              </a:ext>
            </a:extLst>
          </p:cNvPr>
          <p:cNvSpPr/>
          <p:nvPr/>
        </p:nvSpPr>
        <p:spPr>
          <a:xfrm>
            <a:off x="502920" y="3672145"/>
            <a:ext cx="274320" cy="164592"/>
          </a:xfrm>
          <a:prstGeom prst="rect">
            <a:avLst/>
          </a:prstGeom>
          <a:noFill/>
          <a:ln/>
        </p:spPr>
        <p:txBody>
          <a:bodyPr wrap="square" lIns="0" tIns="0" rIns="0" bIns="0" rtlCol="0" anchor="ctr"/>
          <a:lstStyle/>
          <a:p>
            <a:pPr marL="0" indent="0" algn="r">
              <a:buNone/>
            </a:pPr>
            <a:r>
              <a:rPr lang="en-US" sz="850" dirty="0">
                <a:solidFill>
                  <a:srgbClr val="77798A"/>
                </a:solidFill>
              </a:rPr>
              <a:t>30</a:t>
            </a:r>
            <a:endParaRPr lang="en-US" sz="850" dirty="0"/>
          </a:p>
        </p:txBody>
      </p:sp>
      <p:sp>
        <p:nvSpPr>
          <p:cNvPr id="34" name="Shape 11">
            <a:extLst>
              <a:ext uri="{FF2B5EF4-FFF2-40B4-BE49-F238E27FC236}">
                <a16:creationId xmlns:a16="http://schemas.microsoft.com/office/drawing/2014/main" id="{3BC34990-9764-4DCC-F3AF-A782F9E75406}"/>
              </a:ext>
            </a:extLst>
          </p:cNvPr>
          <p:cNvSpPr/>
          <p:nvPr/>
        </p:nvSpPr>
        <p:spPr>
          <a:xfrm>
            <a:off x="822960" y="3150937"/>
            <a:ext cx="5669280" cy="0"/>
          </a:xfrm>
          <a:prstGeom prst="line">
            <a:avLst/>
          </a:prstGeom>
          <a:noFill/>
          <a:ln w="12700">
            <a:solidFill>
              <a:srgbClr val="E9E5DE"/>
            </a:solidFill>
            <a:prstDash val="solid"/>
          </a:ln>
        </p:spPr>
        <p:txBody>
          <a:bodyPr/>
          <a:lstStyle/>
          <a:p>
            <a:endParaRPr/>
          </a:p>
        </p:txBody>
      </p:sp>
      <p:sp>
        <p:nvSpPr>
          <p:cNvPr id="35" name="Text 12">
            <a:extLst>
              <a:ext uri="{FF2B5EF4-FFF2-40B4-BE49-F238E27FC236}">
                <a16:creationId xmlns:a16="http://schemas.microsoft.com/office/drawing/2014/main" id="{76A88F4B-E1B5-2378-8E06-F9807F67C401}"/>
              </a:ext>
            </a:extLst>
          </p:cNvPr>
          <p:cNvSpPr/>
          <p:nvPr/>
        </p:nvSpPr>
        <p:spPr>
          <a:xfrm>
            <a:off x="502920" y="3068641"/>
            <a:ext cx="274320" cy="164592"/>
          </a:xfrm>
          <a:prstGeom prst="rect">
            <a:avLst/>
          </a:prstGeom>
          <a:noFill/>
          <a:ln/>
        </p:spPr>
        <p:txBody>
          <a:bodyPr wrap="square" lIns="0" tIns="0" rIns="0" bIns="0" rtlCol="0" anchor="ctr"/>
          <a:lstStyle/>
          <a:p>
            <a:pPr marL="0" indent="0" algn="r">
              <a:buNone/>
            </a:pPr>
            <a:r>
              <a:rPr lang="en-US" sz="850" dirty="0">
                <a:solidFill>
                  <a:srgbClr val="77798A"/>
                </a:solidFill>
              </a:rPr>
              <a:t>40</a:t>
            </a:r>
            <a:endParaRPr lang="en-US" sz="850" dirty="0"/>
          </a:p>
        </p:txBody>
      </p:sp>
      <p:sp>
        <p:nvSpPr>
          <p:cNvPr id="36" name="Shape 13">
            <a:extLst>
              <a:ext uri="{FF2B5EF4-FFF2-40B4-BE49-F238E27FC236}">
                <a16:creationId xmlns:a16="http://schemas.microsoft.com/office/drawing/2014/main" id="{D4E250DA-6CE2-D447-8AA2-AD09CCC42973}"/>
              </a:ext>
            </a:extLst>
          </p:cNvPr>
          <p:cNvSpPr/>
          <p:nvPr/>
        </p:nvSpPr>
        <p:spPr>
          <a:xfrm>
            <a:off x="822960" y="2547433"/>
            <a:ext cx="5669280" cy="0"/>
          </a:xfrm>
          <a:prstGeom prst="line">
            <a:avLst/>
          </a:prstGeom>
          <a:noFill/>
          <a:ln w="12700">
            <a:solidFill>
              <a:srgbClr val="E9E5DE"/>
            </a:solidFill>
            <a:prstDash val="solid"/>
          </a:ln>
        </p:spPr>
        <p:txBody>
          <a:bodyPr/>
          <a:lstStyle/>
          <a:p>
            <a:endParaRPr/>
          </a:p>
        </p:txBody>
      </p:sp>
      <p:sp>
        <p:nvSpPr>
          <p:cNvPr id="37" name="Text 14">
            <a:extLst>
              <a:ext uri="{FF2B5EF4-FFF2-40B4-BE49-F238E27FC236}">
                <a16:creationId xmlns:a16="http://schemas.microsoft.com/office/drawing/2014/main" id="{0DA3A8D1-9C2C-F915-3C71-481B4CF17AC5}"/>
              </a:ext>
            </a:extLst>
          </p:cNvPr>
          <p:cNvSpPr/>
          <p:nvPr/>
        </p:nvSpPr>
        <p:spPr>
          <a:xfrm>
            <a:off x="502920" y="2465137"/>
            <a:ext cx="274320" cy="164592"/>
          </a:xfrm>
          <a:prstGeom prst="rect">
            <a:avLst/>
          </a:prstGeom>
          <a:noFill/>
          <a:ln/>
        </p:spPr>
        <p:txBody>
          <a:bodyPr wrap="square" lIns="0" tIns="0" rIns="0" bIns="0" rtlCol="0" anchor="ctr"/>
          <a:lstStyle/>
          <a:p>
            <a:pPr marL="0" indent="0" algn="r">
              <a:buNone/>
            </a:pPr>
            <a:r>
              <a:rPr lang="en-US" sz="850" dirty="0">
                <a:solidFill>
                  <a:srgbClr val="77798A"/>
                </a:solidFill>
              </a:rPr>
              <a:t>50</a:t>
            </a:r>
            <a:endParaRPr lang="en-US" sz="850" dirty="0"/>
          </a:p>
        </p:txBody>
      </p:sp>
      <p:sp>
        <p:nvSpPr>
          <p:cNvPr id="38" name="Shape 15">
            <a:extLst>
              <a:ext uri="{FF2B5EF4-FFF2-40B4-BE49-F238E27FC236}">
                <a16:creationId xmlns:a16="http://schemas.microsoft.com/office/drawing/2014/main" id="{1ED207B0-7202-79AC-EC71-693F93B898FF}"/>
              </a:ext>
            </a:extLst>
          </p:cNvPr>
          <p:cNvSpPr/>
          <p:nvPr/>
        </p:nvSpPr>
        <p:spPr>
          <a:xfrm>
            <a:off x="1325880" y="3600547"/>
            <a:ext cx="411480" cy="1964406"/>
          </a:xfrm>
          <a:prstGeom prst="rect">
            <a:avLst/>
          </a:prstGeom>
          <a:solidFill>
            <a:srgbClr val="2B5CAA"/>
          </a:solidFill>
          <a:ln w="6350">
            <a:solidFill>
              <a:srgbClr val="23547A"/>
            </a:solidFill>
            <a:prstDash val="solid"/>
          </a:ln>
        </p:spPr>
        <p:txBody>
          <a:bodyPr/>
          <a:lstStyle/>
          <a:p>
            <a:endParaRPr/>
          </a:p>
        </p:txBody>
      </p:sp>
      <p:sp>
        <p:nvSpPr>
          <p:cNvPr id="39" name="Shape 16">
            <a:extLst>
              <a:ext uri="{FF2B5EF4-FFF2-40B4-BE49-F238E27FC236}">
                <a16:creationId xmlns:a16="http://schemas.microsoft.com/office/drawing/2014/main" id="{07A6945E-C37B-D777-C1BE-E2B95D4F7FD9}"/>
              </a:ext>
            </a:extLst>
          </p:cNvPr>
          <p:cNvSpPr/>
          <p:nvPr/>
        </p:nvSpPr>
        <p:spPr>
          <a:xfrm>
            <a:off x="1801368" y="2617439"/>
            <a:ext cx="411480" cy="2947514"/>
          </a:xfrm>
          <a:prstGeom prst="rect">
            <a:avLst/>
          </a:prstGeom>
          <a:solidFill>
            <a:srgbClr val="ED1B24"/>
          </a:solidFill>
          <a:ln w="6350">
            <a:solidFill>
              <a:srgbClr val="D51C1C"/>
            </a:solidFill>
            <a:prstDash val="solid"/>
          </a:ln>
        </p:spPr>
        <p:txBody>
          <a:bodyPr/>
          <a:lstStyle/>
          <a:p>
            <a:endParaRPr/>
          </a:p>
        </p:txBody>
      </p:sp>
      <p:sp>
        <p:nvSpPr>
          <p:cNvPr id="40" name="Text 17">
            <a:extLst>
              <a:ext uri="{FF2B5EF4-FFF2-40B4-BE49-F238E27FC236}">
                <a16:creationId xmlns:a16="http://schemas.microsoft.com/office/drawing/2014/main" id="{FC64F09C-07FE-ED92-1E83-7673DB98C88C}"/>
              </a:ext>
            </a:extLst>
          </p:cNvPr>
          <p:cNvSpPr/>
          <p:nvPr/>
        </p:nvSpPr>
        <p:spPr>
          <a:xfrm>
            <a:off x="1307592" y="5656393"/>
            <a:ext cx="960120" cy="228600"/>
          </a:xfrm>
          <a:prstGeom prst="rect">
            <a:avLst/>
          </a:prstGeom>
          <a:noFill/>
          <a:ln/>
        </p:spPr>
        <p:txBody>
          <a:bodyPr wrap="square" lIns="0" tIns="0" rIns="0" bIns="0" rtlCol="0" anchor="ctr"/>
          <a:lstStyle/>
          <a:p>
            <a:pPr marL="0" indent="0" algn="ctr">
              <a:buNone/>
            </a:pPr>
            <a:r>
              <a:rPr lang="en-US" sz="1100" dirty="0">
                <a:solidFill>
                  <a:srgbClr val="1F2033"/>
                </a:solidFill>
              </a:rPr>
              <a:t>P90</a:t>
            </a:r>
            <a:endParaRPr lang="en-US" sz="1100" dirty="0"/>
          </a:p>
        </p:txBody>
      </p:sp>
      <p:sp>
        <p:nvSpPr>
          <p:cNvPr id="41" name="Text 18">
            <a:extLst>
              <a:ext uri="{FF2B5EF4-FFF2-40B4-BE49-F238E27FC236}">
                <a16:creationId xmlns:a16="http://schemas.microsoft.com/office/drawing/2014/main" id="{EDE14619-32C7-012A-8C92-0C7682E6983E}"/>
              </a:ext>
            </a:extLst>
          </p:cNvPr>
          <p:cNvSpPr/>
          <p:nvPr/>
        </p:nvSpPr>
        <p:spPr>
          <a:xfrm>
            <a:off x="1188720" y="3371947"/>
            <a:ext cx="685800" cy="182880"/>
          </a:xfrm>
          <a:prstGeom prst="rect">
            <a:avLst/>
          </a:prstGeom>
          <a:noFill/>
          <a:ln/>
        </p:spPr>
        <p:txBody>
          <a:bodyPr wrap="square" lIns="0" tIns="0" rIns="0" bIns="0" rtlCol="0" anchor="ctr"/>
          <a:lstStyle/>
          <a:p>
            <a:pPr marL="0" indent="0" algn="ctr">
              <a:buNone/>
            </a:pPr>
            <a:r>
              <a:rPr lang="en-US" sz="850" b="1" dirty="0">
                <a:solidFill>
                  <a:srgbClr val="1F2033"/>
                </a:solidFill>
              </a:rPr>
              <a:t>32.55%</a:t>
            </a:r>
            <a:endParaRPr lang="en-US" sz="850" dirty="0"/>
          </a:p>
        </p:txBody>
      </p:sp>
      <p:sp>
        <p:nvSpPr>
          <p:cNvPr id="42" name="Text 19">
            <a:extLst>
              <a:ext uri="{FF2B5EF4-FFF2-40B4-BE49-F238E27FC236}">
                <a16:creationId xmlns:a16="http://schemas.microsoft.com/office/drawing/2014/main" id="{EC19C91F-F3F8-489C-8356-30E9BB408BFF}"/>
              </a:ext>
            </a:extLst>
          </p:cNvPr>
          <p:cNvSpPr/>
          <p:nvPr/>
        </p:nvSpPr>
        <p:spPr>
          <a:xfrm>
            <a:off x="1673352" y="2388839"/>
            <a:ext cx="685800" cy="182880"/>
          </a:xfrm>
          <a:prstGeom prst="rect">
            <a:avLst/>
          </a:prstGeom>
          <a:noFill/>
          <a:ln/>
        </p:spPr>
        <p:txBody>
          <a:bodyPr wrap="square" lIns="0" tIns="0" rIns="0" bIns="0" rtlCol="0" anchor="ctr"/>
          <a:lstStyle/>
          <a:p>
            <a:pPr marL="0" indent="0" algn="ctr">
              <a:buNone/>
            </a:pPr>
            <a:r>
              <a:rPr lang="en-US" sz="850" b="1" dirty="0">
                <a:solidFill>
                  <a:srgbClr val="D51C1C"/>
                </a:solidFill>
              </a:rPr>
              <a:t>48.84%</a:t>
            </a:r>
            <a:endParaRPr lang="en-US" sz="850" dirty="0"/>
          </a:p>
        </p:txBody>
      </p:sp>
      <p:sp>
        <p:nvSpPr>
          <p:cNvPr id="43" name="Shape 20">
            <a:extLst>
              <a:ext uri="{FF2B5EF4-FFF2-40B4-BE49-F238E27FC236}">
                <a16:creationId xmlns:a16="http://schemas.microsoft.com/office/drawing/2014/main" id="{2DA34730-3137-5012-E625-5E8E6D9102F5}"/>
              </a:ext>
            </a:extLst>
          </p:cNvPr>
          <p:cNvSpPr/>
          <p:nvPr/>
        </p:nvSpPr>
        <p:spPr>
          <a:xfrm>
            <a:off x="3063240" y="4396569"/>
            <a:ext cx="411480" cy="1168384"/>
          </a:xfrm>
          <a:prstGeom prst="rect">
            <a:avLst/>
          </a:prstGeom>
          <a:solidFill>
            <a:srgbClr val="2B5CAA"/>
          </a:solidFill>
          <a:ln w="6350">
            <a:solidFill>
              <a:srgbClr val="23547A"/>
            </a:solidFill>
            <a:prstDash val="solid"/>
          </a:ln>
        </p:spPr>
        <p:txBody>
          <a:bodyPr/>
          <a:lstStyle/>
          <a:p>
            <a:endParaRPr/>
          </a:p>
        </p:txBody>
      </p:sp>
      <p:sp>
        <p:nvSpPr>
          <p:cNvPr id="44" name="Shape 21">
            <a:extLst>
              <a:ext uri="{FF2B5EF4-FFF2-40B4-BE49-F238E27FC236}">
                <a16:creationId xmlns:a16="http://schemas.microsoft.com/office/drawing/2014/main" id="{586869DC-1904-1CE3-988B-CA5BE8BB4FBA}"/>
              </a:ext>
            </a:extLst>
          </p:cNvPr>
          <p:cNvSpPr/>
          <p:nvPr/>
        </p:nvSpPr>
        <p:spPr>
          <a:xfrm>
            <a:off x="3538728" y="4466576"/>
            <a:ext cx="411480" cy="1098377"/>
          </a:xfrm>
          <a:prstGeom prst="rect">
            <a:avLst/>
          </a:prstGeom>
          <a:solidFill>
            <a:srgbClr val="ED1B24"/>
          </a:solidFill>
          <a:ln w="6350">
            <a:solidFill>
              <a:srgbClr val="D51C1C"/>
            </a:solidFill>
            <a:prstDash val="solid"/>
          </a:ln>
        </p:spPr>
        <p:txBody>
          <a:bodyPr/>
          <a:lstStyle/>
          <a:p>
            <a:endParaRPr/>
          </a:p>
        </p:txBody>
      </p:sp>
      <p:sp>
        <p:nvSpPr>
          <p:cNvPr id="45" name="Text 22">
            <a:extLst>
              <a:ext uri="{FF2B5EF4-FFF2-40B4-BE49-F238E27FC236}">
                <a16:creationId xmlns:a16="http://schemas.microsoft.com/office/drawing/2014/main" id="{E92BF7C9-5566-CA5C-3429-1D42ABDE730F}"/>
              </a:ext>
            </a:extLst>
          </p:cNvPr>
          <p:cNvSpPr/>
          <p:nvPr/>
        </p:nvSpPr>
        <p:spPr>
          <a:xfrm>
            <a:off x="3044952" y="5656393"/>
            <a:ext cx="960120" cy="228600"/>
          </a:xfrm>
          <a:prstGeom prst="rect">
            <a:avLst/>
          </a:prstGeom>
          <a:noFill/>
          <a:ln/>
        </p:spPr>
        <p:txBody>
          <a:bodyPr wrap="square" lIns="0" tIns="0" rIns="0" bIns="0" rtlCol="0" anchor="ctr"/>
          <a:lstStyle/>
          <a:p>
            <a:pPr marL="0" indent="0" algn="ctr">
              <a:buNone/>
            </a:pPr>
            <a:r>
              <a:rPr lang="en-US" sz="1100" b="1" dirty="0">
                <a:solidFill>
                  <a:srgbClr val="D51C1C"/>
                </a:solidFill>
              </a:rPr>
              <a:t>P95</a:t>
            </a:r>
            <a:endParaRPr lang="en-US" sz="1100" dirty="0"/>
          </a:p>
        </p:txBody>
      </p:sp>
      <p:sp>
        <p:nvSpPr>
          <p:cNvPr id="46" name="Text 23">
            <a:extLst>
              <a:ext uri="{FF2B5EF4-FFF2-40B4-BE49-F238E27FC236}">
                <a16:creationId xmlns:a16="http://schemas.microsoft.com/office/drawing/2014/main" id="{1DC99353-13B8-2115-A72D-5C675D791ADD}"/>
              </a:ext>
            </a:extLst>
          </p:cNvPr>
          <p:cNvSpPr/>
          <p:nvPr/>
        </p:nvSpPr>
        <p:spPr>
          <a:xfrm>
            <a:off x="2926080" y="4167969"/>
            <a:ext cx="685800" cy="182880"/>
          </a:xfrm>
          <a:prstGeom prst="rect">
            <a:avLst/>
          </a:prstGeom>
          <a:noFill/>
          <a:ln/>
        </p:spPr>
        <p:txBody>
          <a:bodyPr wrap="square" lIns="0" tIns="0" rIns="0" bIns="0" rtlCol="0" anchor="ctr"/>
          <a:lstStyle/>
          <a:p>
            <a:pPr marL="0" indent="0" algn="ctr">
              <a:buNone/>
            </a:pPr>
            <a:r>
              <a:rPr lang="en-US" sz="850" b="1" dirty="0">
                <a:solidFill>
                  <a:srgbClr val="1F2033"/>
                </a:solidFill>
              </a:rPr>
              <a:t>19.36%</a:t>
            </a:r>
            <a:endParaRPr lang="en-US" sz="850" dirty="0"/>
          </a:p>
        </p:txBody>
      </p:sp>
      <p:sp>
        <p:nvSpPr>
          <p:cNvPr id="47" name="Text 24">
            <a:extLst>
              <a:ext uri="{FF2B5EF4-FFF2-40B4-BE49-F238E27FC236}">
                <a16:creationId xmlns:a16="http://schemas.microsoft.com/office/drawing/2014/main" id="{40E4F6B4-7CAF-29D4-02D4-E7EA5236676A}"/>
              </a:ext>
            </a:extLst>
          </p:cNvPr>
          <p:cNvSpPr/>
          <p:nvPr/>
        </p:nvSpPr>
        <p:spPr>
          <a:xfrm>
            <a:off x="3410712" y="4237976"/>
            <a:ext cx="685800" cy="182880"/>
          </a:xfrm>
          <a:prstGeom prst="rect">
            <a:avLst/>
          </a:prstGeom>
          <a:noFill/>
          <a:ln/>
        </p:spPr>
        <p:txBody>
          <a:bodyPr wrap="square" lIns="0" tIns="0" rIns="0" bIns="0" rtlCol="0" anchor="ctr"/>
          <a:lstStyle/>
          <a:p>
            <a:pPr marL="0" indent="0" algn="ctr">
              <a:buNone/>
            </a:pPr>
            <a:r>
              <a:rPr lang="en-US" sz="850" b="1" dirty="0">
                <a:solidFill>
                  <a:srgbClr val="D51C1C"/>
                </a:solidFill>
              </a:rPr>
              <a:t>18.20%</a:t>
            </a:r>
            <a:endParaRPr lang="en-US" sz="850" dirty="0"/>
          </a:p>
        </p:txBody>
      </p:sp>
      <p:sp>
        <p:nvSpPr>
          <p:cNvPr id="48" name="Shape 25">
            <a:extLst>
              <a:ext uri="{FF2B5EF4-FFF2-40B4-BE49-F238E27FC236}">
                <a16:creationId xmlns:a16="http://schemas.microsoft.com/office/drawing/2014/main" id="{F3DC08E4-0754-07CB-F41F-99A4D01AEC02}"/>
              </a:ext>
            </a:extLst>
          </p:cNvPr>
          <p:cNvSpPr/>
          <p:nvPr/>
        </p:nvSpPr>
        <p:spPr>
          <a:xfrm>
            <a:off x="4800600" y="5305446"/>
            <a:ext cx="411480" cy="259507"/>
          </a:xfrm>
          <a:prstGeom prst="rect">
            <a:avLst/>
          </a:prstGeom>
          <a:solidFill>
            <a:srgbClr val="2B5CAA"/>
          </a:solidFill>
          <a:ln w="6350">
            <a:solidFill>
              <a:srgbClr val="23547A"/>
            </a:solidFill>
            <a:prstDash val="solid"/>
          </a:ln>
        </p:spPr>
        <p:txBody>
          <a:bodyPr/>
          <a:lstStyle/>
          <a:p>
            <a:endParaRPr/>
          </a:p>
        </p:txBody>
      </p:sp>
      <p:sp>
        <p:nvSpPr>
          <p:cNvPr id="49" name="Shape 26">
            <a:extLst>
              <a:ext uri="{FF2B5EF4-FFF2-40B4-BE49-F238E27FC236}">
                <a16:creationId xmlns:a16="http://schemas.microsoft.com/office/drawing/2014/main" id="{37F41C54-1C43-54B4-47C0-8A14BF5EBCAA}"/>
              </a:ext>
            </a:extLst>
          </p:cNvPr>
          <p:cNvSpPr/>
          <p:nvPr/>
        </p:nvSpPr>
        <p:spPr>
          <a:xfrm>
            <a:off x="5276088" y="5494343"/>
            <a:ext cx="411480" cy="70610"/>
          </a:xfrm>
          <a:prstGeom prst="rect">
            <a:avLst/>
          </a:prstGeom>
          <a:solidFill>
            <a:srgbClr val="ED1B24"/>
          </a:solidFill>
          <a:ln w="6350">
            <a:solidFill>
              <a:srgbClr val="D51C1C"/>
            </a:solidFill>
            <a:prstDash val="solid"/>
          </a:ln>
        </p:spPr>
        <p:txBody>
          <a:bodyPr/>
          <a:lstStyle/>
          <a:p>
            <a:endParaRPr/>
          </a:p>
        </p:txBody>
      </p:sp>
      <p:sp>
        <p:nvSpPr>
          <p:cNvPr id="50" name="Text 27">
            <a:extLst>
              <a:ext uri="{FF2B5EF4-FFF2-40B4-BE49-F238E27FC236}">
                <a16:creationId xmlns:a16="http://schemas.microsoft.com/office/drawing/2014/main" id="{14FC5CF1-FAB6-0441-8E59-6C4A618B7C93}"/>
              </a:ext>
            </a:extLst>
          </p:cNvPr>
          <p:cNvSpPr/>
          <p:nvPr/>
        </p:nvSpPr>
        <p:spPr>
          <a:xfrm>
            <a:off x="4782312" y="5656393"/>
            <a:ext cx="960120" cy="228600"/>
          </a:xfrm>
          <a:prstGeom prst="rect">
            <a:avLst/>
          </a:prstGeom>
          <a:noFill/>
          <a:ln/>
        </p:spPr>
        <p:txBody>
          <a:bodyPr wrap="square" lIns="0" tIns="0" rIns="0" bIns="0" rtlCol="0" anchor="ctr"/>
          <a:lstStyle/>
          <a:p>
            <a:pPr marL="0" indent="0" algn="ctr">
              <a:buNone/>
            </a:pPr>
            <a:r>
              <a:rPr lang="en-US" sz="1100" dirty="0">
                <a:solidFill>
                  <a:srgbClr val="1F2033"/>
                </a:solidFill>
              </a:rPr>
              <a:t>P99</a:t>
            </a:r>
            <a:endParaRPr lang="en-US" sz="1100" dirty="0"/>
          </a:p>
        </p:txBody>
      </p:sp>
      <p:sp>
        <p:nvSpPr>
          <p:cNvPr id="51" name="Text 28">
            <a:extLst>
              <a:ext uri="{FF2B5EF4-FFF2-40B4-BE49-F238E27FC236}">
                <a16:creationId xmlns:a16="http://schemas.microsoft.com/office/drawing/2014/main" id="{99C384E6-30AB-FD6B-708E-C55D25371D9E}"/>
              </a:ext>
            </a:extLst>
          </p:cNvPr>
          <p:cNvSpPr/>
          <p:nvPr/>
        </p:nvSpPr>
        <p:spPr>
          <a:xfrm>
            <a:off x="4663440" y="5076846"/>
            <a:ext cx="685800" cy="182880"/>
          </a:xfrm>
          <a:prstGeom prst="rect">
            <a:avLst/>
          </a:prstGeom>
          <a:noFill/>
          <a:ln/>
        </p:spPr>
        <p:txBody>
          <a:bodyPr wrap="square" lIns="0" tIns="0" rIns="0" bIns="0" rtlCol="0" anchor="ctr"/>
          <a:lstStyle/>
          <a:p>
            <a:pPr marL="0" indent="0" algn="ctr">
              <a:buNone/>
            </a:pPr>
            <a:r>
              <a:rPr lang="en-US" sz="850" b="1" dirty="0">
                <a:solidFill>
                  <a:srgbClr val="1F2033"/>
                </a:solidFill>
              </a:rPr>
              <a:t>4.30%</a:t>
            </a:r>
            <a:endParaRPr lang="en-US" sz="850" dirty="0"/>
          </a:p>
        </p:txBody>
      </p:sp>
      <p:sp>
        <p:nvSpPr>
          <p:cNvPr id="52" name="Text 29">
            <a:extLst>
              <a:ext uri="{FF2B5EF4-FFF2-40B4-BE49-F238E27FC236}">
                <a16:creationId xmlns:a16="http://schemas.microsoft.com/office/drawing/2014/main" id="{3B284BB0-B14D-C8CA-99D5-D758BFE7DB8D}"/>
              </a:ext>
            </a:extLst>
          </p:cNvPr>
          <p:cNvSpPr/>
          <p:nvPr/>
        </p:nvSpPr>
        <p:spPr>
          <a:xfrm>
            <a:off x="5148072" y="5265743"/>
            <a:ext cx="685800" cy="182880"/>
          </a:xfrm>
          <a:prstGeom prst="rect">
            <a:avLst/>
          </a:prstGeom>
          <a:noFill/>
          <a:ln/>
        </p:spPr>
        <p:txBody>
          <a:bodyPr wrap="square" lIns="0" tIns="0" rIns="0" bIns="0" rtlCol="0" anchor="ctr"/>
          <a:lstStyle/>
          <a:p>
            <a:pPr marL="0" indent="0" algn="ctr">
              <a:buNone/>
            </a:pPr>
            <a:r>
              <a:rPr lang="en-US" sz="850" b="1" dirty="0">
                <a:solidFill>
                  <a:srgbClr val="D51C1C"/>
                </a:solidFill>
              </a:rPr>
              <a:t>1.17%</a:t>
            </a:r>
            <a:endParaRPr lang="en-US" sz="850" dirty="0"/>
          </a:p>
        </p:txBody>
      </p:sp>
      <p:sp>
        <p:nvSpPr>
          <p:cNvPr id="53" name="Text 30">
            <a:extLst>
              <a:ext uri="{FF2B5EF4-FFF2-40B4-BE49-F238E27FC236}">
                <a16:creationId xmlns:a16="http://schemas.microsoft.com/office/drawing/2014/main" id="{EE38969F-D29A-4272-A0D9-12A91F16A89C}"/>
              </a:ext>
            </a:extLst>
          </p:cNvPr>
          <p:cNvSpPr/>
          <p:nvPr/>
        </p:nvSpPr>
        <p:spPr>
          <a:xfrm>
            <a:off x="914400" y="6232465"/>
            <a:ext cx="1417320" cy="182880"/>
          </a:xfrm>
          <a:prstGeom prst="rect">
            <a:avLst/>
          </a:prstGeom>
          <a:noFill/>
          <a:ln/>
        </p:spPr>
        <p:txBody>
          <a:bodyPr wrap="square" lIns="0" tIns="0" rIns="0" bIns="0" rtlCol="0" anchor="ctr"/>
          <a:lstStyle/>
          <a:p>
            <a:pPr marL="0" indent="0">
              <a:buNone/>
            </a:pPr>
            <a:r>
              <a:rPr lang="en-US" sz="950" dirty="0">
                <a:solidFill>
                  <a:srgbClr val="1F2033"/>
                </a:solidFill>
              </a:rPr>
              <a:t>Affected transactions</a:t>
            </a:r>
            <a:endParaRPr lang="en-US" sz="950" dirty="0"/>
          </a:p>
        </p:txBody>
      </p:sp>
      <p:sp>
        <p:nvSpPr>
          <p:cNvPr id="54" name="Shape 31">
            <a:extLst>
              <a:ext uri="{FF2B5EF4-FFF2-40B4-BE49-F238E27FC236}">
                <a16:creationId xmlns:a16="http://schemas.microsoft.com/office/drawing/2014/main" id="{9614E6E3-D966-5F7C-2452-10C8BA40C041}"/>
              </a:ext>
            </a:extLst>
          </p:cNvPr>
          <p:cNvSpPr/>
          <p:nvPr/>
        </p:nvSpPr>
        <p:spPr>
          <a:xfrm>
            <a:off x="685800" y="6241609"/>
            <a:ext cx="155448" cy="155448"/>
          </a:xfrm>
          <a:prstGeom prst="rect">
            <a:avLst/>
          </a:prstGeom>
          <a:solidFill>
            <a:srgbClr val="2B5CAA"/>
          </a:solidFill>
          <a:ln w="6350">
            <a:solidFill>
              <a:srgbClr val="23547A"/>
            </a:solidFill>
            <a:prstDash val="solid"/>
          </a:ln>
        </p:spPr>
        <p:txBody>
          <a:bodyPr/>
          <a:lstStyle/>
          <a:p>
            <a:endParaRPr/>
          </a:p>
        </p:txBody>
      </p:sp>
      <p:sp>
        <p:nvSpPr>
          <p:cNvPr id="55" name="Text 32">
            <a:extLst>
              <a:ext uri="{FF2B5EF4-FFF2-40B4-BE49-F238E27FC236}">
                <a16:creationId xmlns:a16="http://schemas.microsoft.com/office/drawing/2014/main" id="{9F4324CA-9EF7-F435-9EDB-902BDA04F54F}"/>
              </a:ext>
            </a:extLst>
          </p:cNvPr>
          <p:cNvSpPr/>
          <p:nvPr/>
        </p:nvSpPr>
        <p:spPr>
          <a:xfrm>
            <a:off x="2697480" y="6232465"/>
            <a:ext cx="1828800" cy="182880"/>
          </a:xfrm>
          <a:prstGeom prst="rect">
            <a:avLst/>
          </a:prstGeom>
          <a:noFill/>
          <a:ln/>
        </p:spPr>
        <p:txBody>
          <a:bodyPr wrap="square" lIns="0" tIns="0" rIns="0" bIns="0" rtlCol="0" anchor="ctr"/>
          <a:lstStyle/>
          <a:p>
            <a:pPr marL="0" indent="0">
              <a:buNone/>
            </a:pPr>
            <a:r>
              <a:rPr lang="en-US" sz="950" dirty="0">
                <a:solidFill>
                  <a:srgbClr val="1F2033"/>
                </a:solidFill>
              </a:rPr>
              <a:t>Discount exposure reduction</a:t>
            </a:r>
            <a:endParaRPr lang="en-US" sz="950" dirty="0"/>
          </a:p>
        </p:txBody>
      </p:sp>
      <p:sp>
        <p:nvSpPr>
          <p:cNvPr id="56" name="Shape 33">
            <a:extLst>
              <a:ext uri="{FF2B5EF4-FFF2-40B4-BE49-F238E27FC236}">
                <a16:creationId xmlns:a16="http://schemas.microsoft.com/office/drawing/2014/main" id="{3A605190-7396-614E-17EB-FABF5E6A6085}"/>
              </a:ext>
            </a:extLst>
          </p:cNvPr>
          <p:cNvSpPr/>
          <p:nvPr/>
        </p:nvSpPr>
        <p:spPr>
          <a:xfrm>
            <a:off x="2468880" y="6241609"/>
            <a:ext cx="155448" cy="155448"/>
          </a:xfrm>
          <a:prstGeom prst="rect">
            <a:avLst/>
          </a:prstGeom>
          <a:solidFill>
            <a:srgbClr val="ED1B24"/>
          </a:solidFill>
          <a:ln w="6350">
            <a:solidFill>
              <a:srgbClr val="D51C1C"/>
            </a:solidFill>
            <a:prstDash val="solid"/>
          </a:ln>
        </p:spPr>
        <p:txBody>
          <a:bodyPr/>
          <a:lstStyle/>
          <a:p>
            <a:endParaRPr/>
          </a:p>
        </p:txBody>
      </p:sp>
      <p:sp>
        <p:nvSpPr>
          <p:cNvPr id="57" name="Shape 34">
            <a:extLst>
              <a:ext uri="{FF2B5EF4-FFF2-40B4-BE49-F238E27FC236}">
                <a16:creationId xmlns:a16="http://schemas.microsoft.com/office/drawing/2014/main" id="{76CAC6F9-B328-605E-6DB6-EBF276D4E44A}"/>
              </a:ext>
            </a:extLst>
          </p:cNvPr>
          <p:cNvSpPr/>
          <p:nvPr/>
        </p:nvSpPr>
        <p:spPr>
          <a:xfrm>
            <a:off x="7040880" y="1971361"/>
            <a:ext cx="1417320" cy="1024128"/>
          </a:xfrm>
          <a:prstGeom prst="roundRect">
            <a:avLst/>
          </a:prstGeom>
          <a:noFill/>
          <a:ln w="12700">
            <a:solidFill>
              <a:srgbClr val="C2D3DE"/>
            </a:solidFill>
            <a:prstDash val="solid"/>
          </a:ln>
        </p:spPr>
        <p:txBody>
          <a:bodyPr/>
          <a:lstStyle/>
          <a:p>
            <a:endParaRPr/>
          </a:p>
        </p:txBody>
      </p:sp>
      <p:sp>
        <p:nvSpPr>
          <p:cNvPr id="58" name="Text 35">
            <a:extLst>
              <a:ext uri="{FF2B5EF4-FFF2-40B4-BE49-F238E27FC236}">
                <a16:creationId xmlns:a16="http://schemas.microsoft.com/office/drawing/2014/main" id="{BA5A7201-907D-76BF-9814-74FA9C4F8500}"/>
              </a:ext>
            </a:extLst>
          </p:cNvPr>
          <p:cNvSpPr/>
          <p:nvPr/>
        </p:nvSpPr>
        <p:spPr>
          <a:xfrm>
            <a:off x="7168896" y="2081089"/>
            <a:ext cx="1161288" cy="384048"/>
          </a:xfrm>
          <a:prstGeom prst="rect">
            <a:avLst/>
          </a:prstGeom>
          <a:noFill/>
          <a:ln/>
        </p:spPr>
        <p:txBody>
          <a:bodyPr wrap="square" lIns="0" tIns="0" rIns="0" bIns="0" rtlCol="0" anchor="ctr"/>
          <a:lstStyle/>
          <a:p>
            <a:pPr marL="0" indent="0" algn="ctr">
              <a:buNone/>
            </a:pPr>
            <a:r>
              <a:rPr lang="en-US" sz="2400" b="1" dirty="0">
                <a:solidFill>
                  <a:srgbClr val="23547A"/>
                </a:solidFill>
              </a:rPr>
              <a:t>94</a:t>
            </a:r>
            <a:endParaRPr lang="en-US" sz="2400" dirty="0"/>
          </a:p>
        </p:txBody>
      </p:sp>
      <p:sp>
        <p:nvSpPr>
          <p:cNvPr id="59" name="Text 36">
            <a:extLst>
              <a:ext uri="{FF2B5EF4-FFF2-40B4-BE49-F238E27FC236}">
                <a16:creationId xmlns:a16="http://schemas.microsoft.com/office/drawing/2014/main" id="{D76A32B5-588F-6154-3CC2-E3A3FEE9E831}"/>
              </a:ext>
            </a:extLst>
          </p:cNvPr>
          <p:cNvSpPr/>
          <p:nvPr/>
        </p:nvSpPr>
        <p:spPr>
          <a:xfrm>
            <a:off x="7150608" y="2501713"/>
            <a:ext cx="1197864" cy="420624"/>
          </a:xfrm>
          <a:prstGeom prst="rect">
            <a:avLst/>
          </a:prstGeom>
          <a:noFill/>
          <a:ln/>
        </p:spPr>
        <p:txBody>
          <a:bodyPr wrap="square" lIns="0" tIns="0" rIns="0" bIns="0" rtlCol="0" anchor="t"/>
          <a:lstStyle/>
          <a:p>
            <a:pPr marL="0" indent="0" algn="ctr">
              <a:buNone/>
            </a:pPr>
            <a:r>
              <a:rPr lang="en-US" sz="1050" dirty="0"/>
              <a:t>JSM SKU with</a:t>
            </a:r>
          </a:p>
          <a:p>
            <a:pPr marL="0" indent="0" algn="ctr">
              <a:buNone/>
            </a:pPr>
            <a:r>
              <a:rPr lang="en-US" sz="1050" dirty="0" err="1"/>
              <a:t>NonJSM</a:t>
            </a:r>
            <a:r>
              <a:rPr lang="en-US" sz="1050" dirty="0"/>
              <a:t> baseline</a:t>
            </a:r>
          </a:p>
        </p:txBody>
      </p:sp>
      <p:sp>
        <p:nvSpPr>
          <p:cNvPr id="60" name="Shape 37">
            <a:extLst>
              <a:ext uri="{FF2B5EF4-FFF2-40B4-BE49-F238E27FC236}">
                <a16:creationId xmlns:a16="http://schemas.microsoft.com/office/drawing/2014/main" id="{A20811FE-C0C0-DADE-010D-36BDA7F0E393}"/>
              </a:ext>
            </a:extLst>
          </p:cNvPr>
          <p:cNvSpPr/>
          <p:nvPr/>
        </p:nvSpPr>
        <p:spPr>
          <a:xfrm>
            <a:off x="8641080" y="1971361"/>
            <a:ext cx="1417320" cy="1024128"/>
          </a:xfrm>
          <a:prstGeom prst="roundRect">
            <a:avLst/>
          </a:prstGeom>
          <a:noFill/>
          <a:ln w="12700">
            <a:solidFill>
              <a:srgbClr val="C2D3DE"/>
            </a:solidFill>
            <a:prstDash val="solid"/>
          </a:ln>
        </p:spPr>
        <p:txBody>
          <a:bodyPr/>
          <a:lstStyle/>
          <a:p>
            <a:endParaRPr/>
          </a:p>
        </p:txBody>
      </p:sp>
      <p:sp>
        <p:nvSpPr>
          <p:cNvPr id="61" name="Text 38">
            <a:extLst>
              <a:ext uri="{FF2B5EF4-FFF2-40B4-BE49-F238E27FC236}">
                <a16:creationId xmlns:a16="http://schemas.microsoft.com/office/drawing/2014/main" id="{E4000D94-7D3C-D143-35B7-179763FA1F8E}"/>
              </a:ext>
            </a:extLst>
          </p:cNvPr>
          <p:cNvSpPr/>
          <p:nvPr/>
        </p:nvSpPr>
        <p:spPr>
          <a:xfrm>
            <a:off x="8769096" y="2081089"/>
            <a:ext cx="1161288" cy="384048"/>
          </a:xfrm>
          <a:prstGeom prst="rect">
            <a:avLst/>
          </a:prstGeom>
          <a:noFill/>
          <a:ln/>
        </p:spPr>
        <p:txBody>
          <a:bodyPr wrap="square" lIns="0" tIns="0" rIns="0" bIns="0" rtlCol="0" anchor="ctr"/>
          <a:lstStyle/>
          <a:p>
            <a:pPr marL="0" indent="0" algn="ctr">
              <a:buNone/>
            </a:pPr>
            <a:r>
              <a:rPr lang="en-US" sz="1800" b="1" dirty="0">
                <a:solidFill>
                  <a:srgbClr val="23547A"/>
                </a:solidFill>
              </a:rPr>
              <a:t>147–554</a:t>
            </a:r>
            <a:endParaRPr lang="en-US" sz="2400" dirty="0"/>
          </a:p>
        </p:txBody>
      </p:sp>
      <p:sp>
        <p:nvSpPr>
          <p:cNvPr id="62" name="Text 39">
            <a:extLst>
              <a:ext uri="{FF2B5EF4-FFF2-40B4-BE49-F238E27FC236}">
                <a16:creationId xmlns:a16="http://schemas.microsoft.com/office/drawing/2014/main" id="{40A94EC8-2152-8AC9-85E8-07DD8AF21F05}"/>
              </a:ext>
            </a:extLst>
          </p:cNvPr>
          <p:cNvSpPr/>
          <p:nvPr/>
        </p:nvSpPr>
        <p:spPr>
          <a:xfrm>
            <a:off x="8750808" y="2501713"/>
            <a:ext cx="1197864" cy="420624"/>
          </a:xfrm>
          <a:prstGeom prst="rect">
            <a:avLst/>
          </a:prstGeom>
          <a:noFill/>
          <a:ln/>
        </p:spPr>
        <p:txBody>
          <a:bodyPr wrap="square" lIns="0" tIns="0" rIns="0" bIns="0" rtlCol="0" anchor="t"/>
          <a:lstStyle/>
          <a:p>
            <a:pPr marL="0" indent="0" algn="ctr">
              <a:buNone/>
            </a:pPr>
            <a:r>
              <a:rPr lang="en-US" sz="1050" dirty="0"/>
              <a:t>Baseline transactions</a:t>
            </a:r>
          </a:p>
          <a:p>
            <a:pPr marL="0" indent="0" algn="ctr">
              <a:buNone/>
            </a:pPr>
            <a:r>
              <a:rPr lang="en-US" sz="1050" dirty="0"/>
              <a:t>per SKU</a:t>
            </a:r>
          </a:p>
        </p:txBody>
      </p:sp>
      <p:sp>
        <p:nvSpPr>
          <p:cNvPr id="63" name="Shape 40">
            <a:extLst>
              <a:ext uri="{FF2B5EF4-FFF2-40B4-BE49-F238E27FC236}">
                <a16:creationId xmlns:a16="http://schemas.microsoft.com/office/drawing/2014/main" id="{3835E188-4607-41E2-763C-D2155D4750B2}"/>
              </a:ext>
            </a:extLst>
          </p:cNvPr>
          <p:cNvSpPr/>
          <p:nvPr/>
        </p:nvSpPr>
        <p:spPr>
          <a:xfrm>
            <a:off x="10241280" y="1971361"/>
            <a:ext cx="1417320" cy="1024128"/>
          </a:xfrm>
          <a:prstGeom prst="roundRect">
            <a:avLst/>
          </a:prstGeom>
          <a:noFill/>
          <a:ln w="12700">
            <a:solidFill>
              <a:srgbClr val="C2D3DE"/>
            </a:solidFill>
            <a:prstDash val="solid"/>
          </a:ln>
        </p:spPr>
        <p:txBody>
          <a:bodyPr/>
          <a:lstStyle/>
          <a:p>
            <a:endParaRPr/>
          </a:p>
        </p:txBody>
      </p:sp>
      <p:sp>
        <p:nvSpPr>
          <p:cNvPr id="64" name="Text 41">
            <a:extLst>
              <a:ext uri="{FF2B5EF4-FFF2-40B4-BE49-F238E27FC236}">
                <a16:creationId xmlns:a16="http://schemas.microsoft.com/office/drawing/2014/main" id="{96B2950A-93D8-7406-B917-C8ADF8C94DFB}"/>
              </a:ext>
            </a:extLst>
          </p:cNvPr>
          <p:cNvSpPr/>
          <p:nvPr/>
        </p:nvSpPr>
        <p:spPr>
          <a:xfrm>
            <a:off x="10369296" y="2081089"/>
            <a:ext cx="1161288" cy="384048"/>
          </a:xfrm>
          <a:prstGeom prst="rect">
            <a:avLst/>
          </a:prstGeom>
          <a:noFill/>
          <a:ln/>
        </p:spPr>
        <p:txBody>
          <a:bodyPr wrap="square" lIns="0" tIns="0" rIns="0" bIns="0" rtlCol="0" anchor="ctr"/>
          <a:lstStyle/>
          <a:p>
            <a:pPr marL="0" indent="0" algn="ctr">
              <a:buNone/>
            </a:pPr>
            <a:r>
              <a:rPr lang="en-US" sz="2400" b="1" dirty="0">
                <a:solidFill>
                  <a:srgbClr val="23547A"/>
                </a:solidFill>
              </a:rPr>
              <a:t>497</a:t>
            </a:r>
            <a:endParaRPr lang="en-US" sz="2400" dirty="0"/>
          </a:p>
        </p:txBody>
      </p:sp>
      <p:sp>
        <p:nvSpPr>
          <p:cNvPr id="65" name="Text 42">
            <a:extLst>
              <a:ext uri="{FF2B5EF4-FFF2-40B4-BE49-F238E27FC236}">
                <a16:creationId xmlns:a16="http://schemas.microsoft.com/office/drawing/2014/main" id="{78C4AC17-B063-34E6-3A1F-2D3D417D58D7}"/>
              </a:ext>
            </a:extLst>
          </p:cNvPr>
          <p:cNvSpPr/>
          <p:nvPr/>
        </p:nvSpPr>
        <p:spPr>
          <a:xfrm>
            <a:off x="10351008" y="2501713"/>
            <a:ext cx="1197864" cy="420624"/>
          </a:xfrm>
          <a:prstGeom prst="rect">
            <a:avLst/>
          </a:prstGeom>
          <a:noFill/>
          <a:ln/>
        </p:spPr>
        <p:txBody>
          <a:bodyPr wrap="square" lIns="0" tIns="0" rIns="0" bIns="0" rtlCol="0" anchor="t"/>
          <a:lstStyle/>
          <a:p>
            <a:pPr marL="0" indent="0" algn="ctr">
              <a:buNone/>
            </a:pPr>
            <a:r>
              <a:rPr lang="en-US" sz="1050" dirty="0"/>
              <a:t>Median baseline</a:t>
            </a:r>
          </a:p>
          <a:p>
            <a:pPr marL="0" indent="0" algn="ctr">
              <a:buNone/>
            </a:pPr>
            <a:r>
              <a:rPr lang="en-US" sz="1050" dirty="0"/>
              <a:t>Transactions per SKU</a:t>
            </a:r>
          </a:p>
        </p:txBody>
      </p:sp>
      <p:sp>
        <p:nvSpPr>
          <p:cNvPr id="66" name="Shape 43">
            <a:extLst>
              <a:ext uri="{FF2B5EF4-FFF2-40B4-BE49-F238E27FC236}">
                <a16:creationId xmlns:a16="http://schemas.microsoft.com/office/drawing/2014/main" id="{EB7A356D-CDE4-E56F-0D13-CDE10E74D7DF}"/>
              </a:ext>
            </a:extLst>
          </p:cNvPr>
          <p:cNvSpPr/>
          <p:nvPr/>
        </p:nvSpPr>
        <p:spPr>
          <a:xfrm>
            <a:off x="7040880" y="3682843"/>
            <a:ext cx="1417320" cy="1024128"/>
          </a:xfrm>
          <a:prstGeom prst="roundRect">
            <a:avLst/>
          </a:prstGeom>
          <a:solidFill>
            <a:srgbClr val="FFFFFF"/>
          </a:solidFill>
          <a:ln w="12700">
            <a:solidFill>
              <a:srgbClr val="ED1B24"/>
            </a:solidFill>
            <a:prstDash val="solid"/>
          </a:ln>
        </p:spPr>
        <p:txBody>
          <a:bodyPr/>
          <a:lstStyle/>
          <a:p>
            <a:endParaRPr/>
          </a:p>
        </p:txBody>
      </p:sp>
      <p:sp>
        <p:nvSpPr>
          <p:cNvPr id="67" name="Text 44">
            <a:extLst>
              <a:ext uri="{FF2B5EF4-FFF2-40B4-BE49-F238E27FC236}">
                <a16:creationId xmlns:a16="http://schemas.microsoft.com/office/drawing/2014/main" id="{F9556EDF-F2E6-5569-CBCC-7D4B86CE4DD6}"/>
              </a:ext>
            </a:extLst>
          </p:cNvPr>
          <p:cNvSpPr/>
          <p:nvPr/>
        </p:nvSpPr>
        <p:spPr>
          <a:xfrm>
            <a:off x="7168896" y="3792571"/>
            <a:ext cx="1161288" cy="384048"/>
          </a:xfrm>
          <a:prstGeom prst="rect">
            <a:avLst/>
          </a:prstGeom>
          <a:noFill/>
          <a:ln/>
        </p:spPr>
        <p:txBody>
          <a:bodyPr wrap="square" lIns="0" tIns="0" rIns="0" bIns="0" rtlCol="0" anchor="ctr"/>
          <a:lstStyle/>
          <a:p>
            <a:pPr marL="0" indent="0" algn="ctr">
              <a:buNone/>
            </a:pPr>
            <a:r>
              <a:rPr lang="en-US" sz="2400" b="1" dirty="0">
                <a:solidFill>
                  <a:srgbClr val="23547A"/>
                </a:solidFill>
              </a:rPr>
              <a:t>10,453</a:t>
            </a:r>
            <a:endParaRPr lang="en-US" sz="2400" dirty="0"/>
          </a:p>
        </p:txBody>
      </p:sp>
      <p:sp>
        <p:nvSpPr>
          <p:cNvPr id="68" name="Text 45">
            <a:extLst>
              <a:ext uri="{FF2B5EF4-FFF2-40B4-BE49-F238E27FC236}">
                <a16:creationId xmlns:a16="http://schemas.microsoft.com/office/drawing/2014/main" id="{F2982B3B-F309-18D2-4536-FD79496C37FE}"/>
              </a:ext>
            </a:extLst>
          </p:cNvPr>
          <p:cNvSpPr/>
          <p:nvPr/>
        </p:nvSpPr>
        <p:spPr>
          <a:xfrm>
            <a:off x="7150608" y="4213195"/>
            <a:ext cx="1197864" cy="420624"/>
          </a:xfrm>
          <a:prstGeom prst="rect">
            <a:avLst/>
          </a:prstGeom>
          <a:noFill/>
          <a:ln/>
        </p:spPr>
        <p:txBody>
          <a:bodyPr wrap="square" lIns="0" tIns="0" rIns="0" bIns="0" rtlCol="0" anchor="t"/>
          <a:lstStyle/>
          <a:p>
            <a:pPr marL="0" indent="0" algn="ctr">
              <a:buNone/>
            </a:pPr>
            <a:r>
              <a:rPr lang="en-US" sz="1050" dirty="0"/>
              <a:t>P95 affected</a:t>
            </a:r>
          </a:p>
          <a:p>
            <a:pPr marL="0" indent="0" algn="ctr">
              <a:buNone/>
            </a:pPr>
            <a:r>
              <a:rPr lang="en-US" sz="1050" dirty="0"/>
              <a:t>transactions</a:t>
            </a:r>
          </a:p>
        </p:txBody>
      </p:sp>
      <p:sp>
        <p:nvSpPr>
          <p:cNvPr id="69" name="Shape 46">
            <a:extLst>
              <a:ext uri="{FF2B5EF4-FFF2-40B4-BE49-F238E27FC236}">
                <a16:creationId xmlns:a16="http://schemas.microsoft.com/office/drawing/2014/main" id="{DF7DB834-6FB8-C365-9094-332AF0C4986E}"/>
              </a:ext>
            </a:extLst>
          </p:cNvPr>
          <p:cNvSpPr/>
          <p:nvPr/>
        </p:nvSpPr>
        <p:spPr>
          <a:xfrm>
            <a:off x="8641080" y="3682843"/>
            <a:ext cx="1417320" cy="1024128"/>
          </a:xfrm>
          <a:prstGeom prst="roundRect">
            <a:avLst/>
          </a:prstGeom>
          <a:solidFill>
            <a:srgbClr val="FFFFFF"/>
          </a:solidFill>
          <a:ln w="12700">
            <a:solidFill>
              <a:srgbClr val="ED1B24"/>
            </a:solidFill>
            <a:prstDash val="solid"/>
          </a:ln>
        </p:spPr>
        <p:txBody>
          <a:bodyPr/>
          <a:lstStyle/>
          <a:p>
            <a:endParaRPr/>
          </a:p>
        </p:txBody>
      </p:sp>
      <p:sp>
        <p:nvSpPr>
          <p:cNvPr id="70" name="Text 47">
            <a:extLst>
              <a:ext uri="{FF2B5EF4-FFF2-40B4-BE49-F238E27FC236}">
                <a16:creationId xmlns:a16="http://schemas.microsoft.com/office/drawing/2014/main" id="{577CCF87-C675-9042-28D3-3881F3F9A3E7}"/>
              </a:ext>
            </a:extLst>
          </p:cNvPr>
          <p:cNvSpPr/>
          <p:nvPr/>
        </p:nvSpPr>
        <p:spPr>
          <a:xfrm>
            <a:off x="8769096" y="3792571"/>
            <a:ext cx="1161288" cy="384048"/>
          </a:xfrm>
          <a:prstGeom prst="rect">
            <a:avLst/>
          </a:prstGeom>
          <a:noFill/>
          <a:ln/>
        </p:spPr>
        <p:txBody>
          <a:bodyPr wrap="square" lIns="0" tIns="0" rIns="0" bIns="0" rtlCol="0" anchor="ctr"/>
          <a:lstStyle/>
          <a:p>
            <a:pPr marL="0" indent="0" algn="ctr">
              <a:buNone/>
            </a:pPr>
            <a:r>
              <a:rPr lang="en-US" sz="2400" b="1" dirty="0">
                <a:solidFill>
                  <a:srgbClr val="23547A"/>
                </a:solidFill>
              </a:rPr>
              <a:t>211,697</a:t>
            </a:r>
            <a:endParaRPr lang="en-US" sz="2400" dirty="0"/>
          </a:p>
        </p:txBody>
      </p:sp>
      <p:sp>
        <p:nvSpPr>
          <p:cNvPr id="71" name="Text 48">
            <a:extLst>
              <a:ext uri="{FF2B5EF4-FFF2-40B4-BE49-F238E27FC236}">
                <a16:creationId xmlns:a16="http://schemas.microsoft.com/office/drawing/2014/main" id="{DF908EAD-C404-3486-0359-24462C3D29B8}"/>
              </a:ext>
            </a:extLst>
          </p:cNvPr>
          <p:cNvSpPr/>
          <p:nvPr/>
        </p:nvSpPr>
        <p:spPr>
          <a:xfrm>
            <a:off x="8750808" y="4213195"/>
            <a:ext cx="1197864" cy="420624"/>
          </a:xfrm>
          <a:prstGeom prst="rect">
            <a:avLst/>
          </a:prstGeom>
          <a:noFill/>
          <a:ln/>
        </p:spPr>
        <p:txBody>
          <a:bodyPr wrap="square" lIns="0" tIns="0" rIns="0" bIns="0" rtlCol="0" anchor="t"/>
          <a:lstStyle/>
          <a:p>
            <a:pPr marL="0" indent="0" algn="ctr">
              <a:buNone/>
            </a:pPr>
            <a:r>
              <a:rPr lang="en-US" sz="1050" dirty="0"/>
              <a:t>Excess units above</a:t>
            </a:r>
          </a:p>
          <a:p>
            <a:pPr marL="0" indent="0" algn="ctr">
              <a:buNone/>
            </a:pPr>
            <a:r>
              <a:rPr lang="en-US" sz="1050" dirty="0"/>
              <a:t>P95 eligibility</a:t>
            </a:r>
          </a:p>
        </p:txBody>
      </p:sp>
      <p:sp>
        <p:nvSpPr>
          <p:cNvPr id="72" name="Shape 49">
            <a:extLst>
              <a:ext uri="{FF2B5EF4-FFF2-40B4-BE49-F238E27FC236}">
                <a16:creationId xmlns:a16="http://schemas.microsoft.com/office/drawing/2014/main" id="{96DBDD2F-F144-CEBF-066E-DB4D5C410A3D}"/>
              </a:ext>
            </a:extLst>
          </p:cNvPr>
          <p:cNvSpPr/>
          <p:nvPr/>
        </p:nvSpPr>
        <p:spPr>
          <a:xfrm>
            <a:off x="10241280" y="3682843"/>
            <a:ext cx="1417320" cy="1024128"/>
          </a:xfrm>
          <a:prstGeom prst="roundRect">
            <a:avLst/>
          </a:prstGeom>
          <a:solidFill>
            <a:srgbClr val="FFFFFF"/>
          </a:solidFill>
          <a:ln w="12700">
            <a:solidFill>
              <a:srgbClr val="ED1B24"/>
            </a:solidFill>
            <a:prstDash val="solid"/>
          </a:ln>
        </p:spPr>
        <p:txBody>
          <a:bodyPr/>
          <a:lstStyle/>
          <a:p>
            <a:endParaRPr/>
          </a:p>
        </p:txBody>
      </p:sp>
      <p:sp>
        <p:nvSpPr>
          <p:cNvPr id="73" name="Text 50">
            <a:extLst>
              <a:ext uri="{FF2B5EF4-FFF2-40B4-BE49-F238E27FC236}">
                <a16:creationId xmlns:a16="http://schemas.microsoft.com/office/drawing/2014/main" id="{981A210B-1457-6133-935E-1B3D0F864CA5}"/>
              </a:ext>
            </a:extLst>
          </p:cNvPr>
          <p:cNvSpPr/>
          <p:nvPr/>
        </p:nvSpPr>
        <p:spPr>
          <a:xfrm>
            <a:off x="10369296" y="3792571"/>
            <a:ext cx="1161288" cy="384048"/>
          </a:xfrm>
          <a:prstGeom prst="rect">
            <a:avLst/>
          </a:prstGeom>
          <a:noFill/>
          <a:ln/>
        </p:spPr>
        <p:txBody>
          <a:bodyPr wrap="square" lIns="0" tIns="0" rIns="0" bIns="0" rtlCol="0" anchor="ctr"/>
          <a:lstStyle/>
          <a:p>
            <a:pPr marL="0" indent="0" algn="ctr">
              <a:buNone/>
            </a:pPr>
            <a:r>
              <a:rPr lang="en-US" sz="1700" b="1" dirty="0">
                <a:solidFill>
                  <a:srgbClr val="22547A"/>
                </a:solidFill>
              </a:rPr>
              <a:t>Rp 1.45 B</a:t>
            </a:r>
            <a:endParaRPr lang="en-US" sz="2400" dirty="0">
              <a:solidFill>
                <a:srgbClr val="22547A"/>
              </a:solidFill>
            </a:endParaRPr>
          </a:p>
        </p:txBody>
      </p:sp>
      <p:sp>
        <p:nvSpPr>
          <p:cNvPr id="74" name="Text 51">
            <a:extLst>
              <a:ext uri="{FF2B5EF4-FFF2-40B4-BE49-F238E27FC236}">
                <a16:creationId xmlns:a16="http://schemas.microsoft.com/office/drawing/2014/main" id="{AF64FDC1-380D-06DA-FCFA-30898C613D2E}"/>
              </a:ext>
            </a:extLst>
          </p:cNvPr>
          <p:cNvSpPr/>
          <p:nvPr/>
        </p:nvSpPr>
        <p:spPr>
          <a:xfrm>
            <a:off x="10351008" y="4213195"/>
            <a:ext cx="1197864" cy="420624"/>
          </a:xfrm>
          <a:prstGeom prst="rect">
            <a:avLst/>
          </a:prstGeom>
          <a:noFill/>
          <a:ln/>
        </p:spPr>
        <p:txBody>
          <a:bodyPr wrap="square" lIns="0" tIns="0" rIns="0" bIns="0" rtlCol="0" anchor="t"/>
          <a:lstStyle/>
          <a:p>
            <a:pPr marL="0" indent="0" algn="ctr">
              <a:buNone/>
            </a:pPr>
            <a:r>
              <a:rPr lang="en-US" sz="1050" dirty="0"/>
              <a:t>Potential discount</a:t>
            </a:r>
          </a:p>
          <a:p>
            <a:pPr marL="0" indent="0" algn="ctr">
              <a:buNone/>
            </a:pPr>
            <a:r>
              <a:rPr lang="en-US" sz="1050" dirty="0"/>
              <a:t>exposure reduction</a:t>
            </a:r>
          </a:p>
        </p:txBody>
      </p:sp>
      <p:sp>
        <p:nvSpPr>
          <p:cNvPr id="75" name="Shape 52">
            <a:extLst>
              <a:ext uri="{FF2B5EF4-FFF2-40B4-BE49-F238E27FC236}">
                <a16:creationId xmlns:a16="http://schemas.microsoft.com/office/drawing/2014/main" id="{8174D61D-DE43-108E-ABB5-8322AAAAEA4C}"/>
              </a:ext>
            </a:extLst>
          </p:cNvPr>
          <p:cNvSpPr/>
          <p:nvPr/>
        </p:nvSpPr>
        <p:spPr>
          <a:xfrm>
            <a:off x="7040880" y="5351601"/>
            <a:ext cx="4617720" cy="697156"/>
          </a:xfrm>
          <a:prstGeom prst="roundRect">
            <a:avLst>
              <a:gd name="adj" fmla="val 6957"/>
            </a:avLst>
          </a:prstGeom>
          <a:solidFill>
            <a:srgbClr val="FFFFFF"/>
          </a:solidFill>
          <a:ln w="15240">
            <a:solidFill>
              <a:srgbClr val="D9D2C7"/>
            </a:solidFill>
            <a:prstDash val="solid"/>
          </a:ln>
          <a:effectLst>
            <a:outerShdw blurRad="12700" dist="50800" dir="2700000" algn="bl" rotWithShape="0">
              <a:srgbClr val="D0CBC4">
                <a:alpha val="18000"/>
              </a:srgbClr>
            </a:outerShdw>
          </a:effectLst>
        </p:spPr>
        <p:txBody>
          <a:bodyPr wrap="square"/>
          <a:lstStyle/>
          <a:p>
            <a:r>
              <a:rPr sz="1050" dirty="0">
                <a:solidFill>
                  <a:srgbClr val="23232B"/>
                </a:solidFill>
                <a:latin typeface="Aptos"/>
              </a:rPr>
              <a:t>P90 is materially more aggressive</a:t>
            </a:r>
            <a:r>
              <a:rPr lang="en-US" sz="1050" dirty="0">
                <a:solidFill>
                  <a:srgbClr val="23232B"/>
                </a:solidFill>
                <a:latin typeface="Aptos"/>
              </a:rPr>
              <a:t>.</a:t>
            </a:r>
            <a:r>
              <a:rPr sz="1050" dirty="0">
                <a:solidFill>
                  <a:srgbClr val="23232B"/>
                </a:solidFill>
                <a:latin typeface="Aptos"/>
              </a:rPr>
              <a:t> P99 is too permissive. P95 is a defensible middle ground that adapts the cap to each SKU normal Non</a:t>
            </a:r>
            <a:r>
              <a:rPr lang="en-US" sz="1050" dirty="0">
                <a:solidFill>
                  <a:srgbClr val="23232B"/>
                </a:solidFill>
                <a:latin typeface="Aptos"/>
              </a:rPr>
              <a:t> </a:t>
            </a:r>
            <a:r>
              <a:rPr sz="1050" dirty="0">
                <a:solidFill>
                  <a:srgbClr val="23232B"/>
                </a:solidFill>
                <a:latin typeface="Aptos"/>
              </a:rPr>
              <a:t>JSM purchase pattern. Excess units remain purchasable at regular price.</a:t>
            </a:r>
          </a:p>
        </p:txBody>
      </p:sp>
      <p:sp>
        <p:nvSpPr>
          <p:cNvPr id="76" name="TextBox 75">
            <a:extLst>
              <a:ext uri="{FF2B5EF4-FFF2-40B4-BE49-F238E27FC236}">
                <a16:creationId xmlns:a16="http://schemas.microsoft.com/office/drawing/2014/main" id="{535CED51-8EAD-E892-EDB8-C8E495269914}"/>
              </a:ext>
            </a:extLst>
          </p:cNvPr>
          <p:cNvSpPr txBox="1"/>
          <p:nvPr/>
        </p:nvSpPr>
        <p:spPr>
          <a:xfrm>
            <a:off x="7040880" y="1697041"/>
            <a:ext cx="1024319" cy="153888"/>
          </a:xfrm>
          <a:prstGeom prst="rect">
            <a:avLst/>
          </a:prstGeom>
          <a:noFill/>
        </p:spPr>
        <p:txBody>
          <a:bodyPr wrap="none" lIns="0" tIns="0" rIns="0" bIns="0">
            <a:spAutoFit/>
          </a:bodyPr>
          <a:lstStyle/>
          <a:p>
            <a:pPr algn="l"/>
            <a:r>
              <a:rPr lang="en-US" sz="1000" b="1" dirty="0">
                <a:solidFill>
                  <a:srgbClr val="23547A"/>
                </a:solidFill>
                <a:latin typeface="Aptos"/>
              </a:rPr>
              <a:t>Non JSM Baseline</a:t>
            </a:r>
            <a:endParaRPr sz="1000" b="1" dirty="0">
              <a:solidFill>
                <a:srgbClr val="23547A"/>
              </a:solidFill>
              <a:latin typeface="Aptos"/>
            </a:endParaRPr>
          </a:p>
        </p:txBody>
      </p:sp>
      <p:sp>
        <p:nvSpPr>
          <p:cNvPr id="77" name="TextBox 76">
            <a:extLst>
              <a:ext uri="{FF2B5EF4-FFF2-40B4-BE49-F238E27FC236}">
                <a16:creationId xmlns:a16="http://schemas.microsoft.com/office/drawing/2014/main" id="{33963C5D-5D36-BD99-51CB-A34AE8707860}"/>
              </a:ext>
            </a:extLst>
          </p:cNvPr>
          <p:cNvSpPr txBox="1"/>
          <p:nvPr/>
        </p:nvSpPr>
        <p:spPr>
          <a:xfrm>
            <a:off x="7040880" y="3399379"/>
            <a:ext cx="1035540" cy="153888"/>
          </a:xfrm>
          <a:prstGeom prst="rect">
            <a:avLst/>
          </a:prstGeom>
          <a:noFill/>
        </p:spPr>
        <p:txBody>
          <a:bodyPr wrap="none" lIns="0" tIns="0" rIns="0" bIns="0">
            <a:spAutoFit/>
          </a:bodyPr>
          <a:lstStyle/>
          <a:p>
            <a:pPr algn="l"/>
            <a:r>
              <a:rPr sz="1000" b="1" dirty="0">
                <a:solidFill>
                  <a:srgbClr val="D51C1C"/>
                </a:solidFill>
                <a:latin typeface="Aptos"/>
              </a:rPr>
              <a:t>P95 </a:t>
            </a:r>
            <a:r>
              <a:rPr lang="en-US" sz="1000" b="1" dirty="0">
                <a:solidFill>
                  <a:srgbClr val="D51C1C"/>
                </a:solidFill>
                <a:latin typeface="Aptos"/>
              </a:rPr>
              <a:t>Policy Impact</a:t>
            </a:r>
            <a:endParaRPr sz="1000" b="1" dirty="0">
              <a:solidFill>
                <a:srgbClr val="D51C1C"/>
              </a:solidFill>
              <a:latin typeface="Aptos"/>
            </a:endParaRPr>
          </a:p>
        </p:txBody>
      </p:sp>
      <p:sp>
        <p:nvSpPr>
          <p:cNvPr id="78" name="TextBox 77">
            <a:extLst>
              <a:ext uri="{FF2B5EF4-FFF2-40B4-BE49-F238E27FC236}">
                <a16:creationId xmlns:a16="http://schemas.microsoft.com/office/drawing/2014/main" id="{F78EFB23-0E3E-DF70-0EA9-B737DB21352C}"/>
              </a:ext>
            </a:extLst>
          </p:cNvPr>
          <p:cNvSpPr txBox="1"/>
          <p:nvPr/>
        </p:nvSpPr>
        <p:spPr>
          <a:xfrm>
            <a:off x="3188764" y="2332252"/>
            <a:ext cx="626775" cy="123111"/>
          </a:xfrm>
          <a:prstGeom prst="rect">
            <a:avLst/>
          </a:prstGeom>
          <a:noFill/>
        </p:spPr>
        <p:txBody>
          <a:bodyPr wrap="none" lIns="0" tIns="0" rIns="0" bIns="0">
            <a:spAutoFit/>
          </a:bodyPr>
          <a:lstStyle/>
          <a:p>
            <a:pPr algn="ctr"/>
            <a:r>
              <a:rPr lang="en-US" sz="800" b="1" dirty="0" err="1">
                <a:solidFill>
                  <a:srgbClr val="D51C1C"/>
                </a:solidFill>
                <a:latin typeface="Aptos"/>
              </a:rPr>
              <a:t>Recomended</a:t>
            </a:r>
            <a:endParaRPr sz="800" b="1" dirty="0">
              <a:solidFill>
                <a:srgbClr val="D51C1C"/>
              </a:solidFill>
              <a:latin typeface="Aptos"/>
            </a:endParaRPr>
          </a:p>
        </p:txBody>
      </p:sp>
    </p:spTree>
    <p:extLst>
      <p:ext uri="{BB962C8B-B14F-4D97-AF65-F5344CB8AC3E}">
        <p14:creationId xmlns:p14="http://schemas.microsoft.com/office/powerpoint/2010/main" val="1832043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30920-85E3-B691-D788-BCE6931BA018}"/>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046F51CB-79C1-3F3F-72FB-D1F4976B5E7D}"/>
              </a:ext>
            </a:extLst>
          </p:cNvPr>
          <p:cNvPicPr>
            <a:picLocks noChangeAspect="1"/>
          </p:cNvPicPr>
          <p:nvPr/>
        </p:nvPicPr>
        <p:blipFill>
          <a:blip r:embed="rId2"/>
          <a:stretch>
            <a:fillRect/>
          </a:stretch>
        </p:blipFill>
        <p:spPr>
          <a:xfrm>
            <a:off x="0" y="-1"/>
            <a:ext cx="12192000" cy="621791"/>
          </a:xfrm>
          <a:prstGeom prst="rect">
            <a:avLst/>
          </a:prstGeom>
        </p:spPr>
      </p:pic>
      <p:sp>
        <p:nvSpPr>
          <p:cNvPr id="4" name="Text 0">
            <a:extLst>
              <a:ext uri="{FF2B5EF4-FFF2-40B4-BE49-F238E27FC236}">
                <a16:creationId xmlns:a16="http://schemas.microsoft.com/office/drawing/2014/main" id="{B17B86E1-2BE4-BCA5-5EE2-2568CF859129}"/>
              </a:ext>
            </a:extLst>
          </p:cNvPr>
          <p:cNvSpPr/>
          <p:nvPr/>
        </p:nvSpPr>
        <p:spPr>
          <a:xfrm>
            <a:off x="530352" y="475488"/>
            <a:ext cx="4421476" cy="329182"/>
          </a:xfrm>
          <a:prstGeom prst="rect">
            <a:avLst/>
          </a:prstGeom>
          <a:noFill/>
          <a:ln/>
        </p:spPr>
        <p:txBody>
          <a:bodyPr wrap="square" lIns="0" tIns="0" rIns="0" bIns="0" rtlCol="0" anchor="ctr"/>
          <a:lstStyle/>
          <a:p>
            <a:pPr marL="0" indent="0">
              <a:buNone/>
            </a:pPr>
            <a:r>
              <a:rPr lang="en-US" sz="2800" b="1" kern="0" spc="140" dirty="0">
                <a:solidFill>
                  <a:srgbClr val="D51C1C"/>
                </a:solidFill>
              </a:rPr>
              <a:t>TARGETING ANALYSIS</a:t>
            </a:r>
            <a:endParaRPr lang="en-US" sz="2800" dirty="0"/>
          </a:p>
        </p:txBody>
      </p:sp>
      <p:sp>
        <p:nvSpPr>
          <p:cNvPr id="6" name="Text 1">
            <a:extLst>
              <a:ext uri="{FF2B5EF4-FFF2-40B4-BE49-F238E27FC236}">
                <a16:creationId xmlns:a16="http://schemas.microsoft.com/office/drawing/2014/main" id="{F1429F61-8501-E024-0F75-ACAB6BD35D5F}"/>
              </a:ext>
            </a:extLst>
          </p:cNvPr>
          <p:cNvSpPr/>
          <p:nvPr/>
        </p:nvSpPr>
        <p:spPr>
          <a:xfrm>
            <a:off x="530352" y="713232"/>
            <a:ext cx="10332720" cy="512064"/>
          </a:xfrm>
          <a:prstGeom prst="rect">
            <a:avLst/>
          </a:prstGeom>
          <a:noFill/>
          <a:ln/>
        </p:spPr>
        <p:txBody>
          <a:bodyPr wrap="square" lIns="0" tIns="0" rIns="0" bIns="0" rtlCol="0" anchor="ctr"/>
          <a:lstStyle/>
          <a:p>
            <a:pPr marL="0" indent="0">
              <a:buNone/>
            </a:pPr>
            <a:r>
              <a:rPr lang="en-US" sz="1400" b="1" dirty="0">
                <a:solidFill>
                  <a:srgbClr val="1F2033"/>
                </a:solidFill>
              </a:rPr>
              <a:t>The P95 Impact Is Highly Concentrated in </a:t>
            </a:r>
            <a:r>
              <a:rPr lang="en-US" sz="1400" b="1" dirty="0" err="1">
                <a:solidFill>
                  <a:srgbClr val="1F2033"/>
                </a:solidFill>
              </a:rPr>
              <a:t>NearMarket</a:t>
            </a:r>
            <a:r>
              <a:rPr lang="en-US" sz="1400" b="1" dirty="0">
                <a:solidFill>
                  <a:srgbClr val="1F2033"/>
                </a:solidFill>
              </a:rPr>
              <a:t> / Wholesale Stores</a:t>
            </a:r>
            <a:endParaRPr lang="en-US" sz="1400" dirty="0"/>
          </a:p>
        </p:txBody>
      </p:sp>
      <p:sp>
        <p:nvSpPr>
          <p:cNvPr id="7" name="Text 2">
            <a:extLst>
              <a:ext uri="{FF2B5EF4-FFF2-40B4-BE49-F238E27FC236}">
                <a16:creationId xmlns:a16="http://schemas.microsoft.com/office/drawing/2014/main" id="{9AA16D60-DD65-B0B1-3AF7-068695630FA9}"/>
              </a:ext>
            </a:extLst>
          </p:cNvPr>
          <p:cNvSpPr/>
          <p:nvPr/>
        </p:nvSpPr>
        <p:spPr>
          <a:xfrm>
            <a:off x="548640" y="1389888"/>
            <a:ext cx="3147060" cy="218084"/>
          </a:xfrm>
          <a:prstGeom prst="rect">
            <a:avLst/>
          </a:prstGeom>
          <a:noFill/>
          <a:ln/>
        </p:spPr>
        <p:txBody>
          <a:bodyPr wrap="square" lIns="0" tIns="0" rIns="0" bIns="0" rtlCol="0" anchor="ctr"/>
          <a:lstStyle/>
          <a:p>
            <a:r>
              <a:rPr sz="1100" b="1" dirty="0">
                <a:solidFill>
                  <a:srgbClr val="23232B"/>
                </a:solidFill>
                <a:latin typeface="Aptos"/>
              </a:rPr>
              <a:t>P95</a:t>
            </a:r>
            <a:r>
              <a:rPr lang="en-US" sz="1100" b="1" dirty="0">
                <a:solidFill>
                  <a:srgbClr val="23232B"/>
                </a:solidFill>
                <a:latin typeface="Aptos"/>
              </a:rPr>
              <a:t> Affected Transactions By Store Type </a:t>
            </a:r>
            <a:r>
              <a:rPr sz="1100" b="1" dirty="0">
                <a:solidFill>
                  <a:srgbClr val="23232B"/>
                </a:solidFill>
                <a:latin typeface="Aptos"/>
              </a:rPr>
              <a:t> (%)</a:t>
            </a:r>
          </a:p>
        </p:txBody>
      </p:sp>
      <p:sp>
        <p:nvSpPr>
          <p:cNvPr id="8" name="Text 3">
            <a:extLst>
              <a:ext uri="{FF2B5EF4-FFF2-40B4-BE49-F238E27FC236}">
                <a16:creationId xmlns:a16="http://schemas.microsoft.com/office/drawing/2014/main" id="{99D72320-CD49-E4DC-8174-829A0F1330FA}"/>
              </a:ext>
            </a:extLst>
          </p:cNvPr>
          <p:cNvSpPr/>
          <p:nvPr/>
        </p:nvSpPr>
        <p:spPr>
          <a:xfrm>
            <a:off x="685800" y="1773936"/>
            <a:ext cx="1801368" cy="649224"/>
          </a:xfrm>
          <a:prstGeom prst="rect">
            <a:avLst/>
          </a:prstGeom>
          <a:noFill/>
          <a:ln/>
        </p:spPr>
        <p:txBody>
          <a:bodyPr wrap="square" lIns="0" tIns="0" rIns="0" bIns="0" rtlCol="0" anchor="ctr"/>
          <a:lstStyle/>
          <a:p>
            <a:pPr marL="0" indent="0">
              <a:buNone/>
            </a:pPr>
            <a:r>
              <a:rPr lang="en-US" sz="1050" dirty="0"/>
              <a:t>Near Market / Wholesale</a:t>
            </a:r>
          </a:p>
        </p:txBody>
      </p:sp>
      <p:sp>
        <p:nvSpPr>
          <p:cNvPr id="9" name="Shape 4">
            <a:extLst>
              <a:ext uri="{FF2B5EF4-FFF2-40B4-BE49-F238E27FC236}">
                <a16:creationId xmlns:a16="http://schemas.microsoft.com/office/drawing/2014/main" id="{064A2FCD-61BD-7CF1-40D3-B8B8E2343536}"/>
              </a:ext>
            </a:extLst>
          </p:cNvPr>
          <p:cNvSpPr/>
          <p:nvPr/>
        </p:nvSpPr>
        <p:spPr>
          <a:xfrm>
            <a:off x="2560320" y="1961388"/>
            <a:ext cx="2971800" cy="260604"/>
          </a:xfrm>
          <a:prstGeom prst="rect">
            <a:avLst/>
          </a:prstGeom>
          <a:solidFill>
            <a:srgbClr val="EFECE7"/>
          </a:solidFill>
          <a:ln w="6350">
            <a:solidFill>
              <a:srgbClr val="EFECE7"/>
            </a:solidFill>
            <a:prstDash val="solid"/>
          </a:ln>
        </p:spPr>
        <p:txBody>
          <a:bodyPr/>
          <a:lstStyle/>
          <a:p>
            <a:endParaRPr lang="en-US"/>
          </a:p>
        </p:txBody>
      </p:sp>
      <p:sp>
        <p:nvSpPr>
          <p:cNvPr id="12" name="Shape 5">
            <a:extLst>
              <a:ext uri="{FF2B5EF4-FFF2-40B4-BE49-F238E27FC236}">
                <a16:creationId xmlns:a16="http://schemas.microsoft.com/office/drawing/2014/main" id="{A7533C45-0027-83BF-BF49-22F737077A71}"/>
              </a:ext>
            </a:extLst>
          </p:cNvPr>
          <p:cNvSpPr/>
          <p:nvPr/>
        </p:nvSpPr>
        <p:spPr>
          <a:xfrm>
            <a:off x="2560320" y="1961388"/>
            <a:ext cx="2703149" cy="260604"/>
          </a:xfrm>
          <a:prstGeom prst="rect">
            <a:avLst/>
          </a:prstGeom>
          <a:solidFill>
            <a:srgbClr val="2B5CAA"/>
          </a:solidFill>
          <a:ln w="6350">
            <a:solidFill>
              <a:srgbClr val="23547A"/>
            </a:solidFill>
            <a:prstDash val="solid"/>
          </a:ln>
        </p:spPr>
        <p:txBody>
          <a:bodyPr/>
          <a:lstStyle/>
          <a:p>
            <a:endParaRPr lang="en-US"/>
          </a:p>
        </p:txBody>
      </p:sp>
      <p:sp>
        <p:nvSpPr>
          <p:cNvPr id="13" name="Text 6">
            <a:extLst>
              <a:ext uri="{FF2B5EF4-FFF2-40B4-BE49-F238E27FC236}">
                <a16:creationId xmlns:a16="http://schemas.microsoft.com/office/drawing/2014/main" id="{2D3CE861-0384-95FF-6C97-46BC863B3561}"/>
              </a:ext>
            </a:extLst>
          </p:cNvPr>
          <p:cNvSpPr/>
          <p:nvPr/>
        </p:nvSpPr>
        <p:spPr>
          <a:xfrm>
            <a:off x="5596128" y="1773936"/>
            <a:ext cx="438912" cy="649224"/>
          </a:xfrm>
          <a:prstGeom prst="rect">
            <a:avLst/>
          </a:prstGeom>
          <a:noFill/>
          <a:ln/>
        </p:spPr>
        <p:txBody>
          <a:bodyPr wrap="square" lIns="0" tIns="0" rIns="0" bIns="0" rtlCol="0" anchor="ctr"/>
          <a:lstStyle/>
          <a:p>
            <a:pPr marL="0" indent="0">
              <a:buNone/>
            </a:pPr>
            <a:r>
              <a:rPr lang="en-US" sz="1000" b="1" dirty="0">
                <a:solidFill>
                  <a:srgbClr val="1F2033"/>
                </a:solidFill>
              </a:rPr>
              <a:t>45.48%</a:t>
            </a:r>
            <a:endParaRPr lang="en-US" sz="1000" dirty="0"/>
          </a:p>
        </p:txBody>
      </p:sp>
      <p:sp>
        <p:nvSpPr>
          <p:cNvPr id="17" name="Text 7">
            <a:extLst>
              <a:ext uri="{FF2B5EF4-FFF2-40B4-BE49-F238E27FC236}">
                <a16:creationId xmlns:a16="http://schemas.microsoft.com/office/drawing/2014/main" id="{5795C783-2BC6-41B9-4C50-4DB2C2CC1E7E}"/>
              </a:ext>
            </a:extLst>
          </p:cNvPr>
          <p:cNvSpPr/>
          <p:nvPr/>
        </p:nvSpPr>
        <p:spPr>
          <a:xfrm>
            <a:off x="685800" y="2459736"/>
            <a:ext cx="1801368" cy="649224"/>
          </a:xfrm>
          <a:prstGeom prst="rect">
            <a:avLst/>
          </a:prstGeom>
          <a:noFill/>
          <a:ln/>
        </p:spPr>
        <p:txBody>
          <a:bodyPr wrap="square" lIns="0" tIns="0" rIns="0" bIns="0" rtlCol="0" anchor="ctr"/>
          <a:lstStyle/>
          <a:p>
            <a:pPr marL="0" indent="0">
              <a:buNone/>
            </a:pPr>
            <a:r>
              <a:rPr lang="en-US" sz="1050" dirty="0"/>
              <a:t>Office</a:t>
            </a:r>
          </a:p>
        </p:txBody>
      </p:sp>
      <p:sp>
        <p:nvSpPr>
          <p:cNvPr id="18" name="Shape 8">
            <a:extLst>
              <a:ext uri="{FF2B5EF4-FFF2-40B4-BE49-F238E27FC236}">
                <a16:creationId xmlns:a16="http://schemas.microsoft.com/office/drawing/2014/main" id="{328784FC-5260-430E-E0CD-D90521364FE1}"/>
              </a:ext>
            </a:extLst>
          </p:cNvPr>
          <p:cNvSpPr/>
          <p:nvPr/>
        </p:nvSpPr>
        <p:spPr>
          <a:xfrm>
            <a:off x="2560320" y="2647188"/>
            <a:ext cx="2971800" cy="260604"/>
          </a:xfrm>
          <a:prstGeom prst="rect">
            <a:avLst/>
          </a:prstGeom>
          <a:solidFill>
            <a:srgbClr val="EFECE7"/>
          </a:solidFill>
          <a:ln w="6350">
            <a:solidFill>
              <a:srgbClr val="EFECE7"/>
            </a:solidFill>
            <a:prstDash val="solid"/>
          </a:ln>
        </p:spPr>
        <p:txBody>
          <a:bodyPr/>
          <a:lstStyle/>
          <a:p>
            <a:endParaRPr lang="en-US"/>
          </a:p>
        </p:txBody>
      </p:sp>
      <p:sp>
        <p:nvSpPr>
          <p:cNvPr id="19" name="Text 9">
            <a:extLst>
              <a:ext uri="{FF2B5EF4-FFF2-40B4-BE49-F238E27FC236}">
                <a16:creationId xmlns:a16="http://schemas.microsoft.com/office/drawing/2014/main" id="{865EE0FE-44DC-7191-2A61-B12DA95D6CAD}"/>
              </a:ext>
            </a:extLst>
          </p:cNvPr>
          <p:cNvSpPr/>
          <p:nvPr/>
        </p:nvSpPr>
        <p:spPr>
          <a:xfrm>
            <a:off x="5596128" y="2459736"/>
            <a:ext cx="438912" cy="649224"/>
          </a:xfrm>
          <a:prstGeom prst="rect">
            <a:avLst/>
          </a:prstGeom>
          <a:noFill/>
          <a:ln/>
        </p:spPr>
        <p:txBody>
          <a:bodyPr wrap="square" lIns="0" tIns="0" rIns="0" bIns="0" rtlCol="0" anchor="ctr"/>
          <a:lstStyle/>
          <a:p>
            <a:pPr marL="0" indent="0">
              <a:buNone/>
            </a:pPr>
            <a:r>
              <a:rPr lang="en-US" sz="1000" b="1" dirty="0">
                <a:solidFill>
                  <a:srgbClr val="1F2033"/>
                </a:solidFill>
              </a:rPr>
              <a:t>0.00%</a:t>
            </a:r>
            <a:endParaRPr lang="en-US" sz="1000" dirty="0"/>
          </a:p>
        </p:txBody>
      </p:sp>
      <p:sp>
        <p:nvSpPr>
          <p:cNvPr id="20" name="Text 10">
            <a:extLst>
              <a:ext uri="{FF2B5EF4-FFF2-40B4-BE49-F238E27FC236}">
                <a16:creationId xmlns:a16="http://schemas.microsoft.com/office/drawing/2014/main" id="{3B4EE658-ABA5-D8C8-C84D-72A43C1069E5}"/>
              </a:ext>
            </a:extLst>
          </p:cNvPr>
          <p:cNvSpPr/>
          <p:nvPr/>
        </p:nvSpPr>
        <p:spPr>
          <a:xfrm>
            <a:off x="685800" y="3145536"/>
            <a:ext cx="1801368" cy="649224"/>
          </a:xfrm>
          <a:prstGeom prst="rect">
            <a:avLst/>
          </a:prstGeom>
          <a:noFill/>
          <a:ln/>
        </p:spPr>
        <p:txBody>
          <a:bodyPr wrap="square" lIns="0" tIns="0" rIns="0" bIns="0" rtlCol="0" anchor="ctr"/>
          <a:lstStyle/>
          <a:p>
            <a:pPr marL="0" indent="0">
              <a:buNone/>
            </a:pPr>
            <a:r>
              <a:rPr lang="en-US" sz="1050" dirty="0"/>
              <a:t>Residential</a:t>
            </a:r>
          </a:p>
        </p:txBody>
      </p:sp>
      <p:sp>
        <p:nvSpPr>
          <p:cNvPr id="21" name="Shape 11">
            <a:extLst>
              <a:ext uri="{FF2B5EF4-FFF2-40B4-BE49-F238E27FC236}">
                <a16:creationId xmlns:a16="http://schemas.microsoft.com/office/drawing/2014/main" id="{0A1238E0-E1A9-1F64-252F-D72023BEA795}"/>
              </a:ext>
            </a:extLst>
          </p:cNvPr>
          <p:cNvSpPr/>
          <p:nvPr/>
        </p:nvSpPr>
        <p:spPr>
          <a:xfrm>
            <a:off x="2560320" y="3332988"/>
            <a:ext cx="2971800" cy="260604"/>
          </a:xfrm>
          <a:prstGeom prst="rect">
            <a:avLst/>
          </a:prstGeom>
          <a:solidFill>
            <a:srgbClr val="EFECE7"/>
          </a:solidFill>
          <a:ln w="6350">
            <a:solidFill>
              <a:srgbClr val="EFECE7"/>
            </a:solidFill>
            <a:prstDash val="solid"/>
          </a:ln>
        </p:spPr>
        <p:txBody>
          <a:bodyPr/>
          <a:lstStyle/>
          <a:p>
            <a:endParaRPr lang="en-US"/>
          </a:p>
        </p:txBody>
      </p:sp>
      <p:sp>
        <p:nvSpPr>
          <p:cNvPr id="22" name="Text 12">
            <a:extLst>
              <a:ext uri="{FF2B5EF4-FFF2-40B4-BE49-F238E27FC236}">
                <a16:creationId xmlns:a16="http://schemas.microsoft.com/office/drawing/2014/main" id="{7AD7A68C-3A6A-2D65-8286-E9304E9BD557}"/>
              </a:ext>
            </a:extLst>
          </p:cNvPr>
          <p:cNvSpPr/>
          <p:nvPr/>
        </p:nvSpPr>
        <p:spPr>
          <a:xfrm>
            <a:off x="5596128" y="3145536"/>
            <a:ext cx="438912" cy="649224"/>
          </a:xfrm>
          <a:prstGeom prst="rect">
            <a:avLst/>
          </a:prstGeom>
          <a:noFill/>
          <a:ln/>
        </p:spPr>
        <p:txBody>
          <a:bodyPr wrap="square" lIns="0" tIns="0" rIns="0" bIns="0" rtlCol="0" anchor="ctr"/>
          <a:lstStyle/>
          <a:p>
            <a:pPr marL="0" indent="0">
              <a:buNone/>
            </a:pPr>
            <a:r>
              <a:rPr lang="en-US" sz="1000" b="1" dirty="0">
                <a:solidFill>
                  <a:srgbClr val="1F2033"/>
                </a:solidFill>
              </a:rPr>
              <a:t>0.00%</a:t>
            </a:r>
            <a:endParaRPr lang="en-US" sz="1000" dirty="0"/>
          </a:p>
        </p:txBody>
      </p:sp>
      <p:sp>
        <p:nvSpPr>
          <p:cNvPr id="23" name="Shape 13">
            <a:extLst>
              <a:ext uri="{FF2B5EF4-FFF2-40B4-BE49-F238E27FC236}">
                <a16:creationId xmlns:a16="http://schemas.microsoft.com/office/drawing/2014/main" id="{DD8A16BE-1D08-9771-DA4C-FC89E0294929}"/>
              </a:ext>
            </a:extLst>
          </p:cNvPr>
          <p:cNvSpPr/>
          <p:nvPr/>
        </p:nvSpPr>
        <p:spPr>
          <a:xfrm>
            <a:off x="685800" y="4526280"/>
            <a:ext cx="1645920" cy="1051560"/>
          </a:xfrm>
          <a:prstGeom prst="roundRect">
            <a:avLst/>
          </a:prstGeom>
          <a:solidFill>
            <a:srgbClr val="FFFFFF"/>
          </a:solidFill>
          <a:ln w="12700">
            <a:solidFill>
              <a:srgbClr val="D9D2C7"/>
            </a:solidFill>
            <a:prstDash val="solid"/>
          </a:ln>
        </p:spPr>
        <p:txBody>
          <a:bodyPr/>
          <a:lstStyle/>
          <a:p>
            <a:endParaRPr lang="en-US"/>
          </a:p>
        </p:txBody>
      </p:sp>
      <p:sp>
        <p:nvSpPr>
          <p:cNvPr id="24" name="Text 14">
            <a:extLst>
              <a:ext uri="{FF2B5EF4-FFF2-40B4-BE49-F238E27FC236}">
                <a16:creationId xmlns:a16="http://schemas.microsoft.com/office/drawing/2014/main" id="{6562DA5E-CB14-7107-409D-C8E3879B9A5F}"/>
              </a:ext>
            </a:extLst>
          </p:cNvPr>
          <p:cNvSpPr/>
          <p:nvPr/>
        </p:nvSpPr>
        <p:spPr>
          <a:xfrm>
            <a:off x="813816" y="4636008"/>
            <a:ext cx="1389888" cy="384048"/>
          </a:xfrm>
          <a:prstGeom prst="rect">
            <a:avLst/>
          </a:prstGeom>
          <a:noFill/>
          <a:ln/>
        </p:spPr>
        <p:txBody>
          <a:bodyPr wrap="square" lIns="0" tIns="0" rIns="0" bIns="0" rtlCol="0" anchor="ctr"/>
          <a:lstStyle/>
          <a:p>
            <a:pPr marL="0" indent="0" algn="ctr">
              <a:buNone/>
            </a:pPr>
            <a:r>
              <a:rPr lang="en-US" sz="2400" b="1" dirty="0">
                <a:solidFill>
                  <a:srgbClr val="23547A"/>
                </a:solidFill>
              </a:rPr>
              <a:t>10,453</a:t>
            </a:r>
            <a:endParaRPr lang="en-US" sz="2400" dirty="0"/>
          </a:p>
        </p:txBody>
      </p:sp>
      <p:sp>
        <p:nvSpPr>
          <p:cNvPr id="25" name="Text 15">
            <a:extLst>
              <a:ext uri="{FF2B5EF4-FFF2-40B4-BE49-F238E27FC236}">
                <a16:creationId xmlns:a16="http://schemas.microsoft.com/office/drawing/2014/main" id="{D7DD9C92-5653-B1F3-8C96-7696135122A3}"/>
              </a:ext>
            </a:extLst>
          </p:cNvPr>
          <p:cNvSpPr/>
          <p:nvPr/>
        </p:nvSpPr>
        <p:spPr>
          <a:xfrm>
            <a:off x="795528" y="5056632"/>
            <a:ext cx="1426464" cy="448056"/>
          </a:xfrm>
          <a:prstGeom prst="rect">
            <a:avLst/>
          </a:prstGeom>
          <a:noFill/>
          <a:ln/>
        </p:spPr>
        <p:txBody>
          <a:bodyPr wrap="square" lIns="0" tIns="0" rIns="0" bIns="0" rtlCol="0" anchor="t"/>
          <a:lstStyle/>
          <a:p>
            <a:pPr marL="0" indent="0" algn="ctr">
              <a:buNone/>
            </a:pPr>
            <a:r>
              <a:rPr lang="en-US" sz="1050" dirty="0"/>
              <a:t>Affected transactions</a:t>
            </a:r>
          </a:p>
          <a:p>
            <a:pPr marL="0" indent="0" algn="ctr">
              <a:buNone/>
            </a:pPr>
            <a:r>
              <a:rPr lang="en-US" sz="1050" dirty="0"/>
              <a:t>in Near Market / Wholesale</a:t>
            </a:r>
          </a:p>
        </p:txBody>
      </p:sp>
      <p:sp>
        <p:nvSpPr>
          <p:cNvPr id="26" name="Shape 16">
            <a:extLst>
              <a:ext uri="{FF2B5EF4-FFF2-40B4-BE49-F238E27FC236}">
                <a16:creationId xmlns:a16="http://schemas.microsoft.com/office/drawing/2014/main" id="{A3799E7E-862E-2F8E-0F64-0B9DC5DE9EBD}"/>
              </a:ext>
            </a:extLst>
          </p:cNvPr>
          <p:cNvSpPr/>
          <p:nvPr/>
        </p:nvSpPr>
        <p:spPr>
          <a:xfrm>
            <a:off x="2487168" y="4526280"/>
            <a:ext cx="1645920" cy="1051560"/>
          </a:xfrm>
          <a:prstGeom prst="roundRect">
            <a:avLst/>
          </a:prstGeom>
          <a:solidFill>
            <a:srgbClr val="FFFFFF"/>
          </a:solidFill>
          <a:ln w="12700">
            <a:solidFill>
              <a:srgbClr val="D9D2C7"/>
            </a:solidFill>
            <a:prstDash val="solid"/>
          </a:ln>
        </p:spPr>
        <p:txBody>
          <a:bodyPr/>
          <a:lstStyle/>
          <a:p>
            <a:endParaRPr lang="en-US"/>
          </a:p>
        </p:txBody>
      </p:sp>
      <p:sp>
        <p:nvSpPr>
          <p:cNvPr id="27" name="Text 17">
            <a:extLst>
              <a:ext uri="{FF2B5EF4-FFF2-40B4-BE49-F238E27FC236}">
                <a16:creationId xmlns:a16="http://schemas.microsoft.com/office/drawing/2014/main" id="{A3E29E40-98A2-C394-E1F6-466992192DCF}"/>
              </a:ext>
            </a:extLst>
          </p:cNvPr>
          <p:cNvSpPr/>
          <p:nvPr/>
        </p:nvSpPr>
        <p:spPr>
          <a:xfrm>
            <a:off x="2615184" y="4636008"/>
            <a:ext cx="1389888" cy="384048"/>
          </a:xfrm>
          <a:prstGeom prst="rect">
            <a:avLst/>
          </a:prstGeom>
          <a:noFill/>
          <a:ln/>
        </p:spPr>
        <p:txBody>
          <a:bodyPr wrap="square" lIns="0" tIns="0" rIns="0" bIns="0" rtlCol="0" anchor="ctr"/>
          <a:lstStyle/>
          <a:p>
            <a:pPr marL="0" indent="0" algn="ctr">
              <a:buNone/>
            </a:pPr>
            <a:r>
              <a:rPr lang="en-US" sz="2400" b="1" dirty="0">
                <a:solidFill>
                  <a:srgbClr val="23547A"/>
                </a:solidFill>
              </a:rPr>
              <a:t>211,697</a:t>
            </a:r>
            <a:endParaRPr lang="en-US" sz="2400" dirty="0"/>
          </a:p>
        </p:txBody>
      </p:sp>
      <p:sp>
        <p:nvSpPr>
          <p:cNvPr id="28" name="Text 18">
            <a:extLst>
              <a:ext uri="{FF2B5EF4-FFF2-40B4-BE49-F238E27FC236}">
                <a16:creationId xmlns:a16="http://schemas.microsoft.com/office/drawing/2014/main" id="{3CC156A3-642C-1192-470F-2E22F3178E15}"/>
              </a:ext>
            </a:extLst>
          </p:cNvPr>
          <p:cNvSpPr/>
          <p:nvPr/>
        </p:nvSpPr>
        <p:spPr>
          <a:xfrm>
            <a:off x="2596896" y="5056632"/>
            <a:ext cx="1426464" cy="448056"/>
          </a:xfrm>
          <a:prstGeom prst="rect">
            <a:avLst/>
          </a:prstGeom>
          <a:noFill/>
          <a:ln/>
        </p:spPr>
        <p:txBody>
          <a:bodyPr wrap="square" lIns="0" tIns="0" rIns="0" bIns="0" rtlCol="0" anchor="t"/>
          <a:lstStyle/>
          <a:p>
            <a:pPr marL="0" indent="0" algn="ctr">
              <a:buNone/>
            </a:pPr>
            <a:r>
              <a:rPr lang="en-US" sz="1050" dirty="0"/>
              <a:t>Total excess units</a:t>
            </a:r>
          </a:p>
          <a:p>
            <a:pPr marL="0" indent="0" algn="ctr">
              <a:buNone/>
            </a:pPr>
            <a:r>
              <a:rPr lang="en-US" sz="1050" dirty="0"/>
              <a:t>in this store type</a:t>
            </a:r>
          </a:p>
        </p:txBody>
      </p:sp>
      <p:sp>
        <p:nvSpPr>
          <p:cNvPr id="79" name="Shape 19">
            <a:extLst>
              <a:ext uri="{FF2B5EF4-FFF2-40B4-BE49-F238E27FC236}">
                <a16:creationId xmlns:a16="http://schemas.microsoft.com/office/drawing/2014/main" id="{AA3A84E7-BF57-B482-D13F-974A2BFED553}"/>
              </a:ext>
            </a:extLst>
          </p:cNvPr>
          <p:cNvSpPr/>
          <p:nvPr/>
        </p:nvSpPr>
        <p:spPr>
          <a:xfrm>
            <a:off x="4288536" y="4526280"/>
            <a:ext cx="1645920" cy="1051560"/>
          </a:xfrm>
          <a:prstGeom prst="roundRect">
            <a:avLst/>
          </a:prstGeom>
          <a:solidFill>
            <a:srgbClr val="FFFFFF"/>
          </a:solidFill>
          <a:ln w="12700">
            <a:solidFill>
              <a:srgbClr val="D9D2C7"/>
            </a:solidFill>
            <a:prstDash val="solid"/>
          </a:ln>
        </p:spPr>
        <p:txBody>
          <a:bodyPr/>
          <a:lstStyle/>
          <a:p>
            <a:endParaRPr lang="en-US"/>
          </a:p>
        </p:txBody>
      </p:sp>
      <p:sp>
        <p:nvSpPr>
          <p:cNvPr id="80" name="Text 20">
            <a:extLst>
              <a:ext uri="{FF2B5EF4-FFF2-40B4-BE49-F238E27FC236}">
                <a16:creationId xmlns:a16="http://schemas.microsoft.com/office/drawing/2014/main" id="{85FE2E60-9D6C-A93C-57D2-DCA7D5B6E6AB}"/>
              </a:ext>
            </a:extLst>
          </p:cNvPr>
          <p:cNvSpPr/>
          <p:nvPr/>
        </p:nvSpPr>
        <p:spPr>
          <a:xfrm>
            <a:off x="4416552" y="4636008"/>
            <a:ext cx="1389888" cy="384048"/>
          </a:xfrm>
          <a:prstGeom prst="rect">
            <a:avLst/>
          </a:prstGeom>
          <a:noFill/>
          <a:ln/>
        </p:spPr>
        <p:txBody>
          <a:bodyPr wrap="square" lIns="0" tIns="0" rIns="0" bIns="0" rtlCol="0" anchor="ctr"/>
          <a:lstStyle/>
          <a:p>
            <a:pPr marL="0" indent="0" algn="ctr">
              <a:buNone/>
            </a:pPr>
            <a:r>
              <a:rPr lang="en-US" sz="2400" b="1" dirty="0">
                <a:solidFill>
                  <a:srgbClr val="2B5CAA"/>
                </a:solidFill>
              </a:rPr>
              <a:t>Rp 1.45 B</a:t>
            </a:r>
            <a:endParaRPr lang="en-US" sz="2400" dirty="0">
              <a:solidFill>
                <a:srgbClr val="2B5CAA"/>
              </a:solidFill>
            </a:endParaRPr>
          </a:p>
        </p:txBody>
      </p:sp>
      <p:sp>
        <p:nvSpPr>
          <p:cNvPr id="81" name="Text 21">
            <a:extLst>
              <a:ext uri="{FF2B5EF4-FFF2-40B4-BE49-F238E27FC236}">
                <a16:creationId xmlns:a16="http://schemas.microsoft.com/office/drawing/2014/main" id="{8B2B714B-0BC6-6CEF-9CE1-8A4CC95D401B}"/>
              </a:ext>
            </a:extLst>
          </p:cNvPr>
          <p:cNvSpPr/>
          <p:nvPr/>
        </p:nvSpPr>
        <p:spPr>
          <a:xfrm>
            <a:off x="4398264" y="5056632"/>
            <a:ext cx="1426464" cy="448056"/>
          </a:xfrm>
          <a:prstGeom prst="rect">
            <a:avLst/>
          </a:prstGeom>
          <a:noFill/>
          <a:ln/>
        </p:spPr>
        <p:txBody>
          <a:bodyPr wrap="square" lIns="0" tIns="0" rIns="0" bIns="0" rtlCol="0" anchor="t"/>
          <a:lstStyle/>
          <a:p>
            <a:r>
              <a:rPr sz="850" dirty="0">
                <a:latin typeface="Aptos"/>
              </a:rPr>
              <a:t>Potential discount exposure</a:t>
            </a:r>
          </a:p>
          <a:p>
            <a:r>
              <a:rPr sz="850" dirty="0">
                <a:latin typeface="Aptos"/>
              </a:rPr>
              <a:t>reduction concentrated here</a:t>
            </a:r>
          </a:p>
        </p:txBody>
      </p:sp>
      <p:sp>
        <p:nvSpPr>
          <p:cNvPr id="82" name="Text 22">
            <a:extLst>
              <a:ext uri="{FF2B5EF4-FFF2-40B4-BE49-F238E27FC236}">
                <a16:creationId xmlns:a16="http://schemas.microsoft.com/office/drawing/2014/main" id="{E8C89547-1719-F04A-C241-2F2DE3774FFC}"/>
              </a:ext>
            </a:extLst>
          </p:cNvPr>
          <p:cNvSpPr/>
          <p:nvPr/>
        </p:nvSpPr>
        <p:spPr>
          <a:xfrm>
            <a:off x="6355080" y="1389888"/>
            <a:ext cx="3614420" cy="218084"/>
          </a:xfrm>
          <a:prstGeom prst="rect">
            <a:avLst/>
          </a:prstGeom>
          <a:noFill/>
          <a:ln/>
        </p:spPr>
        <p:txBody>
          <a:bodyPr wrap="square" lIns="0" tIns="0" rIns="0" bIns="0" rtlCol="0" anchor="ctr"/>
          <a:lstStyle/>
          <a:p>
            <a:r>
              <a:rPr lang="en-US" sz="1100" b="1" dirty="0">
                <a:solidFill>
                  <a:srgbClr val="23232B"/>
                </a:solidFill>
                <a:latin typeface="Aptos"/>
              </a:rPr>
              <a:t>Potential</a:t>
            </a:r>
            <a:r>
              <a:rPr sz="1100" b="1" dirty="0">
                <a:solidFill>
                  <a:srgbClr val="23232B"/>
                </a:solidFill>
                <a:latin typeface="Aptos"/>
              </a:rPr>
              <a:t> </a:t>
            </a:r>
            <a:r>
              <a:rPr lang="en-US" sz="1100" b="1" dirty="0">
                <a:solidFill>
                  <a:srgbClr val="23232B"/>
                </a:solidFill>
                <a:latin typeface="Aptos"/>
              </a:rPr>
              <a:t>Discount Exposure Reduction By Category </a:t>
            </a:r>
            <a:endParaRPr sz="1100" b="1" dirty="0">
              <a:solidFill>
                <a:srgbClr val="23232B"/>
              </a:solidFill>
              <a:latin typeface="Aptos"/>
            </a:endParaRPr>
          </a:p>
        </p:txBody>
      </p:sp>
      <p:sp>
        <p:nvSpPr>
          <p:cNvPr id="83" name="Text 23">
            <a:extLst>
              <a:ext uri="{FF2B5EF4-FFF2-40B4-BE49-F238E27FC236}">
                <a16:creationId xmlns:a16="http://schemas.microsoft.com/office/drawing/2014/main" id="{94A78B3D-98D2-71D9-5F69-5FB9024EE6A1}"/>
              </a:ext>
            </a:extLst>
          </p:cNvPr>
          <p:cNvSpPr/>
          <p:nvPr/>
        </p:nvSpPr>
        <p:spPr>
          <a:xfrm>
            <a:off x="6355080" y="1773936"/>
            <a:ext cx="1344168" cy="580644"/>
          </a:xfrm>
          <a:prstGeom prst="rect">
            <a:avLst/>
          </a:prstGeom>
          <a:noFill/>
          <a:ln/>
        </p:spPr>
        <p:txBody>
          <a:bodyPr wrap="square" lIns="0" tIns="0" rIns="0" bIns="0" rtlCol="0" anchor="ctr"/>
          <a:lstStyle/>
          <a:p>
            <a:pPr marL="0" indent="0">
              <a:buNone/>
            </a:pPr>
            <a:r>
              <a:rPr lang="en-US" sz="1050" dirty="0">
                <a:solidFill>
                  <a:srgbClr val="1F2033"/>
                </a:solidFill>
              </a:rPr>
              <a:t>Food &amp; Staples</a:t>
            </a:r>
            <a:endParaRPr lang="en-US" sz="1050" dirty="0"/>
          </a:p>
        </p:txBody>
      </p:sp>
      <p:sp>
        <p:nvSpPr>
          <p:cNvPr id="84" name="Shape 24">
            <a:extLst>
              <a:ext uri="{FF2B5EF4-FFF2-40B4-BE49-F238E27FC236}">
                <a16:creationId xmlns:a16="http://schemas.microsoft.com/office/drawing/2014/main" id="{829A8A4D-82B1-F110-450B-C42C93E8CBD2}"/>
              </a:ext>
            </a:extLst>
          </p:cNvPr>
          <p:cNvSpPr/>
          <p:nvPr/>
        </p:nvSpPr>
        <p:spPr>
          <a:xfrm>
            <a:off x="7772400" y="1940814"/>
            <a:ext cx="2743200" cy="234544"/>
          </a:xfrm>
          <a:prstGeom prst="rect">
            <a:avLst/>
          </a:prstGeom>
          <a:solidFill>
            <a:srgbClr val="EFECE7"/>
          </a:solidFill>
          <a:ln w="6350">
            <a:solidFill>
              <a:srgbClr val="EFECE7"/>
            </a:solidFill>
            <a:prstDash val="solid"/>
          </a:ln>
        </p:spPr>
        <p:txBody>
          <a:bodyPr/>
          <a:lstStyle/>
          <a:p>
            <a:endParaRPr lang="en-US"/>
          </a:p>
        </p:txBody>
      </p:sp>
      <p:sp>
        <p:nvSpPr>
          <p:cNvPr id="85" name="Shape 25">
            <a:extLst>
              <a:ext uri="{FF2B5EF4-FFF2-40B4-BE49-F238E27FC236}">
                <a16:creationId xmlns:a16="http://schemas.microsoft.com/office/drawing/2014/main" id="{E88345CF-14BF-6C31-C07F-71DA49B0BD96}"/>
              </a:ext>
            </a:extLst>
          </p:cNvPr>
          <p:cNvSpPr/>
          <p:nvPr/>
        </p:nvSpPr>
        <p:spPr>
          <a:xfrm>
            <a:off x="7772400" y="1940814"/>
            <a:ext cx="2660904" cy="234544"/>
          </a:xfrm>
          <a:prstGeom prst="rect">
            <a:avLst/>
          </a:prstGeom>
          <a:solidFill>
            <a:srgbClr val="D51C1C"/>
          </a:solidFill>
          <a:ln w="6350">
            <a:solidFill>
              <a:srgbClr val="D51C1C"/>
            </a:solidFill>
            <a:prstDash val="solid"/>
          </a:ln>
        </p:spPr>
        <p:txBody>
          <a:bodyPr/>
          <a:lstStyle/>
          <a:p>
            <a:endParaRPr lang="en-US"/>
          </a:p>
        </p:txBody>
      </p:sp>
      <p:sp>
        <p:nvSpPr>
          <p:cNvPr id="86" name="Text 26">
            <a:extLst>
              <a:ext uri="{FF2B5EF4-FFF2-40B4-BE49-F238E27FC236}">
                <a16:creationId xmlns:a16="http://schemas.microsoft.com/office/drawing/2014/main" id="{6E6FA79C-E70D-ABFB-9707-8A8458709288}"/>
              </a:ext>
            </a:extLst>
          </p:cNvPr>
          <p:cNvSpPr/>
          <p:nvPr/>
        </p:nvSpPr>
        <p:spPr>
          <a:xfrm>
            <a:off x="10579608" y="1773936"/>
            <a:ext cx="621792" cy="580644"/>
          </a:xfrm>
          <a:prstGeom prst="rect">
            <a:avLst/>
          </a:prstGeom>
          <a:noFill/>
          <a:ln/>
        </p:spPr>
        <p:txBody>
          <a:bodyPr wrap="square" lIns="0" tIns="0" rIns="0" bIns="0" rtlCol="0" anchor="ctr"/>
          <a:lstStyle/>
          <a:p>
            <a:pPr marL="0" indent="0">
              <a:buNone/>
            </a:pPr>
            <a:r>
              <a:rPr lang="en-US" sz="1000" b="1" dirty="0">
                <a:solidFill>
                  <a:srgbClr val="1F2033"/>
                </a:solidFill>
              </a:rPr>
              <a:t>Rp 0.97B</a:t>
            </a:r>
            <a:endParaRPr lang="en-US" sz="1000" dirty="0"/>
          </a:p>
        </p:txBody>
      </p:sp>
      <p:sp>
        <p:nvSpPr>
          <p:cNvPr id="87" name="Text 27">
            <a:extLst>
              <a:ext uri="{FF2B5EF4-FFF2-40B4-BE49-F238E27FC236}">
                <a16:creationId xmlns:a16="http://schemas.microsoft.com/office/drawing/2014/main" id="{E1519E86-4E03-FEFE-F1AD-4BC65CE4B460}"/>
              </a:ext>
            </a:extLst>
          </p:cNvPr>
          <p:cNvSpPr/>
          <p:nvPr/>
        </p:nvSpPr>
        <p:spPr>
          <a:xfrm>
            <a:off x="6355080" y="2391156"/>
            <a:ext cx="1344168" cy="580644"/>
          </a:xfrm>
          <a:prstGeom prst="rect">
            <a:avLst/>
          </a:prstGeom>
          <a:noFill/>
          <a:ln/>
        </p:spPr>
        <p:txBody>
          <a:bodyPr wrap="square" lIns="0" tIns="0" rIns="0" bIns="0" rtlCol="0" anchor="ctr"/>
          <a:lstStyle/>
          <a:p>
            <a:pPr marL="0" indent="0">
              <a:buNone/>
            </a:pPr>
            <a:r>
              <a:rPr lang="en-US" sz="1050" dirty="0"/>
              <a:t>Beverage</a:t>
            </a:r>
          </a:p>
        </p:txBody>
      </p:sp>
      <p:sp>
        <p:nvSpPr>
          <p:cNvPr id="88" name="Shape 28">
            <a:extLst>
              <a:ext uri="{FF2B5EF4-FFF2-40B4-BE49-F238E27FC236}">
                <a16:creationId xmlns:a16="http://schemas.microsoft.com/office/drawing/2014/main" id="{A88D302E-F8A6-6FD5-59BE-A3459A64B780}"/>
              </a:ext>
            </a:extLst>
          </p:cNvPr>
          <p:cNvSpPr/>
          <p:nvPr/>
        </p:nvSpPr>
        <p:spPr>
          <a:xfrm>
            <a:off x="7772400" y="2558034"/>
            <a:ext cx="2743200" cy="234544"/>
          </a:xfrm>
          <a:prstGeom prst="rect">
            <a:avLst/>
          </a:prstGeom>
          <a:solidFill>
            <a:srgbClr val="EFECE7"/>
          </a:solidFill>
          <a:ln w="6350">
            <a:solidFill>
              <a:srgbClr val="EFECE7"/>
            </a:solidFill>
            <a:prstDash val="solid"/>
          </a:ln>
        </p:spPr>
        <p:txBody>
          <a:bodyPr/>
          <a:lstStyle/>
          <a:p>
            <a:endParaRPr lang="en-US"/>
          </a:p>
        </p:txBody>
      </p:sp>
      <p:sp>
        <p:nvSpPr>
          <p:cNvPr id="89" name="Shape 29">
            <a:extLst>
              <a:ext uri="{FF2B5EF4-FFF2-40B4-BE49-F238E27FC236}">
                <a16:creationId xmlns:a16="http://schemas.microsoft.com/office/drawing/2014/main" id="{93955737-CA1B-A5D3-53F5-37F71693CD97}"/>
              </a:ext>
            </a:extLst>
          </p:cNvPr>
          <p:cNvSpPr/>
          <p:nvPr/>
        </p:nvSpPr>
        <p:spPr>
          <a:xfrm>
            <a:off x="7772400" y="2558034"/>
            <a:ext cx="740664" cy="234544"/>
          </a:xfrm>
          <a:prstGeom prst="rect">
            <a:avLst/>
          </a:prstGeom>
          <a:solidFill>
            <a:srgbClr val="D51C1C"/>
          </a:solidFill>
          <a:ln w="6350">
            <a:solidFill>
              <a:srgbClr val="D51C1C"/>
            </a:solidFill>
            <a:prstDash val="solid"/>
          </a:ln>
        </p:spPr>
        <p:txBody>
          <a:bodyPr/>
          <a:lstStyle/>
          <a:p>
            <a:endParaRPr lang="en-US"/>
          </a:p>
        </p:txBody>
      </p:sp>
      <p:sp>
        <p:nvSpPr>
          <p:cNvPr id="90" name="Text 30">
            <a:extLst>
              <a:ext uri="{FF2B5EF4-FFF2-40B4-BE49-F238E27FC236}">
                <a16:creationId xmlns:a16="http://schemas.microsoft.com/office/drawing/2014/main" id="{5F2C8541-BDC6-7A37-4481-449C8F2F4BA4}"/>
              </a:ext>
            </a:extLst>
          </p:cNvPr>
          <p:cNvSpPr/>
          <p:nvPr/>
        </p:nvSpPr>
        <p:spPr>
          <a:xfrm>
            <a:off x="10579608" y="2391156"/>
            <a:ext cx="621792" cy="580644"/>
          </a:xfrm>
          <a:prstGeom prst="rect">
            <a:avLst/>
          </a:prstGeom>
          <a:noFill/>
          <a:ln/>
        </p:spPr>
        <p:txBody>
          <a:bodyPr wrap="square" lIns="0" tIns="0" rIns="0" bIns="0" rtlCol="0" anchor="ctr"/>
          <a:lstStyle/>
          <a:p>
            <a:pPr marL="0" indent="0">
              <a:buNone/>
            </a:pPr>
            <a:r>
              <a:rPr lang="en-US" sz="1000" b="1" dirty="0">
                <a:solidFill>
                  <a:srgbClr val="1F2033"/>
                </a:solidFill>
              </a:rPr>
              <a:t>Rp 0.27B</a:t>
            </a:r>
            <a:endParaRPr lang="en-US" sz="1000" dirty="0"/>
          </a:p>
        </p:txBody>
      </p:sp>
      <p:sp>
        <p:nvSpPr>
          <p:cNvPr id="91" name="Text 31">
            <a:extLst>
              <a:ext uri="{FF2B5EF4-FFF2-40B4-BE49-F238E27FC236}">
                <a16:creationId xmlns:a16="http://schemas.microsoft.com/office/drawing/2014/main" id="{586BC237-EEEB-9B50-F49C-9EC0E5C1FBDC}"/>
              </a:ext>
            </a:extLst>
          </p:cNvPr>
          <p:cNvSpPr/>
          <p:nvPr/>
        </p:nvSpPr>
        <p:spPr>
          <a:xfrm>
            <a:off x="6355080" y="3008376"/>
            <a:ext cx="1344168" cy="580644"/>
          </a:xfrm>
          <a:prstGeom prst="rect">
            <a:avLst/>
          </a:prstGeom>
          <a:noFill/>
          <a:ln/>
        </p:spPr>
        <p:txBody>
          <a:bodyPr wrap="square" lIns="0" tIns="0" rIns="0" bIns="0" rtlCol="0" anchor="ctr"/>
          <a:lstStyle/>
          <a:p>
            <a:pPr marL="0" indent="0">
              <a:buNone/>
            </a:pPr>
            <a:r>
              <a:rPr lang="en-US" sz="1050" dirty="0"/>
              <a:t>Personal Care</a:t>
            </a:r>
          </a:p>
        </p:txBody>
      </p:sp>
      <p:sp>
        <p:nvSpPr>
          <p:cNvPr id="92" name="Shape 32">
            <a:extLst>
              <a:ext uri="{FF2B5EF4-FFF2-40B4-BE49-F238E27FC236}">
                <a16:creationId xmlns:a16="http://schemas.microsoft.com/office/drawing/2014/main" id="{42A5FD73-48C6-1D81-5ED7-43F4DE27047C}"/>
              </a:ext>
            </a:extLst>
          </p:cNvPr>
          <p:cNvSpPr/>
          <p:nvPr/>
        </p:nvSpPr>
        <p:spPr>
          <a:xfrm>
            <a:off x="7772400" y="3175254"/>
            <a:ext cx="2743200" cy="234544"/>
          </a:xfrm>
          <a:prstGeom prst="rect">
            <a:avLst/>
          </a:prstGeom>
          <a:solidFill>
            <a:srgbClr val="EFECE7"/>
          </a:solidFill>
          <a:ln w="6350">
            <a:solidFill>
              <a:srgbClr val="EFECE7"/>
            </a:solidFill>
            <a:prstDash val="solid"/>
          </a:ln>
        </p:spPr>
        <p:txBody>
          <a:bodyPr/>
          <a:lstStyle/>
          <a:p>
            <a:endParaRPr lang="en-US"/>
          </a:p>
        </p:txBody>
      </p:sp>
      <p:sp>
        <p:nvSpPr>
          <p:cNvPr id="93" name="Shape 33">
            <a:extLst>
              <a:ext uri="{FF2B5EF4-FFF2-40B4-BE49-F238E27FC236}">
                <a16:creationId xmlns:a16="http://schemas.microsoft.com/office/drawing/2014/main" id="{EBBC2A7A-36DE-1C0A-6CDB-EA5115408CD9}"/>
              </a:ext>
            </a:extLst>
          </p:cNvPr>
          <p:cNvSpPr/>
          <p:nvPr/>
        </p:nvSpPr>
        <p:spPr>
          <a:xfrm>
            <a:off x="7772400" y="3175254"/>
            <a:ext cx="521208" cy="234544"/>
          </a:xfrm>
          <a:prstGeom prst="rect">
            <a:avLst/>
          </a:prstGeom>
          <a:solidFill>
            <a:srgbClr val="D51C1C"/>
          </a:solidFill>
          <a:ln w="6350">
            <a:solidFill>
              <a:srgbClr val="D51C1C"/>
            </a:solidFill>
            <a:prstDash val="solid"/>
          </a:ln>
        </p:spPr>
        <p:txBody>
          <a:bodyPr/>
          <a:lstStyle/>
          <a:p>
            <a:endParaRPr lang="en-US"/>
          </a:p>
        </p:txBody>
      </p:sp>
      <p:sp>
        <p:nvSpPr>
          <p:cNvPr id="94" name="Text 34">
            <a:extLst>
              <a:ext uri="{FF2B5EF4-FFF2-40B4-BE49-F238E27FC236}">
                <a16:creationId xmlns:a16="http://schemas.microsoft.com/office/drawing/2014/main" id="{07828001-43FF-A307-100E-1851A9D4ECBC}"/>
              </a:ext>
            </a:extLst>
          </p:cNvPr>
          <p:cNvSpPr/>
          <p:nvPr/>
        </p:nvSpPr>
        <p:spPr>
          <a:xfrm>
            <a:off x="10579608" y="3008376"/>
            <a:ext cx="621792" cy="580644"/>
          </a:xfrm>
          <a:prstGeom prst="rect">
            <a:avLst/>
          </a:prstGeom>
          <a:noFill/>
          <a:ln/>
        </p:spPr>
        <p:txBody>
          <a:bodyPr wrap="square" lIns="0" tIns="0" rIns="0" bIns="0" rtlCol="0" anchor="ctr"/>
          <a:lstStyle/>
          <a:p>
            <a:pPr marL="0" indent="0">
              <a:buNone/>
            </a:pPr>
            <a:r>
              <a:rPr lang="en-US" sz="1000" b="1" dirty="0">
                <a:solidFill>
                  <a:srgbClr val="1F2033"/>
                </a:solidFill>
              </a:rPr>
              <a:t>Rp 0.19B</a:t>
            </a:r>
            <a:endParaRPr lang="en-US" sz="1000" dirty="0"/>
          </a:p>
        </p:txBody>
      </p:sp>
      <p:sp>
        <p:nvSpPr>
          <p:cNvPr id="95" name="Text 35">
            <a:extLst>
              <a:ext uri="{FF2B5EF4-FFF2-40B4-BE49-F238E27FC236}">
                <a16:creationId xmlns:a16="http://schemas.microsoft.com/office/drawing/2014/main" id="{669D869D-EBA9-4447-16AE-D99D4B8AF388}"/>
              </a:ext>
            </a:extLst>
          </p:cNvPr>
          <p:cNvSpPr/>
          <p:nvPr/>
        </p:nvSpPr>
        <p:spPr>
          <a:xfrm>
            <a:off x="6355080" y="3625596"/>
            <a:ext cx="1344168" cy="580644"/>
          </a:xfrm>
          <a:prstGeom prst="rect">
            <a:avLst/>
          </a:prstGeom>
          <a:noFill/>
          <a:ln/>
        </p:spPr>
        <p:txBody>
          <a:bodyPr wrap="square" lIns="0" tIns="0" rIns="0" bIns="0" rtlCol="0" anchor="ctr"/>
          <a:lstStyle/>
          <a:p>
            <a:pPr marL="0" indent="0">
              <a:buNone/>
            </a:pPr>
            <a:r>
              <a:rPr lang="en-US" sz="1050" dirty="0"/>
              <a:t>Cigarettes</a:t>
            </a:r>
          </a:p>
        </p:txBody>
      </p:sp>
      <p:sp>
        <p:nvSpPr>
          <p:cNvPr id="96" name="Shape 36">
            <a:extLst>
              <a:ext uri="{FF2B5EF4-FFF2-40B4-BE49-F238E27FC236}">
                <a16:creationId xmlns:a16="http://schemas.microsoft.com/office/drawing/2014/main" id="{FE0D1BF6-CE58-57EF-0606-B8BB9D387FBC}"/>
              </a:ext>
            </a:extLst>
          </p:cNvPr>
          <p:cNvSpPr/>
          <p:nvPr/>
        </p:nvSpPr>
        <p:spPr>
          <a:xfrm>
            <a:off x="7772400" y="3792474"/>
            <a:ext cx="2743200" cy="234544"/>
          </a:xfrm>
          <a:prstGeom prst="rect">
            <a:avLst/>
          </a:prstGeom>
          <a:solidFill>
            <a:srgbClr val="EFECE7"/>
          </a:solidFill>
          <a:ln w="6350">
            <a:solidFill>
              <a:srgbClr val="EFECE7"/>
            </a:solidFill>
            <a:prstDash val="solid"/>
          </a:ln>
        </p:spPr>
        <p:txBody>
          <a:bodyPr/>
          <a:lstStyle/>
          <a:p>
            <a:endParaRPr lang="en-US"/>
          </a:p>
        </p:txBody>
      </p:sp>
      <p:sp>
        <p:nvSpPr>
          <p:cNvPr id="97" name="Shape 37">
            <a:extLst>
              <a:ext uri="{FF2B5EF4-FFF2-40B4-BE49-F238E27FC236}">
                <a16:creationId xmlns:a16="http://schemas.microsoft.com/office/drawing/2014/main" id="{A1774A96-E99A-3005-9922-058CA1C39913}"/>
              </a:ext>
            </a:extLst>
          </p:cNvPr>
          <p:cNvSpPr/>
          <p:nvPr/>
        </p:nvSpPr>
        <p:spPr>
          <a:xfrm>
            <a:off x="7772400" y="3792474"/>
            <a:ext cx="82296" cy="234544"/>
          </a:xfrm>
          <a:prstGeom prst="rect">
            <a:avLst/>
          </a:prstGeom>
          <a:solidFill>
            <a:srgbClr val="D51C1C"/>
          </a:solidFill>
          <a:ln w="6350">
            <a:solidFill>
              <a:srgbClr val="D51C1C"/>
            </a:solidFill>
            <a:prstDash val="solid"/>
          </a:ln>
        </p:spPr>
        <p:txBody>
          <a:bodyPr/>
          <a:lstStyle/>
          <a:p>
            <a:endParaRPr lang="en-US"/>
          </a:p>
        </p:txBody>
      </p:sp>
      <p:sp>
        <p:nvSpPr>
          <p:cNvPr id="98" name="Text 38">
            <a:extLst>
              <a:ext uri="{FF2B5EF4-FFF2-40B4-BE49-F238E27FC236}">
                <a16:creationId xmlns:a16="http://schemas.microsoft.com/office/drawing/2014/main" id="{06993223-82D9-E3FE-79E4-D5D2B84BC378}"/>
              </a:ext>
            </a:extLst>
          </p:cNvPr>
          <p:cNvSpPr/>
          <p:nvPr/>
        </p:nvSpPr>
        <p:spPr>
          <a:xfrm>
            <a:off x="10579608" y="3625596"/>
            <a:ext cx="621792" cy="580644"/>
          </a:xfrm>
          <a:prstGeom prst="rect">
            <a:avLst/>
          </a:prstGeom>
          <a:noFill/>
          <a:ln/>
        </p:spPr>
        <p:txBody>
          <a:bodyPr wrap="square" lIns="0" tIns="0" rIns="0" bIns="0" rtlCol="0" anchor="ctr"/>
          <a:lstStyle/>
          <a:p>
            <a:pPr marL="0" indent="0">
              <a:buNone/>
            </a:pPr>
            <a:r>
              <a:rPr lang="en-US" sz="1000" b="1" dirty="0">
                <a:solidFill>
                  <a:srgbClr val="1F2033"/>
                </a:solidFill>
              </a:rPr>
              <a:t>Rp 0.03B</a:t>
            </a:r>
            <a:endParaRPr lang="en-US" sz="1000" dirty="0"/>
          </a:p>
        </p:txBody>
      </p:sp>
      <p:sp>
        <p:nvSpPr>
          <p:cNvPr id="99" name="Shape 39">
            <a:extLst>
              <a:ext uri="{FF2B5EF4-FFF2-40B4-BE49-F238E27FC236}">
                <a16:creationId xmlns:a16="http://schemas.microsoft.com/office/drawing/2014/main" id="{D0BA5CB8-B347-69BE-5F12-CE80350685C3}"/>
              </a:ext>
            </a:extLst>
          </p:cNvPr>
          <p:cNvSpPr/>
          <p:nvPr/>
        </p:nvSpPr>
        <p:spPr>
          <a:xfrm>
            <a:off x="6355080" y="4690872"/>
            <a:ext cx="4663440" cy="713232"/>
          </a:xfrm>
          <a:prstGeom prst="roundRect">
            <a:avLst>
              <a:gd name="adj" fmla="val 10256"/>
            </a:avLst>
          </a:prstGeom>
          <a:solidFill>
            <a:srgbClr val="FFFFFF"/>
          </a:solidFill>
          <a:ln w="15240">
            <a:solidFill>
              <a:srgbClr val="D9D2C7"/>
            </a:solidFill>
            <a:prstDash val="solid"/>
          </a:ln>
          <a:effectLst>
            <a:outerShdw blurRad="12700" dist="50800" dir="2700000" algn="bl" rotWithShape="0">
              <a:srgbClr val="D0CBC4">
                <a:alpha val="18000"/>
              </a:srgbClr>
            </a:outerShdw>
          </a:effectLst>
        </p:spPr>
        <p:txBody>
          <a:bodyPr/>
          <a:lstStyle/>
          <a:p>
            <a:endParaRPr lang="en-US"/>
          </a:p>
        </p:txBody>
      </p:sp>
      <p:sp>
        <p:nvSpPr>
          <p:cNvPr id="100" name="Text 40">
            <a:extLst>
              <a:ext uri="{FF2B5EF4-FFF2-40B4-BE49-F238E27FC236}">
                <a16:creationId xmlns:a16="http://schemas.microsoft.com/office/drawing/2014/main" id="{4C6D81C1-BD14-1ACD-16B7-E44A0228B7D9}"/>
              </a:ext>
            </a:extLst>
          </p:cNvPr>
          <p:cNvSpPr/>
          <p:nvPr/>
        </p:nvSpPr>
        <p:spPr>
          <a:xfrm>
            <a:off x="6472627" y="4782312"/>
            <a:ext cx="4370832" cy="530352"/>
          </a:xfrm>
          <a:prstGeom prst="rect">
            <a:avLst/>
          </a:prstGeom>
          <a:noFill/>
          <a:ln/>
        </p:spPr>
        <p:txBody>
          <a:bodyPr wrap="square" lIns="254" tIns="254" rIns="254" bIns="254" rtlCol="0" anchor="ctr"/>
          <a:lstStyle/>
          <a:p>
            <a:r>
              <a:rPr sz="869" dirty="0">
                <a:solidFill>
                  <a:srgbClr val="23232B"/>
                </a:solidFill>
                <a:latin typeface="Aptos"/>
              </a:rPr>
              <a:t>Food &amp; Staples contributes the largest absolute potential reduction Rp0.97B, while Personal Care has the highest affected-transaction rate 21.13%. These are different metrics</a:t>
            </a:r>
            <a:r>
              <a:rPr lang="en-US" sz="869" dirty="0">
                <a:solidFill>
                  <a:srgbClr val="23232B"/>
                </a:solidFill>
                <a:latin typeface="Aptos"/>
              </a:rPr>
              <a:t>, </a:t>
            </a:r>
            <a:r>
              <a:rPr sz="869" dirty="0">
                <a:solidFill>
                  <a:srgbClr val="23232B"/>
                </a:solidFill>
                <a:latin typeface="Aptos"/>
              </a:rPr>
              <a:t>nominal value vs transaction rate.</a:t>
            </a:r>
          </a:p>
        </p:txBody>
      </p:sp>
      <p:sp>
        <p:nvSpPr>
          <p:cNvPr id="101" name="Shape 41">
            <a:extLst>
              <a:ext uri="{FF2B5EF4-FFF2-40B4-BE49-F238E27FC236}">
                <a16:creationId xmlns:a16="http://schemas.microsoft.com/office/drawing/2014/main" id="{CBB5F38A-1F96-22FA-89AE-376E8063D817}"/>
              </a:ext>
            </a:extLst>
          </p:cNvPr>
          <p:cNvSpPr/>
          <p:nvPr/>
        </p:nvSpPr>
        <p:spPr>
          <a:xfrm>
            <a:off x="685800" y="5879592"/>
            <a:ext cx="10332720" cy="566928"/>
          </a:xfrm>
          <a:prstGeom prst="roundRect">
            <a:avLst>
              <a:gd name="adj" fmla="val 12903"/>
            </a:avLst>
          </a:prstGeom>
          <a:solidFill>
            <a:srgbClr val="FFFFFF"/>
          </a:solidFill>
          <a:ln w="15240">
            <a:solidFill>
              <a:srgbClr val="D9D2C7"/>
            </a:solidFill>
            <a:prstDash val="solid"/>
          </a:ln>
          <a:effectLst>
            <a:outerShdw blurRad="12700" dist="50800" dir="2700000" algn="bl" rotWithShape="0">
              <a:srgbClr val="D0CBC4">
                <a:alpha val="18000"/>
              </a:srgbClr>
            </a:outerShdw>
          </a:effectLst>
        </p:spPr>
        <p:txBody>
          <a:bodyPr/>
          <a:lstStyle/>
          <a:p>
            <a:endParaRPr lang="en-US"/>
          </a:p>
        </p:txBody>
      </p:sp>
      <p:sp>
        <p:nvSpPr>
          <p:cNvPr id="102" name="Text 42">
            <a:extLst>
              <a:ext uri="{FF2B5EF4-FFF2-40B4-BE49-F238E27FC236}">
                <a16:creationId xmlns:a16="http://schemas.microsoft.com/office/drawing/2014/main" id="{4A7D03AE-6688-C9BC-F9DA-F68AE20DF9EC}"/>
              </a:ext>
            </a:extLst>
          </p:cNvPr>
          <p:cNvSpPr/>
          <p:nvPr/>
        </p:nvSpPr>
        <p:spPr>
          <a:xfrm>
            <a:off x="832104" y="5971032"/>
            <a:ext cx="10040112" cy="384048"/>
          </a:xfrm>
          <a:prstGeom prst="rect">
            <a:avLst/>
          </a:prstGeom>
          <a:noFill/>
          <a:ln/>
        </p:spPr>
        <p:txBody>
          <a:bodyPr wrap="square" lIns="254" tIns="254" rIns="254" bIns="254" rtlCol="0" anchor="ctr"/>
          <a:lstStyle/>
          <a:p>
            <a:pPr algn="ctr"/>
            <a:r>
              <a:rPr lang="en-US" sz="1000" dirty="0">
                <a:solidFill>
                  <a:srgbClr val="23232B"/>
                </a:solidFill>
                <a:latin typeface="Aptos"/>
              </a:rPr>
              <a:t>I</a:t>
            </a:r>
            <a:r>
              <a:rPr sz="1000" dirty="0">
                <a:solidFill>
                  <a:srgbClr val="23232B"/>
                </a:solidFill>
                <a:latin typeface="Aptos"/>
              </a:rPr>
              <a:t>n this dataset, the modeled P95 impact is concentrated in Near Market / Wholesale stores. This supports prioritizing that store type for a pilot</a:t>
            </a:r>
            <a:r>
              <a:rPr lang="en-US" sz="1000" dirty="0">
                <a:solidFill>
                  <a:srgbClr val="23232B"/>
                </a:solidFill>
                <a:latin typeface="Aptos"/>
              </a:rPr>
              <a:t>.</a:t>
            </a:r>
            <a:r>
              <a:rPr sz="1000" dirty="0">
                <a:solidFill>
                  <a:srgbClr val="23232B"/>
                </a:solidFill>
                <a:latin typeface="Aptos"/>
              </a:rPr>
              <a:t> it does not prove that store type causes high</a:t>
            </a:r>
            <a:r>
              <a:rPr lang="en-US" sz="1000" dirty="0">
                <a:solidFill>
                  <a:srgbClr val="23232B"/>
                </a:solidFill>
                <a:latin typeface="Aptos"/>
              </a:rPr>
              <a:t> </a:t>
            </a:r>
            <a:r>
              <a:rPr sz="1000" dirty="0">
                <a:solidFill>
                  <a:srgbClr val="23232B"/>
                </a:solidFill>
                <a:latin typeface="Aptos"/>
              </a:rPr>
              <a:t>volume purchasing.</a:t>
            </a:r>
          </a:p>
        </p:txBody>
      </p:sp>
      <p:sp>
        <p:nvSpPr>
          <p:cNvPr id="103" name="TextBox 102">
            <a:extLst>
              <a:ext uri="{FF2B5EF4-FFF2-40B4-BE49-F238E27FC236}">
                <a16:creationId xmlns:a16="http://schemas.microsoft.com/office/drawing/2014/main" id="{8EA3666B-3764-8EA5-7A22-BF54C180F866}"/>
              </a:ext>
            </a:extLst>
          </p:cNvPr>
          <p:cNvSpPr txBox="1"/>
          <p:nvPr/>
        </p:nvSpPr>
        <p:spPr>
          <a:xfrm>
            <a:off x="685800" y="4270247"/>
            <a:ext cx="1918795" cy="130805"/>
          </a:xfrm>
          <a:prstGeom prst="rect">
            <a:avLst/>
          </a:prstGeom>
          <a:noFill/>
        </p:spPr>
        <p:txBody>
          <a:bodyPr wrap="none" lIns="0" tIns="0" rIns="0" bIns="0">
            <a:spAutoFit/>
          </a:bodyPr>
          <a:lstStyle/>
          <a:p>
            <a:pPr algn="l"/>
            <a:r>
              <a:rPr sz="850" b="1" dirty="0">
                <a:solidFill>
                  <a:srgbClr val="23232B"/>
                </a:solidFill>
                <a:latin typeface="Aptos"/>
              </a:rPr>
              <a:t>P95 </a:t>
            </a:r>
            <a:r>
              <a:rPr lang="en-US" sz="850" b="1" dirty="0">
                <a:solidFill>
                  <a:srgbClr val="23232B"/>
                </a:solidFill>
                <a:latin typeface="Aptos"/>
              </a:rPr>
              <a:t>Impact in</a:t>
            </a:r>
            <a:r>
              <a:rPr sz="850" b="1" dirty="0">
                <a:solidFill>
                  <a:srgbClr val="23232B"/>
                </a:solidFill>
                <a:latin typeface="Aptos"/>
              </a:rPr>
              <a:t> </a:t>
            </a:r>
            <a:r>
              <a:rPr lang="en-US" sz="850" b="1" dirty="0">
                <a:solidFill>
                  <a:srgbClr val="23232B"/>
                </a:solidFill>
                <a:latin typeface="Aptos"/>
              </a:rPr>
              <a:t>Near Market </a:t>
            </a:r>
            <a:r>
              <a:rPr sz="850" b="1" dirty="0">
                <a:solidFill>
                  <a:srgbClr val="23232B"/>
                </a:solidFill>
                <a:latin typeface="Aptos"/>
              </a:rPr>
              <a:t>/ </a:t>
            </a:r>
            <a:r>
              <a:rPr lang="en-US" sz="850" b="1" dirty="0">
                <a:solidFill>
                  <a:srgbClr val="23232B"/>
                </a:solidFill>
                <a:latin typeface="Aptos"/>
              </a:rPr>
              <a:t>Wholesale</a:t>
            </a:r>
            <a:endParaRPr sz="850" b="1" dirty="0">
              <a:solidFill>
                <a:srgbClr val="23232B"/>
              </a:solidFill>
              <a:latin typeface="Aptos"/>
            </a:endParaRPr>
          </a:p>
        </p:txBody>
      </p:sp>
    </p:spTree>
    <p:extLst>
      <p:ext uri="{BB962C8B-B14F-4D97-AF65-F5344CB8AC3E}">
        <p14:creationId xmlns:p14="http://schemas.microsoft.com/office/powerpoint/2010/main" val="29024986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009D9-A5E3-2FB3-CB96-1478C69084A2}"/>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83B703DC-DC82-BECC-8896-12148D6661C3}"/>
              </a:ext>
            </a:extLst>
          </p:cNvPr>
          <p:cNvPicPr>
            <a:picLocks noChangeAspect="1"/>
          </p:cNvPicPr>
          <p:nvPr/>
        </p:nvPicPr>
        <p:blipFill>
          <a:blip r:embed="rId2"/>
          <a:stretch>
            <a:fillRect/>
          </a:stretch>
        </p:blipFill>
        <p:spPr>
          <a:xfrm>
            <a:off x="0" y="-1"/>
            <a:ext cx="12192000" cy="621791"/>
          </a:xfrm>
          <a:prstGeom prst="rect">
            <a:avLst/>
          </a:prstGeom>
        </p:spPr>
      </p:pic>
      <p:sp>
        <p:nvSpPr>
          <p:cNvPr id="2" name="Text 0">
            <a:extLst>
              <a:ext uri="{FF2B5EF4-FFF2-40B4-BE49-F238E27FC236}">
                <a16:creationId xmlns:a16="http://schemas.microsoft.com/office/drawing/2014/main" id="{08743883-90BC-48E1-14FE-4CC8D8D1E7F5}"/>
              </a:ext>
            </a:extLst>
          </p:cNvPr>
          <p:cNvSpPr/>
          <p:nvPr/>
        </p:nvSpPr>
        <p:spPr>
          <a:xfrm>
            <a:off x="530352" y="475488"/>
            <a:ext cx="4544568" cy="329182"/>
          </a:xfrm>
          <a:prstGeom prst="rect">
            <a:avLst/>
          </a:prstGeom>
          <a:noFill/>
          <a:ln/>
        </p:spPr>
        <p:txBody>
          <a:bodyPr wrap="square" lIns="0" tIns="0" rIns="0" bIns="0" rtlCol="0" anchor="ctr"/>
          <a:lstStyle/>
          <a:p>
            <a:pPr marL="0" indent="0">
              <a:buNone/>
            </a:pPr>
            <a:r>
              <a:rPr lang="en-US" sz="2800" b="1" kern="0" spc="140" dirty="0">
                <a:solidFill>
                  <a:srgbClr val="D51C1C"/>
                </a:solidFill>
              </a:rPr>
              <a:t>ANALYSIS SYNTHESIS</a:t>
            </a:r>
            <a:endParaRPr lang="en-US" sz="2800" dirty="0"/>
          </a:p>
        </p:txBody>
      </p:sp>
      <p:sp>
        <p:nvSpPr>
          <p:cNvPr id="3" name="Text 1">
            <a:extLst>
              <a:ext uri="{FF2B5EF4-FFF2-40B4-BE49-F238E27FC236}">
                <a16:creationId xmlns:a16="http://schemas.microsoft.com/office/drawing/2014/main" id="{E4B5737A-52E9-6D52-5756-54EB34F8B472}"/>
              </a:ext>
            </a:extLst>
          </p:cNvPr>
          <p:cNvSpPr/>
          <p:nvPr/>
        </p:nvSpPr>
        <p:spPr>
          <a:xfrm>
            <a:off x="530352" y="713232"/>
            <a:ext cx="10332720" cy="512064"/>
          </a:xfrm>
          <a:prstGeom prst="rect">
            <a:avLst/>
          </a:prstGeom>
          <a:noFill/>
          <a:ln/>
        </p:spPr>
        <p:txBody>
          <a:bodyPr wrap="square" lIns="0" tIns="0" rIns="0" bIns="0" rtlCol="0" anchor="ctr"/>
          <a:lstStyle/>
          <a:p>
            <a:pPr marL="0" indent="0">
              <a:buNone/>
            </a:pPr>
            <a:r>
              <a:rPr lang="en-US" sz="1400" b="1" dirty="0">
                <a:solidFill>
                  <a:srgbClr val="1F2033"/>
                </a:solidFill>
              </a:rPr>
              <a:t>Analysis to Action. Target the Promotion, Not the Customer</a:t>
            </a:r>
            <a:endParaRPr lang="en-US" sz="1400" dirty="0"/>
          </a:p>
        </p:txBody>
      </p:sp>
      <p:sp>
        <p:nvSpPr>
          <p:cNvPr id="5" name="Shape 2">
            <a:extLst>
              <a:ext uri="{FF2B5EF4-FFF2-40B4-BE49-F238E27FC236}">
                <a16:creationId xmlns:a16="http://schemas.microsoft.com/office/drawing/2014/main" id="{A8858BB8-906C-94DC-77F4-45D97EFD783B}"/>
              </a:ext>
            </a:extLst>
          </p:cNvPr>
          <p:cNvSpPr/>
          <p:nvPr/>
        </p:nvSpPr>
        <p:spPr>
          <a:xfrm>
            <a:off x="685800" y="1828800"/>
            <a:ext cx="1874520" cy="2560320"/>
          </a:xfrm>
          <a:prstGeom prst="roundRect">
            <a:avLst/>
          </a:prstGeom>
          <a:solidFill>
            <a:srgbClr val="FFFFFF"/>
          </a:solidFill>
          <a:ln w="15240">
            <a:solidFill>
              <a:srgbClr val="2B5CAA"/>
            </a:solidFill>
            <a:prstDash val="solid"/>
          </a:ln>
        </p:spPr>
        <p:txBody>
          <a:bodyPr/>
          <a:lstStyle/>
          <a:p>
            <a:endParaRPr lang="en-US" sz="2400"/>
          </a:p>
        </p:txBody>
      </p:sp>
      <p:sp>
        <p:nvSpPr>
          <p:cNvPr id="10" name="Text 3">
            <a:extLst>
              <a:ext uri="{FF2B5EF4-FFF2-40B4-BE49-F238E27FC236}">
                <a16:creationId xmlns:a16="http://schemas.microsoft.com/office/drawing/2014/main" id="{9CA02426-4F9C-09AE-A5A5-D745B4A6A547}"/>
              </a:ext>
            </a:extLst>
          </p:cNvPr>
          <p:cNvSpPr/>
          <p:nvPr/>
        </p:nvSpPr>
        <p:spPr>
          <a:xfrm>
            <a:off x="832104" y="2011680"/>
            <a:ext cx="1581912" cy="310896"/>
          </a:xfrm>
          <a:prstGeom prst="rect">
            <a:avLst/>
          </a:prstGeom>
          <a:noFill/>
          <a:ln/>
        </p:spPr>
        <p:txBody>
          <a:bodyPr wrap="square" lIns="0" tIns="0" rIns="0" bIns="0" rtlCol="0" anchor="ctr"/>
          <a:lstStyle/>
          <a:p>
            <a:pPr marL="0" indent="0" algn="ctr">
              <a:buNone/>
            </a:pPr>
            <a:r>
              <a:rPr lang="en-US" b="1" dirty="0">
                <a:solidFill>
                  <a:srgbClr val="23547A"/>
                </a:solidFill>
              </a:rPr>
              <a:t>1.  Detect</a:t>
            </a:r>
            <a:endParaRPr lang="en-US" dirty="0"/>
          </a:p>
        </p:txBody>
      </p:sp>
      <p:sp>
        <p:nvSpPr>
          <p:cNvPr id="11" name="Text 4">
            <a:extLst>
              <a:ext uri="{FF2B5EF4-FFF2-40B4-BE49-F238E27FC236}">
                <a16:creationId xmlns:a16="http://schemas.microsoft.com/office/drawing/2014/main" id="{5A69D9EF-F46C-1DE9-AEC8-51E891D76590}"/>
              </a:ext>
            </a:extLst>
          </p:cNvPr>
          <p:cNvSpPr/>
          <p:nvPr/>
        </p:nvSpPr>
        <p:spPr>
          <a:xfrm>
            <a:off x="832104" y="2560320"/>
            <a:ext cx="1581912" cy="1325880"/>
          </a:xfrm>
          <a:prstGeom prst="rect">
            <a:avLst/>
          </a:prstGeom>
          <a:noFill/>
          <a:ln/>
        </p:spPr>
        <p:txBody>
          <a:bodyPr wrap="square" lIns="381" tIns="381" rIns="381" bIns="381" rtlCol="0" anchor="ctr"/>
          <a:lstStyle/>
          <a:p>
            <a:pPr marL="0" indent="0" algn="ctr">
              <a:buNone/>
            </a:pPr>
            <a:r>
              <a:rPr lang="en-US" sz="1400" dirty="0">
                <a:solidFill>
                  <a:srgbClr val="1F2033"/>
                </a:solidFill>
              </a:rPr>
              <a:t>JSM high volume rate</a:t>
            </a:r>
            <a:endParaRPr lang="en-US" sz="1400" dirty="0"/>
          </a:p>
          <a:p>
            <a:pPr marL="0" indent="0" algn="ctr">
              <a:buNone/>
            </a:pPr>
            <a:r>
              <a:rPr lang="en-US" sz="1400" dirty="0">
                <a:solidFill>
                  <a:srgbClr val="1F2033"/>
                </a:solidFill>
              </a:rPr>
              <a:t>25.06% vs 6.46%</a:t>
            </a:r>
            <a:endParaRPr lang="en-US" sz="1400" dirty="0"/>
          </a:p>
          <a:p>
            <a:pPr marL="0" indent="0" algn="ctr">
              <a:buNone/>
            </a:pPr>
            <a:r>
              <a:rPr lang="en-US" sz="1400" dirty="0">
                <a:solidFill>
                  <a:srgbClr val="1F2033"/>
                </a:solidFill>
              </a:rPr>
              <a:t>(3.88× higher)</a:t>
            </a:r>
            <a:endParaRPr lang="en-US" sz="1400" dirty="0"/>
          </a:p>
        </p:txBody>
      </p:sp>
      <p:sp>
        <p:nvSpPr>
          <p:cNvPr id="14" name="Text 5">
            <a:extLst>
              <a:ext uri="{FF2B5EF4-FFF2-40B4-BE49-F238E27FC236}">
                <a16:creationId xmlns:a16="http://schemas.microsoft.com/office/drawing/2014/main" id="{08E855B0-994A-BDB1-4047-ABC0C5F7EEB8}"/>
              </a:ext>
            </a:extLst>
          </p:cNvPr>
          <p:cNvSpPr/>
          <p:nvPr/>
        </p:nvSpPr>
        <p:spPr>
          <a:xfrm>
            <a:off x="2578608" y="2761488"/>
            <a:ext cx="310896" cy="320040"/>
          </a:xfrm>
          <a:prstGeom prst="rect">
            <a:avLst/>
          </a:prstGeom>
          <a:noFill/>
          <a:ln/>
        </p:spPr>
        <p:txBody>
          <a:bodyPr wrap="square" lIns="0" tIns="0" rIns="0" bIns="0" rtlCol="0" anchor="ctr"/>
          <a:lstStyle/>
          <a:p>
            <a:pPr marL="0" indent="0" algn="ctr">
              <a:buNone/>
            </a:pPr>
            <a:r>
              <a:rPr lang="en-US" sz="3200" b="1" dirty="0">
                <a:solidFill>
                  <a:srgbClr val="D9D2C7"/>
                </a:solidFill>
              </a:rPr>
              <a:t>→</a:t>
            </a:r>
            <a:endParaRPr lang="en-US" sz="3200" dirty="0"/>
          </a:p>
        </p:txBody>
      </p:sp>
      <p:sp>
        <p:nvSpPr>
          <p:cNvPr id="16" name="Shape 6">
            <a:extLst>
              <a:ext uri="{FF2B5EF4-FFF2-40B4-BE49-F238E27FC236}">
                <a16:creationId xmlns:a16="http://schemas.microsoft.com/office/drawing/2014/main" id="{C9C85A99-9BD8-FB92-24D6-FAC93DCD0D13}"/>
              </a:ext>
            </a:extLst>
          </p:cNvPr>
          <p:cNvSpPr/>
          <p:nvPr/>
        </p:nvSpPr>
        <p:spPr>
          <a:xfrm>
            <a:off x="2907792" y="1828800"/>
            <a:ext cx="1874520" cy="2560320"/>
          </a:xfrm>
          <a:prstGeom prst="roundRect">
            <a:avLst/>
          </a:prstGeom>
          <a:noFill/>
          <a:ln w="15240">
            <a:solidFill>
              <a:srgbClr val="ED1B24"/>
            </a:solidFill>
            <a:prstDash val="solid"/>
          </a:ln>
        </p:spPr>
        <p:txBody>
          <a:bodyPr/>
          <a:lstStyle/>
          <a:p>
            <a:endParaRPr lang="en-US" sz="2400"/>
          </a:p>
        </p:txBody>
      </p:sp>
      <p:sp>
        <p:nvSpPr>
          <p:cNvPr id="29" name="Text 7">
            <a:extLst>
              <a:ext uri="{FF2B5EF4-FFF2-40B4-BE49-F238E27FC236}">
                <a16:creationId xmlns:a16="http://schemas.microsoft.com/office/drawing/2014/main" id="{3A1FB678-F314-E74F-8068-C401359FD6AC}"/>
              </a:ext>
            </a:extLst>
          </p:cNvPr>
          <p:cNvSpPr/>
          <p:nvPr/>
        </p:nvSpPr>
        <p:spPr>
          <a:xfrm>
            <a:off x="3054096" y="2011680"/>
            <a:ext cx="1581912" cy="310896"/>
          </a:xfrm>
          <a:prstGeom prst="rect">
            <a:avLst/>
          </a:prstGeom>
          <a:noFill/>
          <a:ln/>
        </p:spPr>
        <p:txBody>
          <a:bodyPr wrap="square" lIns="0" tIns="0" rIns="0" bIns="0" rtlCol="0" anchor="ctr"/>
          <a:lstStyle/>
          <a:p>
            <a:pPr marL="0" indent="0" algn="ctr">
              <a:buNone/>
            </a:pPr>
            <a:r>
              <a:rPr lang="en-US" b="1" dirty="0">
                <a:solidFill>
                  <a:srgbClr val="D51C1C"/>
                </a:solidFill>
              </a:rPr>
              <a:t>2.  Quantify</a:t>
            </a:r>
            <a:endParaRPr lang="en-US" dirty="0"/>
          </a:p>
        </p:txBody>
      </p:sp>
      <p:sp>
        <p:nvSpPr>
          <p:cNvPr id="30" name="Text 8">
            <a:extLst>
              <a:ext uri="{FF2B5EF4-FFF2-40B4-BE49-F238E27FC236}">
                <a16:creationId xmlns:a16="http://schemas.microsoft.com/office/drawing/2014/main" id="{DAACF736-8580-7F5A-F5E6-E8DEB444AEC9}"/>
              </a:ext>
            </a:extLst>
          </p:cNvPr>
          <p:cNvSpPr/>
          <p:nvPr/>
        </p:nvSpPr>
        <p:spPr>
          <a:xfrm>
            <a:off x="3054096" y="2560320"/>
            <a:ext cx="1581912" cy="1325880"/>
          </a:xfrm>
          <a:prstGeom prst="rect">
            <a:avLst/>
          </a:prstGeom>
          <a:noFill/>
          <a:ln/>
        </p:spPr>
        <p:txBody>
          <a:bodyPr wrap="square" lIns="381" tIns="381" rIns="381" bIns="381" rtlCol="0" anchor="ctr"/>
          <a:lstStyle/>
          <a:p>
            <a:pPr marL="0" indent="0" algn="ctr">
              <a:buNone/>
            </a:pPr>
            <a:r>
              <a:rPr lang="en-US" sz="1400" dirty="0">
                <a:solidFill>
                  <a:srgbClr val="1F2033"/>
                </a:solidFill>
              </a:rPr>
              <a:t>Rp7.97B total JSM discount</a:t>
            </a:r>
            <a:endParaRPr lang="en-US" sz="1400" dirty="0"/>
          </a:p>
          <a:p>
            <a:pPr marL="0" indent="0" algn="ctr">
              <a:buNone/>
            </a:pPr>
            <a:r>
              <a:rPr lang="en-US" sz="1400" dirty="0">
                <a:solidFill>
                  <a:srgbClr val="1F2033"/>
                </a:solidFill>
              </a:rPr>
              <a:t>Rp5.91B / 74.14% linked</a:t>
            </a:r>
            <a:endParaRPr lang="en-US" sz="1400" dirty="0"/>
          </a:p>
          <a:p>
            <a:pPr marL="0" indent="0" algn="ctr">
              <a:buNone/>
            </a:pPr>
            <a:r>
              <a:rPr lang="en-US" sz="1400" dirty="0">
                <a:solidFill>
                  <a:srgbClr val="1F2033"/>
                </a:solidFill>
              </a:rPr>
              <a:t>to high volume purchases</a:t>
            </a:r>
            <a:endParaRPr lang="en-US" sz="1400" dirty="0"/>
          </a:p>
        </p:txBody>
      </p:sp>
      <p:sp>
        <p:nvSpPr>
          <p:cNvPr id="31" name="Text 9">
            <a:extLst>
              <a:ext uri="{FF2B5EF4-FFF2-40B4-BE49-F238E27FC236}">
                <a16:creationId xmlns:a16="http://schemas.microsoft.com/office/drawing/2014/main" id="{D0A77212-4EAF-04D6-6E99-5F2DD43B343E}"/>
              </a:ext>
            </a:extLst>
          </p:cNvPr>
          <p:cNvSpPr/>
          <p:nvPr/>
        </p:nvSpPr>
        <p:spPr>
          <a:xfrm>
            <a:off x="4800600" y="2761488"/>
            <a:ext cx="310896" cy="320040"/>
          </a:xfrm>
          <a:prstGeom prst="rect">
            <a:avLst/>
          </a:prstGeom>
          <a:noFill/>
          <a:ln/>
        </p:spPr>
        <p:txBody>
          <a:bodyPr wrap="square" lIns="0" tIns="0" rIns="0" bIns="0" rtlCol="0" anchor="ctr"/>
          <a:lstStyle/>
          <a:p>
            <a:pPr marL="0" indent="0" algn="ctr">
              <a:buNone/>
            </a:pPr>
            <a:r>
              <a:rPr lang="en-US" sz="3200" b="1" dirty="0">
                <a:solidFill>
                  <a:srgbClr val="D9D2C7"/>
                </a:solidFill>
              </a:rPr>
              <a:t>→</a:t>
            </a:r>
            <a:endParaRPr lang="en-US" sz="3200" dirty="0"/>
          </a:p>
        </p:txBody>
      </p:sp>
      <p:sp>
        <p:nvSpPr>
          <p:cNvPr id="32" name="Shape 10">
            <a:extLst>
              <a:ext uri="{FF2B5EF4-FFF2-40B4-BE49-F238E27FC236}">
                <a16:creationId xmlns:a16="http://schemas.microsoft.com/office/drawing/2014/main" id="{82CE0FB7-658E-C107-DE19-BF07722DB702}"/>
              </a:ext>
            </a:extLst>
          </p:cNvPr>
          <p:cNvSpPr/>
          <p:nvPr/>
        </p:nvSpPr>
        <p:spPr>
          <a:xfrm>
            <a:off x="5129784" y="1828800"/>
            <a:ext cx="1874520" cy="2560320"/>
          </a:xfrm>
          <a:prstGeom prst="roundRect">
            <a:avLst/>
          </a:prstGeom>
          <a:solidFill>
            <a:srgbClr val="FFFFFF"/>
          </a:solidFill>
          <a:ln w="15240">
            <a:solidFill>
              <a:srgbClr val="2B5CAA"/>
            </a:solidFill>
            <a:prstDash val="solid"/>
          </a:ln>
        </p:spPr>
        <p:txBody>
          <a:bodyPr/>
          <a:lstStyle/>
          <a:p>
            <a:endParaRPr lang="en-US" sz="2400"/>
          </a:p>
        </p:txBody>
      </p:sp>
      <p:sp>
        <p:nvSpPr>
          <p:cNvPr id="33" name="Text 11">
            <a:extLst>
              <a:ext uri="{FF2B5EF4-FFF2-40B4-BE49-F238E27FC236}">
                <a16:creationId xmlns:a16="http://schemas.microsoft.com/office/drawing/2014/main" id="{D20FA9CA-2468-DBFB-50EF-EE27B0C72FAC}"/>
              </a:ext>
            </a:extLst>
          </p:cNvPr>
          <p:cNvSpPr/>
          <p:nvPr/>
        </p:nvSpPr>
        <p:spPr>
          <a:xfrm>
            <a:off x="5276088" y="2011680"/>
            <a:ext cx="1581912" cy="310896"/>
          </a:xfrm>
          <a:prstGeom prst="rect">
            <a:avLst/>
          </a:prstGeom>
          <a:noFill/>
          <a:ln/>
        </p:spPr>
        <p:txBody>
          <a:bodyPr wrap="square" lIns="0" tIns="0" rIns="0" bIns="0" rtlCol="0" anchor="ctr"/>
          <a:lstStyle/>
          <a:p>
            <a:pPr marL="0" indent="0" algn="ctr">
              <a:buNone/>
            </a:pPr>
            <a:r>
              <a:rPr lang="en-US" b="1" dirty="0">
                <a:solidFill>
                  <a:srgbClr val="23232B"/>
                </a:solidFill>
              </a:rPr>
              <a:t>3.  Calibrate</a:t>
            </a:r>
            <a:endParaRPr lang="en-US" dirty="0"/>
          </a:p>
        </p:txBody>
      </p:sp>
      <p:sp>
        <p:nvSpPr>
          <p:cNvPr id="34" name="Text 12">
            <a:extLst>
              <a:ext uri="{FF2B5EF4-FFF2-40B4-BE49-F238E27FC236}">
                <a16:creationId xmlns:a16="http://schemas.microsoft.com/office/drawing/2014/main" id="{285C9269-2FAC-009D-1019-07B00F635E01}"/>
              </a:ext>
            </a:extLst>
          </p:cNvPr>
          <p:cNvSpPr/>
          <p:nvPr/>
        </p:nvSpPr>
        <p:spPr>
          <a:xfrm>
            <a:off x="5276088" y="2560320"/>
            <a:ext cx="1581912" cy="1325880"/>
          </a:xfrm>
          <a:prstGeom prst="rect">
            <a:avLst/>
          </a:prstGeom>
          <a:noFill/>
          <a:ln/>
        </p:spPr>
        <p:txBody>
          <a:bodyPr wrap="square" lIns="381" tIns="381" rIns="381" bIns="381" rtlCol="0" anchor="ctr"/>
          <a:lstStyle/>
          <a:p>
            <a:pPr marL="0" indent="0" algn="ctr">
              <a:buNone/>
            </a:pPr>
            <a:r>
              <a:rPr lang="en-US" sz="1400" dirty="0">
                <a:solidFill>
                  <a:srgbClr val="1F2033"/>
                </a:solidFill>
              </a:rPr>
              <a:t>Use SKU specific Non JSM</a:t>
            </a:r>
            <a:endParaRPr lang="en-US" sz="1400" dirty="0"/>
          </a:p>
          <a:p>
            <a:pPr marL="0" indent="0" algn="ctr">
              <a:buNone/>
            </a:pPr>
            <a:r>
              <a:rPr lang="en-US" sz="1400" dirty="0">
                <a:solidFill>
                  <a:srgbClr val="1F2033"/>
                </a:solidFill>
              </a:rPr>
              <a:t>Baseline. P95 balances</a:t>
            </a:r>
            <a:endParaRPr lang="en-US" sz="1400" dirty="0"/>
          </a:p>
          <a:p>
            <a:pPr marL="0" indent="0" algn="ctr">
              <a:buNone/>
            </a:pPr>
            <a:r>
              <a:rPr lang="en-US" sz="1400" dirty="0">
                <a:solidFill>
                  <a:srgbClr val="1F2033"/>
                </a:solidFill>
              </a:rPr>
              <a:t>customer impact and exposure</a:t>
            </a:r>
            <a:endParaRPr lang="en-US" sz="1400" dirty="0"/>
          </a:p>
        </p:txBody>
      </p:sp>
      <p:sp>
        <p:nvSpPr>
          <p:cNvPr id="35" name="Text 13">
            <a:extLst>
              <a:ext uri="{FF2B5EF4-FFF2-40B4-BE49-F238E27FC236}">
                <a16:creationId xmlns:a16="http://schemas.microsoft.com/office/drawing/2014/main" id="{590BF4CC-9F89-2635-26D2-53A733A12CE4}"/>
              </a:ext>
            </a:extLst>
          </p:cNvPr>
          <p:cNvSpPr/>
          <p:nvPr/>
        </p:nvSpPr>
        <p:spPr>
          <a:xfrm>
            <a:off x="7022592" y="2761488"/>
            <a:ext cx="310896" cy="320040"/>
          </a:xfrm>
          <a:prstGeom prst="rect">
            <a:avLst/>
          </a:prstGeom>
          <a:noFill/>
          <a:ln/>
        </p:spPr>
        <p:txBody>
          <a:bodyPr wrap="square" lIns="0" tIns="0" rIns="0" bIns="0" rtlCol="0" anchor="ctr"/>
          <a:lstStyle/>
          <a:p>
            <a:pPr marL="0" indent="0" algn="ctr">
              <a:buNone/>
            </a:pPr>
            <a:r>
              <a:rPr lang="en-US" sz="3200" b="1" dirty="0">
                <a:solidFill>
                  <a:srgbClr val="D9D2C7"/>
                </a:solidFill>
              </a:rPr>
              <a:t>→</a:t>
            </a:r>
            <a:endParaRPr lang="en-US" sz="3200" dirty="0"/>
          </a:p>
        </p:txBody>
      </p:sp>
      <p:sp>
        <p:nvSpPr>
          <p:cNvPr id="36" name="Shape 14">
            <a:extLst>
              <a:ext uri="{FF2B5EF4-FFF2-40B4-BE49-F238E27FC236}">
                <a16:creationId xmlns:a16="http://schemas.microsoft.com/office/drawing/2014/main" id="{639BD775-F5FB-CBEF-7FB6-2CB88C72F814}"/>
              </a:ext>
            </a:extLst>
          </p:cNvPr>
          <p:cNvSpPr/>
          <p:nvPr/>
        </p:nvSpPr>
        <p:spPr>
          <a:xfrm>
            <a:off x="7351776" y="1828800"/>
            <a:ext cx="1874520" cy="2560320"/>
          </a:xfrm>
          <a:prstGeom prst="roundRect">
            <a:avLst/>
          </a:prstGeom>
          <a:noFill/>
          <a:ln w="15240">
            <a:solidFill>
              <a:srgbClr val="FF0000"/>
            </a:solidFill>
            <a:prstDash val="solid"/>
          </a:ln>
        </p:spPr>
        <p:txBody>
          <a:bodyPr/>
          <a:lstStyle/>
          <a:p>
            <a:endParaRPr lang="en-US" sz="2400"/>
          </a:p>
        </p:txBody>
      </p:sp>
      <p:sp>
        <p:nvSpPr>
          <p:cNvPr id="37" name="Text 15">
            <a:extLst>
              <a:ext uri="{FF2B5EF4-FFF2-40B4-BE49-F238E27FC236}">
                <a16:creationId xmlns:a16="http://schemas.microsoft.com/office/drawing/2014/main" id="{789C8C24-CB10-7942-B442-8080A6A57D23}"/>
              </a:ext>
            </a:extLst>
          </p:cNvPr>
          <p:cNvSpPr/>
          <p:nvPr/>
        </p:nvSpPr>
        <p:spPr>
          <a:xfrm>
            <a:off x="7498080" y="2011680"/>
            <a:ext cx="1581912" cy="310896"/>
          </a:xfrm>
          <a:prstGeom prst="rect">
            <a:avLst/>
          </a:prstGeom>
          <a:noFill/>
          <a:ln/>
        </p:spPr>
        <p:txBody>
          <a:bodyPr wrap="square" lIns="0" tIns="0" rIns="0" bIns="0" rtlCol="0" anchor="ctr"/>
          <a:lstStyle/>
          <a:p>
            <a:pPr marL="0" indent="0" algn="ctr">
              <a:buNone/>
            </a:pPr>
            <a:r>
              <a:rPr lang="en-US" b="1" dirty="0">
                <a:solidFill>
                  <a:srgbClr val="23547A"/>
                </a:solidFill>
              </a:rPr>
              <a:t>4  Target</a:t>
            </a:r>
            <a:endParaRPr lang="en-US" dirty="0"/>
          </a:p>
        </p:txBody>
      </p:sp>
      <p:sp>
        <p:nvSpPr>
          <p:cNvPr id="38" name="Text 16">
            <a:extLst>
              <a:ext uri="{FF2B5EF4-FFF2-40B4-BE49-F238E27FC236}">
                <a16:creationId xmlns:a16="http://schemas.microsoft.com/office/drawing/2014/main" id="{B6642315-65F6-A37D-630C-6ED03B2A72C9}"/>
              </a:ext>
            </a:extLst>
          </p:cNvPr>
          <p:cNvSpPr/>
          <p:nvPr/>
        </p:nvSpPr>
        <p:spPr>
          <a:xfrm>
            <a:off x="7498080" y="2560320"/>
            <a:ext cx="1581912" cy="1325880"/>
          </a:xfrm>
          <a:prstGeom prst="rect">
            <a:avLst/>
          </a:prstGeom>
          <a:noFill/>
          <a:ln/>
        </p:spPr>
        <p:txBody>
          <a:bodyPr wrap="square" lIns="381" tIns="381" rIns="381" bIns="381" rtlCol="0" anchor="ctr"/>
          <a:lstStyle/>
          <a:p>
            <a:pPr marL="0" indent="0" algn="ctr">
              <a:buNone/>
            </a:pPr>
            <a:r>
              <a:rPr lang="en-US" sz="1400" dirty="0">
                <a:solidFill>
                  <a:srgbClr val="1F2033"/>
                </a:solidFill>
              </a:rPr>
              <a:t>Prioritize Near Market /</a:t>
            </a:r>
            <a:endParaRPr lang="en-US" sz="1400" dirty="0"/>
          </a:p>
          <a:p>
            <a:pPr marL="0" indent="0" algn="ctr">
              <a:buNone/>
            </a:pPr>
            <a:r>
              <a:rPr lang="en-US" sz="1400" dirty="0">
                <a:solidFill>
                  <a:srgbClr val="1F2033"/>
                </a:solidFill>
              </a:rPr>
              <a:t>Wholesale stores where</a:t>
            </a:r>
            <a:endParaRPr lang="en-US" sz="1400" dirty="0"/>
          </a:p>
          <a:p>
            <a:pPr marL="0" indent="0" algn="ctr">
              <a:buNone/>
            </a:pPr>
            <a:r>
              <a:rPr lang="en-US" sz="1400" dirty="0">
                <a:solidFill>
                  <a:srgbClr val="1F2033"/>
                </a:solidFill>
              </a:rPr>
              <a:t>45.48% are affected</a:t>
            </a:r>
            <a:endParaRPr lang="en-US" sz="1400" dirty="0"/>
          </a:p>
        </p:txBody>
      </p:sp>
      <p:sp>
        <p:nvSpPr>
          <p:cNvPr id="39" name="Text 17">
            <a:extLst>
              <a:ext uri="{FF2B5EF4-FFF2-40B4-BE49-F238E27FC236}">
                <a16:creationId xmlns:a16="http://schemas.microsoft.com/office/drawing/2014/main" id="{E7B8F1E0-AC05-DED3-2FAF-D872103183CC}"/>
              </a:ext>
            </a:extLst>
          </p:cNvPr>
          <p:cNvSpPr/>
          <p:nvPr/>
        </p:nvSpPr>
        <p:spPr>
          <a:xfrm>
            <a:off x="9244584" y="2761488"/>
            <a:ext cx="310896" cy="320040"/>
          </a:xfrm>
          <a:prstGeom prst="rect">
            <a:avLst/>
          </a:prstGeom>
          <a:noFill/>
          <a:ln/>
        </p:spPr>
        <p:txBody>
          <a:bodyPr wrap="square" lIns="0" tIns="0" rIns="0" bIns="0" rtlCol="0" anchor="ctr"/>
          <a:lstStyle/>
          <a:p>
            <a:pPr marL="0" indent="0" algn="ctr">
              <a:buNone/>
            </a:pPr>
            <a:r>
              <a:rPr lang="en-US" sz="3200" b="1" dirty="0">
                <a:solidFill>
                  <a:srgbClr val="D9D2C7"/>
                </a:solidFill>
              </a:rPr>
              <a:t>→</a:t>
            </a:r>
            <a:endParaRPr lang="en-US" sz="3200" dirty="0"/>
          </a:p>
        </p:txBody>
      </p:sp>
      <p:sp>
        <p:nvSpPr>
          <p:cNvPr id="40" name="Shape 18">
            <a:extLst>
              <a:ext uri="{FF2B5EF4-FFF2-40B4-BE49-F238E27FC236}">
                <a16:creationId xmlns:a16="http://schemas.microsoft.com/office/drawing/2014/main" id="{07B51331-E4B9-91D1-1C3F-A53C4A9D3FA6}"/>
              </a:ext>
            </a:extLst>
          </p:cNvPr>
          <p:cNvSpPr/>
          <p:nvPr/>
        </p:nvSpPr>
        <p:spPr>
          <a:xfrm>
            <a:off x="9573768" y="1828800"/>
            <a:ext cx="1874520" cy="2560320"/>
          </a:xfrm>
          <a:prstGeom prst="roundRect">
            <a:avLst/>
          </a:prstGeom>
          <a:solidFill>
            <a:srgbClr val="FFFFFF"/>
          </a:solidFill>
          <a:ln w="15240">
            <a:solidFill>
              <a:srgbClr val="2B5CAA"/>
            </a:solidFill>
            <a:prstDash val="solid"/>
          </a:ln>
        </p:spPr>
        <p:txBody>
          <a:bodyPr/>
          <a:lstStyle/>
          <a:p>
            <a:endParaRPr lang="en-US" sz="2400"/>
          </a:p>
        </p:txBody>
      </p:sp>
      <p:sp>
        <p:nvSpPr>
          <p:cNvPr id="41" name="Text 19">
            <a:extLst>
              <a:ext uri="{FF2B5EF4-FFF2-40B4-BE49-F238E27FC236}">
                <a16:creationId xmlns:a16="http://schemas.microsoft.com/office/drawing/2014/main" id="{5BEEC58B-389A-8AC5-B8D0-641E09627582}"/>
              </a:ext>
            </a:extLst>
          </p:cNvPr>
          <p:cNvSpPr/>
          <p:nvPr/>
        </p:nvSpPr>
        <p:spPr>
          <a:xfrm>
            <a:off x="9720072" y="2011680"/>
            <a:ext cx="1581912" cy="310896"/>
          </a:xfrm>
          <a:prstGeom prst="rect">
            <a:avLst/>
          </a:prstGeom>
          <a:noFill/>
          <a:ln/>
        </p:spPr>
        <p:txBody>
          <a:bodyPr wrap="square" lIns="0" tIns="0" rIns="0" bIns="0" rtlCol="0" anchor="ctr"/>
          <a:lstStyle/>
          <a:p>
            <a:pPr marL="0" indent="0" algn="ctr">
              <a:buNone/>
            </a:pPr>
            <a:r>
              <a:rPr lang="en-US" b="1" dirty="0">
                <a:solidFill>
                  <a:srgbClr val="23232B"/>
                </a:solidFill>
              </a:rPr>
              <a:t>5  Monitor</a:t>
            </a:r>
            <a:endParaRPr lang="en-US" dirty="0"/>
          </a:p>
        </p:txBody>
      </p:sp>
      <p:sp>
        <p:nvSpPr>
          <p:cNvPr id="42" name="Text 20">
            <a:extLst>
              <a:ext uri="{FF2B5EF4-FFF2-40B4-BE49-F238E27FC236}">
                <a16:creationId xmlns:a16="http://schemas.microsoft.com/office/drawing/2014/main" id="{C3C8CED3-F8B7-0028-36FA-C73FB1B195C2}"/>
              </a:ext>
            </a:extLst>
          </p:cNvPr>
          <p:cNvSpPr/>
          <p:nvPr/>
        </p:nvSpPr>
        <p:spPr>
          <a:xfrm>
            <a:off x="9720072" y="2560320"/>
            <a:ext cx="1581912" cy="1325880"/>
          </a:xfrm>
          <a:prstGeom prst="rect">
            <a:avLst/>
          </a:prstGeom>
          <a:noFill/>
          <a:ln/>
        </p:spPr>
        <p:txBody>
          <a:bodyPr wrap="square" lIns="381" tIns="381" rIns="381" bIns="381" rtlCol="0" anchor="ctr"/>
          <a:lstStyle/>
          <a:p>
            <a:pPr marL="0" indent="0" algn="ctr">
              <a:buNone/>
            </a:pPr>
            <a:r>
              <a:rPr lang="en-US" sz="1400" dirty="0">
                <a:solidFill>
                  <a:srgbClr val="1F2033"/>
                </a:solidFill>
              </a:rPr>
              <a:t>Allow excess units at</a:t>
            </a:r>
            <a:endParaRPr lang="en-US" sz="1400" dirty="0"/>
          </a:p>
          <a:p>
            <a:pPr marL="0" indent="0" algn="ctr">
              <a:buNone/>
            </a:pPr>
            <a:r>
              <a:rPr lang="en-US" sz="1400" dirty="0">
                <a:solidFill>
                  <a:srgbClr val="1F2033"/>
                </a:solidFill>
              </a:rPr>
              <a:t>regular price, monitor sales,</a:t>
            </a:r>
            <a:endParaRPr lang="en-US" sz="1400" dirty="0"/>
          </a:p>
          <a:p>
            <a:pPr marL="0" indent="0" algn="ctr">
              <a:buNone/>
            </a:pPr>
            <a:r>
              <a:rPr lang="en-US" sz="1400" dirty="0">
                <a:solidFill>
                  <a:srgbClr val="1F2033"/>
                </a:solidFill>
              </a:rPr>
              <a:t>complaints and recalibrate</a:t>
            </a:r>
            <a:endParaRPr lang="en-US" sz="1400" dirty="0"/>
          </a:p>
        </p:txBody>
      </p:sp>
      <p:sp>
        <p:nvSpPr>
          <p:cNvPr id="43" name="Shape 21">
            <a:extLst>
              <a:ext uri="{FF2B5EF4-FFF2-40B4-BE49-F238E27FC236}">
                <a16:creationId xmlns:a16="http://schemas.microsoft.com/office/drawing/2014/main" id="{D90E2AB4-1AE9-4390-1FA2-718DFEB0A0A7}"/>
              </a:ext>
            </a:extLst>
          </p:cNvPr>
          <p:cNvSpPr/>
          <p:nvPr/>
        </p:nvSpPr>
        <p:spPr>
          <a:xfrm>
            <a:off x="1920240" y="4892040"/>
            <a:ext cx="2057400" cy="1051560"/>
          </a:xfrm>
          <a:prstGeom prst="roundRect">
            <a:avLst/>
          </a:prstGeom>
          <a:solidFill>
            <a:srgbClr val="FFFFFF"/>
          </a:solidFill>
          <a:ln w="12700">
            <a:solidFill>
              <a:srgbClr val="D9D2C7"/>
            </a:solidFill>
            <a:prstDash val="solid"/>
          </a:ln>
        </p:spPr>
        <p:txBody>
          <a:bodyPr/>
          <a:lstStyle/>
          <a:p>
            <a:endParaRPr lang="en-US"/>
          </a:p>
        </p:txBody>
      </p:sp>
      <p:sp>
        <p:nvSpPr>
          <p:cNvPr id="44" name="Text 22">
            <a:extLst>
              <a:ext uri="{FF2B5EF4-FFF2-40B4-BE49-F238E27FC236}">
                <a16:creationId xmlns:a16="http://schemas.microsoft.com/office/drawing/2014/main" id="{82E7AD57-F03A-76BD-7A75-C5EDD4F8D0C4}"/>
              </a:ext>
            </a:extLst>
          </p:cNvPr>
          <p:cNvSpPr/>
          <p:nvPr/>
        </p:nvSpPr>
        <p:spPr>
          <a:xfrm>
            <a:off x="2048256" y="5001768"/>
            <a:ext cx="1801368" cy="384048"/>
          </a:xfrm>
          <a:prstGeom prst="rect">
            <a:avLst/>
          </a:prstGeom>
          <a:noFill/>
          <a:ln/>
        </p:spPr>
        <p:txBody>
          <a:bodyPr wrap="square" lIns="0" tIns="0" rIns="0" bIns="0" rtlCol="0" anchor="ctr"/>
          <a:lstStyle/>
          <a:p>
            <a:pPr marL="0" indent="0" algn="ctr">
              <a:buNone/>
            </a:pPr>
            <a:r>
              <a:rPr lang="en-US" sz="2400" b="1" dirty="0">
                <a:solidFill>
                  <a:srgbClr val="23547A"/>
                </a:solidFill>
              </a:rPr>
              <a:t>19.36%</a:t>
            </a:r>
            <a:endParaRPr lang="en-US" sz="2400" dirty="0"/>
          </a:p>
        </p:txBody>
      </p:sp>
      <p:sp>
        <p:nvSpPr>
          <p:cNvPr id="45" name="Text 23">
            <a:extLst>
              <a:ext uri="{FF2B5EF4-FFF2-40B4-BE49-F238E27FC236}">
                <a16:creationId xmlns:a16="http://schemas.microsoft.com/office/drawing/2014/main" id="{543BF103-209D-5D3F-D633-2136BC9EB2DB}"/>
              </a:ext>
            </a:extLst>
          </p:cNvPr>
          <p:cNvSpPr/>
          <p:nvPr/>
        </p:nvSpPr>
        <p:spPr>
          <a:xfrm>
            <a:off x="2029968" y="5422392"/>
            <a:ext cx="1837944" cy="448056"/>
          </a:xfrm>
          <a:prstGeom prst="rect">
            <a:avLst/>
          </a:prstGeom>
          <a:noFill/>
          <a:ln/>
        </p:spPr>
        <p:txBody>
          <a:bodyPr wrap="square" lIns="0" tIns="0" rIns="0" bIns="0" rtlCol="0" anchor="t"/>
          <a:lstStyle/>
          <a:p>
            <a:pPr marL="0" indent="0" algn="ctr">
              <a:buNone/>
            </a:pPr>
            <a:r>
              <a:rPr lang="en-US" sz="1200" dirty="0"/>
              <a:t>Transactions affected</a:t>
            </a:r>
          </a:p>
          <a:p>
            <a:pPr marL="0" indent="0" algn="ctr">
              <a:buNone/>
            </a:pPr>
            <a:r>
              <a:rPr lang="en-US" sz="1200" dirty="0"/>
              <a:t>under P95</a:t>
            </a:r>
          </a:p>
        </p:txBody>
      </p:sp>
      <p:sp>
        <p:nvSpPr>
          <p:cNvPr id="46" name="Shape 24">
            <a:extLst>
              <a:ext uri="{FF2B5EF4-FFF2-40B4-BE49-F238E27FC236}">
                <a16:creationId xmlns:a16="http://schemas.microsoft.com/office/drawing/2014/main" id="{E8CC46EF-95BF-40EC-000E-092C9F94B117}"/>
              </a:ext>
            </a:extLst>
          </p:cNvPr>
          <p:cNvSpPr/>
          <p:nvPr/>
        </p:nvSpPr>
        <p:spPr>
          <a:xfrm>
            <a:off x="5074920" y="4892040"/>
            <a:ext cx="2057400" cy="1051560"/>
          </a:xfrm>
          <a:prstGeom prst="roundRect">
            <a:avLst/>
          </a:prstGeom>
          <a:solidFill>
            <a:srgbClr val="FFFFFF"/>
          </a:solidFill>
          <a:ln w="12700">
            <a:solidFill>
              <a:srgbClr val="D9D2C7"/>
            </a:solidFill>
            <a:prstDash val="solid"/>
          </a:ln>
        </p:spPr>
        <p:txBody>
          <a:bodyPr/>
          <a:lstStyle/>
          <a:p>
            <a:endParaRPr lang="en-US"/>
          </a:p>
        </p:txBody>
      </p:sp>
      <p:sp>
        <p:nvSpPr>
          <p:cNvPr id="47" name="Text 25">
            <a:extLst>
              <a:ext uri="{FF2B5EF4-FFF2-40B4-BE49-F238E27FC236}">
                <a16:creationId xmlns:a16="http://schemas.microsoft.com/office/drawing/2014/main" id="{699E271A-549F-6257-5C35-09D9CB95BABA}"/>
              </a:ext>
            </a:extLst>
          </p:cNvPr>
          <p:cNvSpPr/>
          <p:nvPr/>
        </p:nvSpPr>
        <p:spPr>
          <a:xfrm>
            <a:off x="5202936" y="5001768"/>
            <a:ext cx="1801368" cy="384048"/>
          </a:xfrm>
          <a:prstGeom prst="rect">
            <a:avLst/>
          </a:prstGeom>
          <a:noFill/>
          <a:ln/>
        </p:spPr>
        <p:txBody>
          <a:bodyPr wrap="square" lIns="0" tIns="0" rIns="0" bIns="0" rtlCol="0" anchor="ctr"/>
          <a:lstStyle/>
          <a:p>
            <a:pPr marL="0" indent="0" algn="ctr">
              <a:buNone/>
            </a:pPr>
            <a:r>
              <a:rPr lang="en-US" sz="2400" b="1" dirty="0">
                <a:solidFill>
                  <a:srgbClr val="2B5CAA"/>
                </a:solidFill>
              </a:rPr>
              <a:t>Rp 1.45 B</a:t>
            </a:r>
            <a:endParaRPr lang="en-US" sz="2400" dirty="0">
              <a:solidFill>
                <a:srgbClr val="2B5CAA"/>
              </a:solidFill>
            </a:endParaRPr>
          </a:p>
        </p:txBody>
      </p:sp>
      <p:sp>
        <p:nvSpPr>
          <p:cNvPr id="48" name="Text 26">
            <a:extLst>
              <a:ext uri="{FF2B5EF4-FFF2-40B4-BE49-F238E27FC236}">
                <a16:creationId xmlns:a16="http://schemas.microsoft.com/office/drawing/2014/main" id="{AD9785C3-69B5-C5E2-B068-262BDE728D2D}"/>
              </a:ext>
            </a:extLst>
          </p:cNvPr>
          <p:cNvSpPr/>
          <p:nvPr/>
        </p:nvSpPr>
        <p:spPr>
          <a:xfrm>
            <a:off x="5184648" y="5422392"/>
            <a:ext cx="1837944" cy="448056"/>
          </a:xfrm>
          <a:prstGeom prst="rect">
            <a:avLst/>
          </a:prstGeom>
          <a:noFill/>
          <a:ln/>
        </p:spPr>
        <p:txBody>
          <a:bodyPr wrap="square" lIns="0" tIns="0" rIns="0" bIns="0" rtlCol="0" anchor="t"/>
          <a:lstStyle/>
          <a:p>
            <a:pPr marL="0" indent="0" algn="ctr">
              <a:buNone/>
            </a:pPr>
            <a:r>
              <a:rPr lang="en-US" sz="1200" dirty="0"/>
              <a:t>Potential discount exposure</a:t>
            </a:r>
          </a:p>
          <a:p>
            <a:pPr marL="0" indent="0" algn="ctr">
              <a:buNone/>
            </a:pPr>
            <a:r>
              <a:rPr lang="en-US" sz="1200" dirty="0"/>
              <a:t>reduction</a:t>
            </a:r>
          </a:p>
        </p:txBody>
      </p:sp>
      <p:sp>
        <p:nvSpPr>
          <p:cNvPr id="49" name="Shape 27">
            <a:extLst>
              <a:ext uri="{FF2B5EF4-FFF2-40B4-BE49-F238E27FC236}">
                <a16:creationId xmlns:a16="http://schemas.microsoft.com/office/drawing/2014/main" id="{298FF0D4-F669-AEE0-5276-9E5783AF6D46}"/>
              </a:ext>
            </a:extLst>
          </p:cNvPr>
          <p:cNvSpPr/>
          <p:nvPr/>
        </p:nvSpPr>
        <p:spPr>
          <a:xfrm>
            <a:off x="8229600" y="4892040"/>
            <a:ext cx="2057400" cy="1051560"/>
          </a:xfrm>
          <a:prstGeom prst="roundRect">
            <a:avLst/>
          </a:prstGeom>
          <a:solidFill>
            <a:srgbClr val="FFFFFF"/>
          </a:solidFill>
          <a:ln w="12700">
            <a:solidFill>
              <a:srgbClr val="D9D2C7"/>
            </a:solidFill>
            <a:prstDash val="solid"/>
          </a:ln>
        </p:spPr>
        <p:txBody>
          <a:bodyPr/>
          <a:lstStyle/>
          <a:p>
            <a:endParaRPr lang="en-US"/>
          </a:p>
        </p:txBody>
      </p:sp>
      <p:sp>
        <p:nvSpPr>
          <p:cNvPr id="50" name="Text 28">
            <a:extLst>
              <a:ext uri="{FF2B5EF4-FFF2-40B4-BE49-F238E27FC236}">
                <a16:creationId xmlns:a16="http://schemas.microsoft.com/office/drawing/2014/main" id="{1383CB33-177C-11ED-D247-462EF2BE3244}"/>
              </a:ext>
            </a:extLst>
          </p:cNvPr>
          <p:cNvSpPr/>
          <p:nvPr/>
        </p:nvSpPr>
        <p:spPr>
          <a:xfrm>
            <a:off x="8357616" y="5001768"/>
            <a:ext cx="1801368" cy="384048"/>
          </a:xfrm>
          <a:prstGeom prst="rect">
            <a:avLst/>
          </a:prstGeom>
          <a:noFill/>
          <a:ln/>
        </p:spPr>
        <p:txBody>
          <a:bodyPr wrap="square" lIns="0" tIns="0" rIns="0" bIns="0" rtlCol="0" anchor="ctr"/>
          <a:lstStyle/>
          <a:p>
            <a:pPr marL="0" indent="0" algn="ctr">
              <a:buNone/>
            </a:pPr>
            <a:r>
              <a:rPr lang="en-US" sz="2400" b="1" dirty="0">
                <a:solidFill>
                  <a:srgbClr val="2B5CAA"/>
                </a:solidFill>
              </a:rPr>
              <a:t>18.20%</a:t>
            </a:r>
            <a:endParaRPr lang="en-US" sz="2400" dirty="0">
              <a:solidFill>
                <a:srgbClr val="2B5CAA"/>
              </a:solidFill>
            </a:endParaRPr>
          </a:p>
        </p:txBody>
      </p:sp>
      <p:sp>
        <p:nvSpPr>
          <p:cNvPr id="51" name="Text 29">
            <a:extLst>
              <a:ext uri="{FF2B5EF4-FFF2-40B4-BE49-F238E27FC236}">
                <a16:creationId xmlns:a16="http://schemas.microsoft.com/office/drawing/2014/main" id="{C9675E66-99CD-C6E0-CAA9-A11F030003D7}"/>
              </a:ext>
            </a:extLst>
          </p:cNvPr>
          <p:cNvSpPr/>
          <p:nvPr/>
        </p:nvSpPr>
        <p:spPr>
          <a:xfrm>
            <a:off x="8339328" y="5422392"/>
            <a:ext cx="1837944" cy="448056"/>
          </a:xfrm>
          <a:prstGeom prst="rect">
            <a:avLst/>
          </a:prstGeom>
          <a:noFill/>
          <a:ln/>
        </p:spPr>
        <p:txBody>
          <a:bodyPr wrap="square" lIns="0" tIns="0" rIns="0" bIns="0" rtlCol="0" anchor="t"/>
          <a:lstStyle/>
          <a:p>
            <a:pPr marL="0" indent="0" algn="ctr">
              <a:buNone/>
            </a:pPr>
            <a:r>
              <a:rPr lang="en-US" sz="1200" dirty="0"/>
              <a:t>Share of total JSM discount</a:t>
            </a:r>
          </a:p>
          <a:p>
            <a:pPr marL="0" indent="0" algn="ctr">
              <a:buNone/>
            </a:pPr>
            <a:r>
              <a:rPr lang="en-US" sz="1200" dirty="0"/>
              <a:t>exposure potentially reduced</a:t>
            </a:r>
          </a:p>
        </p:txBody>
      </p:sp>
    </p:spTree>
    <p:extLst>
      <p:ext uri="{BB962C8B-B14F-4D97-AF65-F5344CB8AC3E}">
        <p14:creationId xmlns:p14="http://schemas.microsoft.com/office/powerpoint/2010/main" val="3200194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226EA-53C0-D235-371A-91989EE32D8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CAB6DD3-8FC2-E5A0-A778-AB8DA37A2DBB}"/>
              </a:ext>
            </a:extLst>
          </p:cNvPr>
          <p:cNvSpPr/>
          <p:nvPr/>
        </p:nvSpPr>
        <p:spPr>
          <a:xfrm>
            <a:off x="-1" y="0"/>
            <a:ext cx="12192001" cy="6858001"/>
          </a:xfrm>
          <a:prstGeom prst="rect">
            <a:avLst/>
          </a:prstGeom>
          <a:solidFill>
            <a:srgbClr val="E0E3E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43D4182-5AE7-0EE3-91A2-CF384909570E}"/>
              </a:ext>
            </a:extLst>
          </p:cNvPr>
          <p:cNvSpPr txBox="1"/>
          <p:nvPr/>
        </p:nvSpPr>
        <p:spPr>
          <a:xfrm>
            <a:off x="604519" y="566081"/>
            <a:ext cx="999197" cy="220810"/>
          </a:xfrm>
          <a:prstGeom prst="rect">
            <a:avLst/>
          </a:prstGeom>
          <a:noFill/>
        </p:spPr>
        <p:txBody>
          <a:bodyPr wrap="none" lIns="0" tIns="0" rIns="0" bIns="0">
            <a:spAutoFit/>
          </a:bodyPr>
          <a:lstStyle/>
          <a:p>
            <a:pPr>
              <a:spcBef>
                <a:spcPts val="0"/>
              </a:spcBef>
              <a:spcAft>
                <a:spcPts val="0"/>
              </a:spcAft>
            </a:pPr>
            <a:r>
              <a:rPr sz="1071" b="1" i="0" dirty="0">
                <a:solidFill>
                  <a:srgbClr val="C8181A"/>
                </a:solidFill>
                <a:latin typeface="Arial"/>
              </a:rPr>
              <a:t>S E C T I O N</a:t>
            </a:r>
          </a:p>
        </p:txBody>
      </p:sp>
      <p:sp>
        <p:nvSpPr>
          <p:cNvPr id="8" name="TextBox 7">
            <a:extLst>
              <a:ext uri="{FF2B5EF4-FFF2-40B4-BE49-F238E27FC236}">
                <a16:creationId xmlns:a16="http://schemas.microsoft.com/office/drawing/2014/main" id="{F13A83F6-A7CA-26FE-5A4B-933CE5337683}"/>
              </a:ext>
            </a:extLst>
          </p:cNvPr>
          <p:cNvSpPr txBox="1"/>
          <p:nvPr/>
        </p:nvSpPr>
        <p:spPr>
          <a:xfrm>
            <a:off x="745284" y="566081"/>
            <a:ext cx="2541080" cy="2646878"/>
          </a:xfrm>
          <a:prstGeom prst="rect">
            <a:avLst/>
          </a:prstGeom>
          <a:noFill/>
        </p:spPr>
        <p:txBody>
          <a:bodyPr wrap="none" rtlCol="0">
            <a:spAutoFit/>
          </a:bodyPr>
          <a:lstStyle/>
          <a:p>
            <a:r>
              <a:rPr lang="en-US" sz="16600" b="1" dirty="0">
                <a:solidFill>
                  <a:srgbClr val="2B5CAA"/>
                </a:solidFill>
                <a:latin typeface="Impact" panose="020B0806030902050204" pitchFamily="34" charset="0"/>
                <a:ea typeface="STHupo" panose="02010800040101010101" pitchFamily="2" charset="-122"/>
              </a:rPr>
              <a:t>04</a:t>
            </a:r>
          </a:p>
        </p:txBody>
      </p:sp>
      <p:cxnSp>
        <p:nvCxnSpPr>
          <p:cNvPr id="9" name="Straight Connector 8">
            <a:extLst>
              <a:ext uri="{FF2B5EF4-FFF2-40B4-BE49-F238E27FC236}">
                <a16:creationId xmlns:a16="http://schemas.microsoft.com/office/drawing/2014/main" id="{E5F5027A-354F-103B-1BFA-E03D6E2F45FF}"/>
              </a:ext>
            </a:extLst>
          </p:cNvPr>
          <p:cNvCxnSpPr>
            <a:cxnSpLocks/>
          </p:cNvCxnSpPr>
          <p:nvPr/>
        </p:nvCxnSpPr>
        <p:spPr>
          <a:xfrm>
            <a:off x="604519" y="4823418"/>
            <a:ext cx="6091703" cy="0"/>
          </a:xfrm>
          <a:prstGeom prst="line">
            <a:avLst/>
          </a:prstGeom>
          <a:ln w="41275">
            <a:solidFill>
              <a:srgbClr val="FFFF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DE574195-6381-8B5E-7A3B-49C2AE8D597F}"/>
              </a:ext>
            </a:extLst>
          </p:cNvPr>
          <p:cNvSpPr txBox="1"/>
          <p:nvPr/>
        </p:nvSpPr>
        <p:spPr>
          <a:xfrm>
            <a:off x="571861" y="2976759"/>
            <a:ext cx="6455293" cy="1846659"/>
          </a:xfrm>
          <a:prstGeom prst="rect">
            <a:avLst/>
          </a:prstGeom>
          <a:noFill/>
        </p:spPr>
        <p:txBody>
          <a:bodyPr wrap="none" lIns="0" tIns="0" rIns="0" bIns="0">
            <a:spAutoFit/>
          </a:bodyPr>
          <a:lstStyle/>
          <a:p>
            <a:pPr>
              <a:spcBef>
                <a:spcPts val="0"/>
              </a:spcBef>
              <a:spcAft>
                <a:spcPts val="0"/>
              </a:spcAft>
            </a:pPr>
            <a:r>
              <a:rPr lang="en-US" sz="6000" b="1" i="0" dirty="0">
                <a:solidFill>
                  <a:srgbClr val="ED1B24"/>
                </a:solidFill>
                <a:effectLst>
                  <a:outerShdw blurRad="50800" dist="38100" dir="10800000" algn="r" rotWithShape="0">
                    <a:prstClr val="black">
                      <a:alpha val="40000"/>
                    </a:prstClr>
                  </a:outerShdw>
                </a:effectLst>
                <a:latin typeface="Arial"/>
              </a:rPr>
              <a:t>Conclusion &amp;</a:t>
            </a:r>
          </a:p>
          <a:p>
            <a:pPr>
              <a:spcBef>
                <a:spcPts val="0"/>
              </a:spcBef>
              <a:spcAft>
                <a:spcPts val="0"/>
              </a:spcAft>
            </a:pPr>
            <a:r>
              <a:rPr lang="en-US" sz="6000" b="1" dirty="0">
                <a:solidFill>
                  <a:srgbClr val="ED1B24"/>
                </a:solidFill>
                <a:effectLst>
                  <a:outerShdw blurRad="50800" dist="38100" dir="10800000" algn="r" rotWithShape="0">
                    <a:prstClr val="black">
                      <a:alpha val="40000"/>
                    </a:prstClr>
                  </a:outerShdw>
                </a:effectLst>
                <a:latin typeface="Arial"/>
              </a:rPr>
              <a:t>Recommendation</a:t>
            </a:r>
            <a:endParaRPr sz="6000" b="1" i="0" dirty="0">
              <a:solidFill>
                <a:srgbClr val="ED1B24"/>
              </a:solidFill>
              <a:effectLst>
                <a:outerShdw blurRad="50800" dist="38100" dir="10800000" algn="r" rotWithShape="0">
                  <a:prstClr val="black">
                    <a:alpha val="40000"/>
                  </a:prstClr>
                </a:outerShdw>
              </a:effectLst>
              <a:latin typeface="Arial"/>
            </a:endParaRPr>
          </a:p>
        </p:txBody>
      </p:sp>
      <p:pic>
        <p:nvPicPr>
          <p:cNvPr id="7" name="Picture 6">
            <a:extLst>
              <a:ext uri="{FF2B5EF4-FFF2-40B4-BE49-F238E27FC236}">
                <a16:creationId xmlns:a16="http://schemas.microsoft.com/office/drawing/2014/main" id="{571DDB2F-4398-101C-0E41-4B4929D4B616}"/>
              </a:ext>
            </a:extLst>
          </p:cNvPr>
          <p:cNvPicPr>
            <a:picLocks noChangeAspect="1"/>
          </p:cNvPicPr>
          <p:nvPr/>
        </p:nvPicPr>
        <p:blipFill>
          <a:blip r:embed="rId2"/>
          <a:srcRect r="20646"/>
          <a:stretch>
            <a:fillRect/>
          </a:stretch>
        </p:blipFill>
        <p:spPr>
          <a:xfrm>
            <a:off x="6993918" y="0"/>
            <a:ext cx="5172838" cy="6858000"/>
          </a:xfrm>
          <a:prstGeom prst="rect">
            <a:avLst/>
          </a:prstGeom>
        </p:spPr>
      </p:pic>
    </p:spTree>
    <p:extLst>
      <p:ext uri="{BB962C8B-B14F-4D97-AF65-F5344CB8AC3E}">
        <p14:creationId xmlns:p14="http://schemas.microsoft.com/office/powerpoint/2010/main" val="3292595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66AB2-A8ED-ADA9-0D83-E07BD160FC58}"/>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58C47B11-06B3-F5D6-8F9C-01BA61B6AEF1}"/>
              </a:ext>
            </a:extLst>
          </p:cNvPr>
          <p:cNvPicPr>
            <a:picLocks noChangeAspect="1"/>
          </p:cNvPicPr>
          <p:nvPr/>
        </p:nvPicPr>
        <p:blipFill>
          <a:blip r:embed="rId2"/>
          <a:stretch>
            <a:fillRect/>
          </a:stretch>
        </p:blipFill>
        <p:spPr>
          <a:xfrm>
            <a:off x="0" y="-1"/>
            <a:ext cx="12192000" cy="621791"/>
          </a:xfrm>
          <a:prstGeom prst="rect">
            <a:avLst/>
          </a:prstGeom>
        </p:spPr>
      </p:pic>
      <p:sp>
        <p:nvSpPr>
          <p:cNvPr id="4" name="Text 0">
            <a:extLst>
              <a:ext uri="{FF2B5EF4-FFF2-40B4-BE49-F238E27FC236}">
                <a16:creationId xmlns:a16="http://schemas.microsoft.com/office/drawing/2014/main" id="{27E96605-07B1-5616-E84E-899A07F1BA6B}"/>
              </a:ext>
            </a:extLst>
          </p:cNvPr>
          <p:cNvSpPr/>
          <p:nvPr/>
        </p:nvSpPr>
        <p:spPr>
          <a:xfrm>
            <a:off x="548640" y="457200"/>
            <a:ext cx="4937760" cy="438910"/>
          </a:xfrm>
          <a:prstGeom prst="rect">
            <a:avLst/>
          </a:prstGeom>
          <a:noFill/>
          <a:ln/>
        </p:spPr>
        <p:txBody>
          <a:bodyPr wrap="square" lIns="0" tIns="0" rIns="0" bIns="0" rtlCol="0" anchor="ctr"/>
          <a:lstStyle/>
          <a:p>
            <a:pPr marL="0" indent="0">
              <a:buNone/>
            </a:pPr>
            <a:r>
              <a:rPr lang="en-US" sz="2800" b="1" kern="0" spc="70" dirty="0">
                <a:solidFill>
                  <a:srgbClr val="E32119"/>
                </a:solidFill>
                <a:latin typeface="Aptos" pitchFamily="34" charset="0"/>
                <a:ea typeface="Aptos" pitchFamily="34" charset="-122"/>
                <a:cs typeface="Aptos" pitchFamily="34" charset="-120"/>
              </a:rPr>
              <a:t>CONCLUSION</a:t>
            </a:r>
            <a:endParaRPr lang="en-US" sz="2800" dirty="0"/>
          </a:p>
        </p:txBody>
      </p:sp>
      <p:sp>
        <p:nvSpPr>
          <p:cNvPr id="7" name="Text 2">
            <a:extLst>
              <a:ext uri="{FF2B5EF4-FFF2-40B4-BE49-F238E27FC236}">
                <a16:creationId xmlns:a16="http://schemas.microsoft.com/office/drawing/2014/main" id="{44E68CC1-83B7-BE3A-51E5-C9914B454BF9}"/>
              </a:ext>
            </a:extLst>
          </p:cNvPr>
          <p:cNvSpPr/>
          <p:nvPr/>
        </p:nvSpPr>
        <p:spPr>
          <a:xfrm>
            <a:off x="548640" y="1307592"/>
            <a:ext cx="10607040" cy="347472"/>
          </a:xfrm>
          <a:prstGeom prst="rect">
            <a:avLst/>
          </a:prstGeom>
          <a:noFill/>
          <a:ln/>
        </p:spPr>
        <p:txBody>
          <a:bodyPr wrap="square" lIns="0" tIns="0" rIns="0" bIns="0" rtlCol="0" anchor="ctr"/>
          <a:lstStyle/>
          <a:p>
            <a:pPr marL="0" indent="0">
              <a:buNone/>
            </a:pPr>
            <a:r>
              <a:rPr lang="en-US" sz="1400" dirty="0">
                <a:latin typeface="Aptos" pitchFamily="34" charset="0"/>
                <a:ea typeface="Aptos" pitchFamily="34" charset="-122"/>
                <a:cs typeface="Aptos" pitchFamily="34" charset="-120"/>
              </a:rPr>
              <a:t>JSM shifts purchase behavior toward </a:t>
            </a:r>
            <a:r>
              <a:rPr lang="en-US" sz="1400" b="1" dirty="0">
                <a:latin typeface="Aptos" pitchFamily="34" charset="0"/>
                <a:ea typeface="Aptos" pitchFamily="34" charset="-122"/>
                <a:cs typeface="Aptos" pitchFamily="34" charset="-120"/>
              </a:rPr>
              <a:t>higher quantities</a:t>
            </a:r>
            <a:r>
              <a:rPr lang="en-US" sz="1400" dirty="0">
                <a:latin typeface="Aptos" pitchFamily="34" charset="0"/>
                <a:ea typeface="Aptos" pitchFamily="34" charset="-122"/>
                <a:cs typeface="Aptos" pitchFamily="34" charset="-120"/>
              </a:rPr>
              <a:t>, but the </a:t>
            </a:r>
            <a:r>
              <a:rPr lang="en-US" sz="1400" b="1" dirty="0">
                <a:latin typeface="Aptos" pitchFamily="34" charset="0"/>
                <a:ea typeface="Aptos" pitchFamily="34" charset="-122"/>
                <a:cs typeface="Aptos" pitchFamily="34" charset="-120"/>
              </a:rPr>
              <a:t>strongest action is to control promo eligibility</a:t>
            </a:r>
            <a:r>
              <a:rPr lang="en-US" sz="1400" dirty="0">
                <a:latin typeface="Aptos" pitchFamily="34" charset="0"/>
                <a:ea typeface="Aptos" pitchFamily="34" charset="-122"/>
                <a:cs typeface="Aptos" pitchFamily="34" charset="-120"/>
              </a:rPr>
              <a:t>, </a:t>
            </a:r>
            <a:r>
              <a:rPr lang="en-US" sz="1400" dirty="0">
                <a:solidFill>
                  <a:srgbClr val="C71719"/>
                </a:solidFill>
                <a:latin typeface="Aptos" pitchFamily="34" charset="0"/>
                <a:ea typeface="Aptos" pitchFamily="34" charset="-122"/>
                <a:cs typeface="Aptos" pitchFamily="34" charset="-120"/>
              </a:rPr>
              <a:t>not customer purchasing</a:t>
            </a:r>
            <a:r>
              <a:rPr lang="en-US" sz="1400" dirty="0">
                <a:latin typeface="Aptos" pitchFamily="34" charset="0"/>
                <a:ea typeface="Aptos" pitchFamily="34" charset="-122"/>
                <a:cs typeface="Aptos" pitchFamily="34" charset="-120"/>
              </a:rPr>
              <a:t>.</a:t>
            </a:r>
            <a:endParaRPr lang="en-US" sz="1400" dirty="0"/>
          </a:p>
        </p:txBody>
      </p:sp>
      <p:sp>
        <p:nvSpPr>
          <p:cNvPr id="8" name="Shape 3">
            <a:extLst>
              <a:ext uri="{FF2B5EF4-FFF2-40B4-BE49-F238E27FC236}">
                <a16:creationId xmlns:a16="http://schemas.microsoft.com/office/drawing/2014/main" id="{8D6365E3-1BB2-4AB7-5F79-D9889B1EA2CC}"/>
              </a:ext>
            </a:extLst>
          </p:cNvPr>
          <p:cNvSpPr/>
          <p:nvPr/>
        </p:nvSpPr>
        <p:spPr>
          <a:xfrm>
            <a:off x="594360" y="1828800"/>
            <a:ext cx="5440680" cy="1234440"/>
          </a:xfrm>
          <a:prstGeom prst="roundRect">
            <a:avLst/>
          </a:prstGeom>
          <a:solidFill>
            <a:srgbClr val="FFFFFF"/>
          </a:solidFill>
          <a:ln w="12700">
            <a:solidFill>
              <a:srgbClr val="D7DEE8"/>
            </a:solidFill>
            <a:prstDash val="solid"/>
          </a:ln>
        </p:spPr>
        <p:txBody>
          <a:bodyPr/>
          <a:lstStyle/>
          <a:p>
            <a:endParaRPr lang="en-US"/>
          </a:p>
        </p:txBody>
      </p:sp>
      <p:sp>
        <p:nvSpPr>
          <p:cNvPr id="9" name="Shape 4">
            <a:extLst>
              <a:ext uri="{FF2B5EF4-FFF2-40B4-BE49-F238E27FC236}">
                <a16:creationId xmlns:a16="http://schemas.microsoft.com/office/drawing/2014/main" id="{EE1A6AB6-1639-E316-8FE3-9CA1B05E6C57}"/>
              </a:ext>
            </a:extLst>
          </p:cNvPr>
          <p:cNvSpPr/>
          <p:nvPr/>
        </p:nvSpPr>
        <p:spPr>
          <a:xfrm>
            <a:off x="758952" y="2002536"/>
            <a:ext cx="384048" cy="384048"/>
          </a:xfrm>
          <a:prstGeom prst="ellipse">
            <a:avLst/>
          </a:prstGeom>
          <a:solidFill>
            <a:srgbClr val="ED1B24"/>
          </a:solidFill>
          <a:ln w="12700">
            <a:noFill/>
            <a:prstDash val="solid"/>
          </a:ln>
        </p:spPr>
        <p:txBody>
          <a:bodyPr/>
          <a:lstStyle/>
          <a:p>
            <a:endParaRPr lang="en-US"/>
          </a:p>
        </p:txBody>
      </p:sp>
      <p:sp>
        <p:nvSpPr>
          <p:cNvPr id="12" name="Text 5">
            <a:extLst>
              <a:ext uri="{FF2B5EF4-FFF2-40B4-BE49-F238E27FC236}">
                <a16:creationId xmlns:a16="http://schemas.microsoft.com/office/drawing/2014/main" id="{2A276EF4-C3D2-5C26-012D-CA3BE95A7DAE}"/>
              </a:ext>
            </a:extLst>
          </p:cNvPr>
          <p:cNvSpPr/>
          <p:nvPr/>
        </p:nvSpPr>
        <p:spPr>
          <a:xfrm>
            <a:off x="758952" y="2062480"/>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3" name="Text 6">
            <a:extLst>
              <a:ext uri="{FF2B5EF4-FFF2-40B4-BE49-F238E27FC236}">
                <a16:creationId xmlns:a16="http://schemas.microsoft.com/office/drawing/2014/main" id="{EEA485CC-8989-BB4C-4D5C-CD6C1CAB18FC}"/>
              </a:ext>
            </a:extLst>
          </p:cNvPr>
          <p:cNvSpPr/>
          <p:nvPr/>
        </p:nvSpPr>
        <p:spPr>
          <a:xfrm>
            <a:off x="1252728" y="1975104"/>
            <a:ext cx="4617720" cy="274320"/>
          </a:xfrm>
          <a:prstGeom prst="rect">
            <a:avLst/>
          </a:prstGeom>
          <a:noFill/>
          <a:ln/>
        </p:spPr>
        <p:txBody>
          <a:bodyPr wrap="square" lIns="0" tIns="0" rIns="0" bIns="0" rtlCol="0" anchor="ctr"/>
          <a:lstStyle/>
          <a:p>
            <a:pPr marL="0" indent="0">
              <a:buNone/>
            </a:pPr>
            <a:r>
              <a:rPr lang="en-US" sz="1250" b="1" dirty="0">
                <a:solidFill>
                  <a:srgbClr val="2B5CAA"/>
                </a:solidFill>
                <a:latin typeface="Aptos" pitchFamily="34" charset="0"/>
                <a:ea typeface="Aptos" pitchFamily="34" charset="-122"/>
                <a:cs typeface="Aptos" pitchFamily="34" charset="-120"/>
              </a:rPr>
              <a:t>JSM materially changes purchase behavior</a:t>
            </a:r>
            <a:endParaRPr lang="en-US" sz="1250" dirty="0">
              <a:solidFill>
                <a:srgbClr val="2B5CAA"/>
              </a:solidFill>
            </a:endParaRPr>
          </a:p>
        </p:txBody>
      </p:sp>
      <p:sp>
        <p:nvSpPr>
          <p:cNvPr id="17" name="Text 7">
            <a:extLst>
              <a:ext uri="{FF2B5EF4-FFF2-40B4-BE49-F238E27FC236}">
                <a16:creationId xmlns:a16="http://schemas.microsoft.com/office/drawing/2014/main" id="{CE84FEA8-5F2E-0D79-F48A-90E2D04C09CD}"/>
              </a:ext>
            </a:extLst>
          </p:cNvPr>
          <p:cNvSpPr/>
          <p:nvPr/>
        </p:nvSpPr>
        <p:spPr>
          <a:xfrm>
            <a:off x="1252728" y="2322576"/>
            <a:ext cx="4599432" cy="630936"/>
          </a:xfrm>
          <a:prstGeom prst="rect">
            <a:avLst/>
          </a:prstGeom>
          <a:noFill/>
          <a:ln/>
        </p:spPr>
        <p:txBody>
          <a:bodyPr wrap="square" lIns="0" tIns="0" rIns="0" bIns="0" rtlCol="0" anchor="t"/>
          <a:lstStyle/>
          <a:p>
            <a:pPr marL="0" indent="0">
              <a:buNone/>
            </a:pPr>
            <a:r>
              <a:rPr lang="en-US" sz="1100" dirty="0">
                <a:solidFill>
                  <a:srgbClr val="1F2937"/>
                </a:solidFill>
                <a:latin typeface="Aptos" pitchFamily="34" charset="0"/>
                <a:ea typeface="Aptos" pitchFamily="34" charset="-122"/>
                <a:cs typeface="Aptos" pitchFamily="34" charset="-120"/>
              </a:rPr>
              <a:t>High volume transactions are 25.06% on JSM Days versus 6.46% on Non JSM Days. Its about 3.88× higher.</a:t>
            </a:r>
            <a:endParaRPr lang="en-US" sz="1100" dirty="0"/>
          </a:p>
        </p:txBody>
      </p:sp>
      <p:sp>
        <p:nvSpPr>
          <p:cNvPr id="18" name="Shape 8">
            <a:extLst>
              <a:ext uri="{FF2B5EF4-FFF2-40B4-BE49-F238E27FC236}">
                <a16:creationId xmlns:a16="http://schemas.microsoft.com/office/drawing/2014/main" id="{B47E0143-64CF-0148-7FE4-2C6CEA423F97}"/>
              </a:ext>
            </a:extLst>
          </p:cNvPr>
          <p:cNvSpPr/>
          <p:nvPr/>
        </p:nvSpPr>
        <p:spPr>
          <a:xfrm>
            <a:off x="6172200" y="1828800"/>
            <a:ext cx="5440680" cy="1234440"/>
          </a:xfrm>
          <a:prstGeom prst="roundRect">
            <a:avLst/>
          </a:prstGeom>
          <a:solidFill>
            <a:srgbClr val="FFFFFF"/>
          </a:solidFill>
          <a:ln w="12700">
            <a:solidFill>
              <a:srgbClr val="D7DEE8"/>
            </a:solidFill>
            <a:prstDash val="solid"/>
          </a:ln>
        </p:spPr>
        <p:txBody>
          <a:bodyPr/>
          <a:lstStyle/>
          <a:p>
            <a:endParaRPr lang="en-US"/>
          </a:p>
        </p:txBody>
      </p:sp>
      <p:sp>
        <p:nvSpPr>
          <p:cNvPr id="19" name="Shape 9">
            <a:extLst>
              <a:ext uri="{FF2B5EF4-FFF2-40B4-BE49-F238E27FC236}">
                <a16:creationId xmlns:a16="http://schemas.microsoft.com/office/drawing/2014/main" id="{D1507106-CCDE-446D-5160-91A0C479E1EB}"/>
              </a:ext>
            </a:extLst>
          </p:cNvPr>
          <p:cNvSpPr/>
          <p:nvPr/>
        </p:nvSpPr>
        <p:spPr>
          <a:xfrm>
            <a:off x="6336792" y="2002536"/>
            <a:ext cx="384048" cy="384048"/>
          </a:xfrm>
          <a:prstGeom prst="ellipse">
            <a:avLst/>
          </a:prstGeom>
          <a:solidFill>
            <a:srgbClr val="E32119"/>
          </a:solidFill>
          <a:ln w="12700">
            <a:solidFill>
              <a:srgbClr val="E32119"/>
            </a:solidFill>
            <a:prstDash val="solid"/>
          </a:ln>
        </p:spPr>
        <p:txBody>
          <a:bodyPr/>
          <a:lstStyle/>
          <a:p>
            <a:endParaRPr lang="en-US"/>
          </a:p>
        </p:txBody>
      </p:sp>
      <p:sp>
        <p:nvSpPr>
          <p:cNvPr id="20" name="Text 10">
            <a:extLst>
              <a:ext uri="{FF2B5EF4-FFF2-40B4-BE49-F238E27FC236}">
                <a16:creationId xmlns:a16="http://schemas.microsoft.com/office/drawing/2014/main" id="{C9672D7F-142A-3929-130A-85C7AD8B0B6B}"/>
              </a:ext>
            </a:extLst>
          </p:cNvPr>
          <p:cNvSpPr/>
          <p:nvPr/>
        </p:nvSpPr>
        <p:spPr>
          <a:xfrm>
            <a:off x="6336792" y="2062480"/>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21" name="Text 11">
            <a:extLst>
              <a:ext uri="{FF2B5EF4-FFF2-40B4-BE49-F238E27FC236}">
                <a16:creationId xmlns:a16="http://schemas.microsoft.com/office/drawing/2014/main" id="{15B6E7A9-EF3F-967C-A59F-497FD9A50CCA}"/>
              </a:ext>
            </a:extLst>
          </p:cNvPr>
          <p:cNvSpPr/>
          <p:nvPr/>
        </p:nvSpPr>
        <p:spPr>
          <a:xfrm>
            <a:off x="6830568" y="1975104"/>
            <a:ext cx="4617720" cy="274320"/>
          </a:xfrm>
          <a:prstGeom prst="rect">
            <a:avLst/>
          </a:prstGeom>
          <a:noFill/>
          <a:ln/>
        </p:spPr>
        <p:txBody>
          <a:bodyPr wrap="square" lIns="0" tIns="0" rIns="0" bIns="0" rtlCol="0" anchor="ctr"/>
          <a:lstStyle/>
          <a:p>
            <a:pPr marL="0" indent="0">
              <a:buNone/>
            </a:pPr>
            <a:r>
              <a:rPr lang="en-US" sz="1250" b="1" dirty="0">
                <a:solidFill>
                  <a:srgbClr val="2B5CAA"/>
                </a:solidFill>
                <a:latin typeface="Aptos" pitchFamily="34" charset="0"/>
                <a:ea typeface="Aptos" pitchFamily="34" charset="-122"/>
                <a:cs typeface="Aptos" pitchFamily="34" charset="-120"/>
              </a:rPr>
              <a:t>Discount exposure is highly concentrated</a:t>
            </a:r>
            <a:endParaRPr lang="en-US" sz="1250" dirty="0">
              <a:solidFill>
                <a:srgbClr val="2B5CAA"/>
              </a:solidFill>
            </a:endParaRPr>
          </a:p>
        </p:txBody>
      </p:sp>
      <p:sp>
        <p:nvSpPr>
          <p:cNvPr id="22" name="Text 12">
            <a:extLst>
              <a:ext uri="{FF2B5EF4-FFF2-40B4-BE49-F238E27FC236}">
                <a16:creationId xmlns:a16="http://schemas.microsoft.com/office/drawing/2014/main" id="{8B8A3AE9-A8E6-2F2D-C3B4-4EB6EB17457F}"/>
              </a:ext>
            </a:extLst>
          </p:cNvPr>
          <p:cNvSpPr/>
          <p:nvPr/>
        </p:nvSpPr>
        <p:spPr>
          <a:xfrm>
            <a:off x="6830568" y="2322576"/>
            <a:ext cx="4599432" cy="630936"/>
          </a:xfrm>
          <a:prstGeom prst="rect">
            <a:avLst/>
          </a:prstGeom>
          <a:noFill/>
          <a:ln/>
        </p:spPr>
        <p:txBody>
          <a:bodyPr wrap="square" lIns="0" tIns="0" rIns="0" bIns="0" rtlCol="0" anchor="t"/>
          <a:lstStyle/>
          <a:p>
            <a:pPr marL="0" indent="0">
              <a:buNone/>
            </a:pPr>
            <a:r>
              <a:rPr lang="en-US" sz="1100" dirty="0">
                <a:solidFill>
                  <a:srgbClr val="1F2937"/>
                </a:solidFill>
                <a:latin typeface="Aptos" pitchFamily="34" charset="0"/>
                <a:ea typeface="Aptos" pitchFamily="34" charset="-122"/>
                <a:cs typeface="Aptos" pitchFamily="34" charset="-120"/>
              </a:rPr>
              <a:t>High volume transactions represent only 25.06% of JSM transactions but account for 74.14% of JSM promotional discount exposure.</a:t>
            </a:r>
            <a:endParaRPr lang="en-US" sz="1100" dirty="0"/>
          </a:p>
        </p:txBody>
      </p:sp>
      <p:sp>
        <p:nvSpPr>
          <p:cNvPr id="23" name="Shape 13">
            <a:extLst>
              <a:ext uri="{FF2B5EF4-FFF2-40B4-BE49-F238E27FC236}">
                <a16:creationId xmlns:a16="http://schemas.microsoft.com/office/drawing/2014/main" id="{06328F7D-7603-097A-ABDB-FCD9FDCBEF0F}"/>
              </a:ext>
            </a:extLst>
          </p:cNvPr>
          <p:cNvSpPr/>
          <p:nvPr/>
        </p:nvSpPr>
        <p:spPr>
          <a:xfrm>
            <a:off x="594360" y="3246120"/>
            <a:ext cx="5440680" cy="1234440"/>
          </a:xfrm>
          <a:prstGeom prst="roundRect">
            <a:avLst/>
          </a:prstGeom>
          <a:solidFill>
            <a:srgbClr val="FFFFFF"/>
          </a:solidFill>
          <a:ln w="12700">
            <a:solidFill>
              <a:srgbClr val="D7DEE8"/>
            </a:solidFill>
            <a:prstDash val="solid"/>
          </a:ln>
        </p:spPr>
        <p:txBody>
          <a:bodyPr/>
          <a:lstStyle/>
          <a:p>
            <a:endParaRPr lang="en-US"/>
          </a:p>
        </p:txBody>
      </p:sp>
      <p:sp>
        <p:nvSpPr>
          <p:cNvPr id="24" name="Shape 14">
            <a:extLst>
              <a:ext uri="{FF2B5EF4-FFF2-40B4-BE49-F238E27FC236}">
                <a16:creationId xmlns:a16="http://schemas.microsoft.com/office/drawing/2014/main" id="{5298DC44-4F79-C5A0-9A8F-E3D5D3CEF552}"/>
              </a:ext>
            </a:extLst>
          </p:cNvPr>
          <p:cNvSpPr/>
          <p:nvPr/>
        </p:nvSpPr>
        <p:spPr>
          <a:xfrm>
            <a:off x="758952" y="3419856"/>
            <a:ext cx="384048" cy="384048"/>
          </a:xfrm>
          <a:prstGeom prst="ellipse">
            <a:avLst/>
          </a:prstGeom>
          <a:solidFill>
            <a:srgbClr val="ED1B24"/>
          </a:solidFill>
          <a:ln w="12700">
            <a:noFill/>
            <a:prstDash val="solid"/>
          </a:ln>
        </p:spPr>
        <p:txBody>
          <a:bodyPr/>
          <a:lstStyle/>
          <a:p>
            <a:endParaRPr lang="en-US"/>
          </a:p>
        </p:txBody>
      </p:sp>
      <p:sp>
        <p:nvSpPr>
          <p:cNvPr id="25" name="Text 15">
            <a:extLst>
              <a:ext uri="{FF2B5EF4-FFF2-40B4-BE49-F238E27FC236}">
                <a16:creationId xmlns:a16="http://schemas.microsoft.com/office/drawing/2014/main" id="{48DE730E-0D57-46DD-F77E-216144257B70}"/>
              </a:ext>
            </a:extLst>
          </p:cNvPr>
          <p:cNvSpPr/>
          <p:nvPr/>
        </p:nvSpPr>
        <p:spPr>
          <a:xfrm>
            <a:off x="758952" y="3479800"/>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6" name="Text 16">
            <a:extLst>
              <a:ext uri="{FF2B5EF4-FFF2-40B4-BE49-F238E27FC236}">
                <a16:creationId xmlns:a16="http://schemas.microsoft.com/office/drawing/2014/main" id="{91B2E8F0-42D2-E51E-FBC3-A42AAC26D764}"/>
              </a:ext>
            </a:extLst>
          </p:cNvPr>
          <p:cNvSpPr/>
          <p:nvPr/>
        </p:nvSpPr>
        <p:spPr>
          <a:xfrm>
            <a:off x="1252728" y="3392424"/>
            <a:ext cx="4617720" cy="274320"/>
          </a:xfrm>
          <a:prstGeom prst="rect">
            <a:avLst/>
          </a:prstGeom>
          <a:noFill/>
          <a:ln/>
        </p:spPr>
        <p:txBody>
          <a:bodyPr wrap="square" lIns="0" tIns="0" rIns="0" bIns="0" rtlCol="0" anchor="ctr"/>
          <a:lstStyle/>
          <a:p>
            <a:pPr marL="0" indent="0">
              <a:buNone/>
            </a:pPr>
            <a:r>
              <a:rPr lang="en-US" sz="1250" b="1" dirty="0">
                <a:solidFill>
                  <a:srgbClr val="2B5CAA"/>
                </a:solidFill>
                <a:latin typeface="Aptos" pitchFamily="34" charset="0"/>
                <a:ea typeface="Aptos" pitchFamily="34" charset="-122"/>
                <a:cs typeface="Aptos" pitchFamily="34" charset="-120"/>
              </a:rPr>
              <a:t>High volume ≠ proven reseller behavior</a:t>
            </a:r>
            <a:endParaRPr lang="en-US" sz="1250" dirty="0">
              <a:solidFill>
                <a:srgbClr val="2B5CAA"/>
              </a:solidFill>
            </a:endParaRPr>
          </a:p>
        </p:txBody>
      </p:sp>
      <p:sp>
        <p:nvSpPr>
          <p:cNvPr id="27" name="Text 17">
            <a:extLst>
              <a:ext uri="{FF2B5EF4-FFF2-40B4-BE49-F238E27FC236}">
                <a16:creationId xmlns:a16="http://schemas.microsoft.com/office/drawing/2014/main" id="{5A9ED898-A28F-C7B2-1DB0-ED951294CB33}"/>
              </a:ext>
            </a:extLst>
          </p:cNvPr>
          <p:cNvSpPr/>
          <p:nvPr/>
        </p:nvSpPr>
        <p:spPr>
          <a:xfrm>
            <a:off x="1252728" y="3739896"/>
            <a:ext cx="4599432" cy="630936"/>
          </a:xfrm>
          <a:prstGeom prst="rect">
            <a:avLst/>
          </a:prstGeom>
          <a:noFill/>
          <a:ln/>
        </p:spPr>
        <p:txBody>
          <a:bodyPr wrap="square" lIns="0" tIns="0" rIns="0" bIns="0" rtlCol="0" anchor="t"/>
          <a:lstStyle/>
          <a:p>
            <a:pPr marL="0" indent="0">
              <a:buNone/>
            </a:pPr>
            <a:r>
              <a:rPr lang="en-US" sz="1100" dirty="0">
                <a:solidFill>
                  <a:srgbClr val="1F2937"/>
                </a:solidFill>
                <a:latin typeface="Aptos" pitchFamily="34" charset="0"/>
                <a:ea typeface="Aptos" pitchFamily="34" charset="-122"/>
                <a:cs typeface="Aptos" pitchFamily="34" charset="-120"/>
              </a:rPr>
              <a:t>Most repeat behavior is sporadic The data does not justify labeling high volume customers as resellers or fraud.</a:t>
            </a:r>
            <a:endParaRPr lang="en-US" sz="1100" dirty="0"/>
          </a:p>
        </p:txBody>
      </p:sp>
      <p:sp>
        <p:nvSpPr>
          <p:cNvPr id="28" name="Shape 18">
            <a:extLst>
              <a:ext uri="{FF2B5EF4-FFF2-40B4-BE49-F238E27FC236}">
                <a16:creationId xmlns:a16="http://schemas.microsoft.com/office/drawing/2014/main" id="{B6C1CD8E-CF3F-9111-7FA8-8906C884F390}"/>
              </a:ext>
            </a:extLst>
          </p:cNvPr>
          <p:cNvSpPr/>
          <p:nvPr/>
        </p:nvSpPr>
        <p:spPr>
          <a:xfrm>
            <a:off x="6172200" y="3246120"/>
            <a:ext cx="5440680" cy="1234440"/>
          </a:xfrm>
          <a:prstGeom prst="roundRect">
            <a:avLst/>
          </a:prstGeom>
          <a:solidFill>
            <a:srgbClr val="FFFFFF"/>
          </a:solidFill>
          <a:ln w="12700">
            <a:solidFill>
              <a:srgbClr val="D7DEE8"/>
            </a:solidFill>
            <a:prstDash val="solid"/>
          </a:ln>
        </p:spPr>
        <p:txBody>
          <a:bodyPr/>
          <a:lstStyle/>
          <a:p>
            <a:endParaRPr lang="en-US"/>
          </a:p>
        </p:txBody>
      </p:sp>
      <p:sp>
        <p:nvSpPr>
          <p:cNvPr id="52" name="Shape 19">
            <a:extLst>
              <a:ext uri="{FF2B5EF4-FFF2-40B4-BE49-F238E27FC236}">
                <a16:creationId xmlns:a16="http://schemas.microsoft.com/office/drawing/2014/main" id="{4FE6323B-DEF6-9D07-FA1E-21E0513F525A}"/>
              </a:ext>
            </a:extLst>
          </p:cNvPr>
          <p:cNvSpPr/>
          <p:nvPr/>
        </p:nvSpPr>
        <p:spPr>
          <a:xfrm>
            <a:off x="6336792" y="3419856"/>
            <a:ext cx="384048" cy="384048"/>
          </a:xfrm>
          <a:prstGeom prst="ellipse">
            <a:avLst/>
          </a:prstGeom>
          <a:solidFill>
            <a:srgbClr val="ED1B24"/>
          </a:solidFill>
          <a:ln w="12700">
            <a:noFill/>
            <a:prstDash val="solid"/>
          </a:ln>
        </p:spPr>
        <p:txBody>
          <a:bodyPr/>
          <a:lstStyle/>
          <a:p>
            <a:endParaRPr lang="en-US"/>
          </a:p>
        </p:txBody>
      </p:sp>
      <p:sp>
        <p:nvSpPr>
          <p:cNvPr id="53" name="Text 20">
            <a:extLst>
              <a:ext uri="{FF2B5EF4-FFF2-40B4-BE49-F238E27FC236}">
                <a16:creationId xmlns:a16="http://schemas.microsoft.com/office/drawing/2014/main" id="{96CC1D80-8B5F-BFF2-1052-11684A1C435D}"/>
              </a:ext>
            </a:extLst>
          </p:cNvPr>
          <p:cNvSpPr/>
          <p:nvPr/>
        </p:nvSpPr>
        <p:spPr>
          <a:xfrm>
            <a:off x="6336792" y="3479800"/>
            <a:ext cx="384048" cy="25603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54" name="Text 21">
            <a:extLst>
              <a:ext uri="{FF2B5EF4-FFF2-40B4-BE49-F238E27FC236}">
                <a16:creationId xmlns:a16="http://schemas.microsoft.com/office/drawing/2014/main" id="{D1285E7E-5C62-F5CF-3F6A-56865DA8531D}"/>
              </a:ext>
            </a:extLst>
          </p:cNvPr>
          <p:cNvSpPr/>
          <p:nvPr/>
        </p:nvSpPr>
        <p:spPr>
          <a:xfrm>
            <a:off x="6830568" y="3392424"/>
            <a:ext cx="4617720" cy="274320"/>
          </a:xfrm>
          <a:prstGeom prst="rect">
            <a:avLst/>
          </a:prstGeom>
          <a:noFill/>
          <a:ln/>
        </p:spPr>
        <p:txBody>
          <a:bodyPr wrap="square" lIns="0" tIns="0" rIns="0" bIns="0" rtlCol="0" anchor="ctr"/>
          <a:lstStyle/>
          <a:p>
            <a:pPr marL="0" indent="0">
              <a:buNone/>
            </a:pPr>
            <a:r>
              <a:rPr lang="en-US" sz="1250" b="1" dirty="0">
                <a:solidFill>
                  <a:srgbClr val="2B5CAA"/>
                </a:solidFill>
                <a:latin typeface="Aptos" pitchFamily="34" charset="0"/>
                <a:ea typeface="Aptos" pitchFamily="34" charset="-122"/>
                <a:cs typeface="Aptos" pitchFamily="34" charset="-120"/>
              </a:rPr>
              <a:t>One size fits-all limits are too crude</a:t>
            </a:r>
            <a:endParaRPr lang="en-US" sz="1250" dirty="0">
              <a:solidFill>
                <a:srgbClr val="2B5CAA"/>
              </a:solidFill>
            </a:endParaRPr>
          </a:p>
        </p:txBody>
      </p:sp>
      <p:sp>
        <p:nvSpPr>
          <p:cNvPr id="55" name="Text 22">
            <a:extLst>
              <a:ext uri="{FF2B5EF4-FFF2-40B4-BE49-F238E27FC236}">
                <a16:creationId xmlns:a16="http://schemas.microsoft.com/office/drawing/2014/main" id="{9A78E34A-DAB1-BA84-8E98-12204CDDD195}"/>
              </a:ext>
            </a:extLst>
          </p:cNvPr>
          <p:cNvSpPr/>
          <p:nvPr/>
        </p:nvSpPr>
        <p:spPr>
          <a:xfrm>
            <a:off x="6830568" y="3739896"/>
            <a:ext cx="4599432" cy="630936"/>
          </a:xfrm>
          <a:prstGeom prst="rect">
            <a:avLst/>
          </a:prstGeom>
          <a:noFill/>
          <a:ln/>
        </p:spPr>
        <p:txBody>
          <a:bodyPr wrap="square" lIns="0" tIns="0" rIns="0" bIns="0" rtlCol="0" anchor="t"/>
          <a:lstStyle/>
          <a:p>
            <a:pPr marL="0" indent="0">
              <a:buNone/>
            </a:pPr>
            <a:r>
              <a:rPr lang="en-US" sz="1100" dirty="0">
                <a:solidFill>
                  <a:srgbClr val="1F2937"/>
                </a:solidFill>
                <a:latin typeface="Aptos" pitchFamily="34" charset="0"/>
                <a:ea typeface="Aptos" pitchFamily="34" charset="-122"/>
                <a:cs typeface="Aptos" pitchFamily="34" charset="-120"/>
              </a:rPr>
              <a:t>Normal purchase quantities differ by SKU, making an SKU specific baseline more defensible than a single universal cap.</a:t>
            </a:r>
            <a:endParaRPr lang="en-US" sz="1100" dirty="0"/>
          </a:p>
        </p:txBody>
      </p:sp>
      <p:sp>
        <p:nvSpPr>
          <p:cNvPr id="56" name="Shape 23">
            <a:extLst>
              <a:ext uri="{FF2B5EF4-FFF2-40B4-BE49-F238E27FC236}">
                <a16:creationId xmlns:a16="http://schemas.microsoft.com/office/drawing/2014/main" id="{59E5D94D-61FA-BA4F-1EC1-81F11D9A4034}"/>
              </a:ext>
            </a:extLst>
          </p:cNvPr>
          <p:cNvSpPr/>
          <p:nvPr/>
        </p:nvSpPr>
        <p:spPr>
          <a:xfrm>
            <a:off x="594360" y="4754880"/>
            <a:ext cx="11018520" cy="1143000"/>
          </a:xfrm>
          <a:prstGeom prst="roundRect">
            <a:avLst/>
          </a:prstGeom>
          <a:solidFill>
            <a:srgbClr val="2B5CAA"/>
          </a:solidFill>
          <a:ln w="12700">
            <a:solidFill>
              <a:srgbClr val="0B2E59"/>
            </a:solidFill>
            <a:prstDash val="solid"/>
          </a:ln>
        </p:spPr>
        <p:txBody>
          <a:bodyPr/>
          <a:lstStyle/>
          <a:p>
            <a:endParaRPr lang="en-US"/>
          </a:p>
        </p:txBody>
      </p:sp>
      <p:sp>
        <p:nvSpPr>
          <p:cNvPr id="57" name="Text 24">
            <a:extLst>
              <a:ext uri="{FF2B5EF4-FFF2-40B4-BE49-F238E27FC236}">
                <a16:creationId xmlns:a16="http://schemas.microsoft.com/office/drawing/2014/main" id="{C9B3ACCB-67D5-35F5-6441-6B51B87DD6ED}"/>
              </a:ext>
            </a:extLst>
          </p:cNvPr>
          <p:cNvSpPr/>
          <p:nvPr/>
        </p:nvSpPr>
        <p:spPr>
          <a:xfrm>
            <a:off x="841248" y="4956048"/>
            <a:ext cx="1325880" cy="201168"/>
          </a:xfrm>
          <a:prstGeom prst="rect">
            <a:avLst/>
          </a:prstGeom>
          <a:noFill/>
          <a:ln/>
        </p:spPr>
        <p:txBody>
          <a:bodyPr wrap="square" lIns="0" tIns="0" rIns="0" bIns="0" rtlCol="0" anchor="ctr"/>
          <a:lstStyle/>
          <a:p>
            <a:pPr marL="0" indent="0">
              <a:buNone/>
            </a:pPr>
            <a:r>
              <a:rPr lang="en-US" sz="1600" b="1" kern="0" spc="60" dirty="0">
                <a:solidFill>
                  <a:srgbClr val="FFD400"/>
                </a:solidFill>
              </a:rPr>
              <a:t>BOTTOM LINE</a:t>
            </a:r>
            <a:endParaRPr lang="en-US" sz="1600" dirty="0"/>
          </a:p>
        </p:txBody>
      </p:sp>
      <p:sp>
        <p:nvSpPr>
          <p:cNvPr id="58" name="Text 25">
            <a:extLst>
              <a:ext uri="{FF2B5EF4-FFF2-40B4-BE49-F238E27FC236}">
                <a16:creationId xmlns:a16="http://schemas.microsoft.com/office/drawing/2014/main" id="{35D0F19B-53EB-E2E7-72B2-08D7FB3400EC}"/>
              </a:ext>
            </a:extLst>
          </p:cNvPr>
          <p:cNvSpPr/>
          <p:nvPr/>
        </p:nvSpPr>
        <p:spPr>
          <a:xfrm>
            <a:off x="841248" y="5212080"/>
            <a:ext cx="4800600" cy="365760"/>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Target the promotion, </a:t>
            </a:r>
            <a:r>
              <a:rPr lang="en-US" sz="2000" b="1" dirty="0">
                <a:solidFill>
                  <a:srgbClr val="FF0000"/>
                </a:solidFill>
                <a:latin typeface="Aptos Display" pitchFamily="34" charset="0"/>
                <a:ea typeface="Aptos Display" pitchFamily="34" charset="-122"/>
                <a:cs typeface="Aptos Display" pitchFamily="34" charset="-120"/>
              </a:rPr>
              <a:t>not the customer</a:t>
            </a:r>
            <a:endParaRPr lang="en-US" sz="2000" dirty="0"/>
          </a:p>
        </p:txBody>
      </p:sp>
      <p:sp>
        <p:nvSpPr>
          <p:cNvPr id="59" name="Text 26">
            <a:extLst>
              <a:ext uri="{FF2B5EF4-FFF2-40B4-BE49-F238E27FC236}">
                <a16:creationId xmlns:a16="http://schemas.microsoft.com/office/drawing/2014/main" id="{69C507C8-265A-F097-67DA-BE8CBED466F4}"/>
              </a:ext>
            </a:extLst>
          </p:cNvPr>
          <p:cNvSpPr/>
          <p:nvPr/>
        </p:nvSpPr>
        <p:spPr>
          <a:xfrm>
            <a:off x="5623560" y="5001768"/>
            <a:ext cx="5596128" cy="621792"/>
          </a:xfrm>
          <a:prstGeom prst="rect">
            <a:avLst/>
          </a:prstGeom>
          <a:noFill/>
          <a:ln/>
        </p:spPr>
        <p:txBody>
          <a:bodyPr wrap="square" lIns="0" tIns="0" rIns="0" bIns="0" rtlCol="0" anchor="ctr"/>
          <a:lstStyle/>
          <a:p>
            <a:pPr marL="0" indent="0">
              <a:buNone/>
            </a:pPr>
            <a:r>
              <a:rPr lang="en-US" sz="1200" dirty="0">
                <a:solidFill>
                  <a:srgbClr val="E8EEF6"/>
                </a:solidFill>
              </a:rPr>
              <a:t>The evidence supports </a:t>
            </a:r>
            <a:r>
              <a:rPr lang="en-US" sz="1200" b="1" dirty="0">
                <a:solidFill>
                  <a:srgbClr val="E8EEF6"/>
                </a:solidFill>
              </a:rPr>
              <a:t>a targeted promo </a:t>
            </a:r>
            <a:r>
              <a:rPr lang="en-US" sz="1200" dirty="0">
                <a:solidFill>
                  <a:srgbClr val="E8EEF6"/>
                </a:solidFill>
              </a:rPr>
              <a:t>eligibility rule that </a:t>
            </a:r>
            <a:r>
              <a:rPr lang="en-US" sz="1200" b="1" dirty="0">
                <a:solidFill>
                  <a:srgbClr val="E8EEF6"/>
                </a:solidFill>
              </a:rPr>
              <a:t>preserves the customer’s ability to buy additional uni</a:t>
            </a:r>
            <a:r>
              <a:rPr lang="en-US" sz="1200" dirty="0">
                <a:solidFill>
                  <a:srgbClr val="E8EEF6"/>
                </a:solidFill>
              </a:rPr>
              <a:t>ts at regular price.</a:t>
            </a:r>
            <a:endParaRPr lang="en-US" sz="1200" dirty="0"/>
          </a:p>
        </p:txBody>
      </p:sp>
    </p:spTree>
    <p:extLst>
      <p:ext uri="{BB962C8B-B14F-4D97-AF65-F5344CB8AC3E}">
        <p14:creationId xmlns:p14="http://schemas.microsoft.com/office/powerpoint/2010/main" val="1587168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1145E-583B-BABB-3E81-872A37BB92E5}"/>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DFA0782A-2613-6132-531F-89ACB8241077}"/>
              </a:ext>
            </a:extLst>
          </p:cNvPr>
          <p:cNvPicPr>
            <a:picLocks noChangeAspect="1"/>
          </p:cNvPicPr>
          <p:nvPr/>
        </p:nvPicPr>
        <p:blipFill>
          <a:blip r:embed="rId2"/>
          <a:stretch>
            <a:fillRect/>
          </a:stretch>
        </p:blipFill>
        <p:spPr>
          <a:xfrm>
            <a:off x="0" y="-1"/>
            <a:ext cx="12192000" cy="621791"/>
          </a:xfrm>
          <a:prstGeom prst="rect">
            <a:avLst/>
          </a:prstGeom>
        </p:spPr>
      </p:pic>
      <p:sp>
        <p:nvSpPr>
          <p:cNvPr id="2" name="Text 0">
            <a:extLst>
              <a:ext uri="{FF2B5EF4-FFF2-40B4-BE49-F238E27FC236}">
                <a16:creationId xmlns:a16="http://schemas.microsoft.com/office/drawing/2014/main" id="{52309291-FC5B-B876-C5CB-463D4BF3F865}"/>
              </a:ext>
            </a:extLst>
          </p:cNvPr>
          <p:cNvSpPr/>
          <p:nvPr/>
        </p:nvSpPr>
        <p:spPr>
          <a:xfrm>
            <a:off x="548639" y="457200"/>
            <a:ext cx="4672717" cy="256030"/>
          </a:xfrm>
          <a:prstGeom prst="rect">
            <a:avLst/>
          </a:prstGeom>
          <a:noFill/>
          <a:ln/>
        </p:spPr>
        <p:txBody>
          <a:bodyPr wrap="square" lIns="0" tIns="0" rIns="0" bIns="0" rtlCol="0" anchor="ctr"/>
          <a:lstStyle/>
          <a:p>
            <a:pPr marL="0" indent="0">
              <a:buNone/>
            </a:pPr>
            <a:r>
              <a:rPr lang="en-US" sz="2800" b="1" kern="0" spc="70" dirty="0">
                <a:solidFill>
                  <a:srgbClr val="E32119"/>
                </a:solidFill>
                <a:latin typeface="Aptos" pitchFamily="34" charset="0"/>
                <a:ea typeface="Aptos" pitchFamily="34" charset="-122"/>
                <a:cs typeface="Aptos" pitchFamily="34" charset="-120"/>
              </a:rPr>
              <a:t>RECOMMENDATION</a:t>
            </a:r>
            <a:endParaRPr lang="en-US" sz="2800" dirty="0"/>
          </a:p>
        </p:txBody>
      </p:sp>
      <p:sp>
        <p:nvSpPr>
          <p:cNvPr id="3" name="Text 1">
            <a:extLst>
              <a:ext uri="{FF2B5EF4-FFF2-40B4-BE49-F238E27FC236}">
                <a16:creationId xmlns:a16="http://schemas.microsoft.com/office/drawing/2014/main" id="{5CACA0D8-1B2B-04E3-ECDE-722F378C0361}"/>
              </a:ext>
            </a:extLst>
          </p:cNvPr>
          <p:cNvSpPr/>
          <p:nvPr/>
        </p:nvSpPr>
        <p:spPr>
          <a:xfrm>
            <a:off x="548640" y="768096"/>
            <a:ext cx="10424160" cy="502920"/>
          </a:xfrm>
          <a:prstGeom prst="rect">
            <a:avLst/>
          </a:prstGeom>
          <a:noFill/>
          <a:ln/>
        </p:spPr>
        <p:txBody>
          <a:bodyPr wrap="square" lIns="0" tIns="0" rIns="0" bIns="0" rtlCol="0" anchor="ctr"/>
          <a:lstStyle/>
          <a:p>
            <a:pPr marL="0" indent="0">
              <a:buNone/>
            </a:pPr>
            <a:r>
              <a:rPr lang="en-US" sz="2000" b="1" dirty="0">
                <a:latin typeface="Aptos Display" pitchFamily="34" charset="0"/>
                <a:ea typeface="Aptos Display" pitchFamily="34" charset="-122"/>
                <a:cs typeface="Aptos Display" pitchFamily="34" charset="-120"/>
              </a:rPr>
              <a:t>SKU-Specific P95 Promo Eligibility Cap</a:t>
            </a:r>
            <a:endParaRPr lang="en-US" sz="2000" dirty="0"/>
          </a:p>
        </p:txBody>
      </p:sp>
      <p:sp>
        <p:nvSpPr>
          <p:cNvPr id="5" name="Text 2">
            <a:extLst>
              <a:ext uri="{FF2B5EF4-FFF2-40B4-BE49-F238E27FC236}">
                <a16:creationId xmlns:a16="http://schemas.microsoft.com/office/drawing/2014/main" id="{B2B5C919-9488-E4E0-0CA6-8BB72AC4FFC8}"/>
              </a:ext>
            </a:extLst>
          </p:cNvPr>
          <p:cNvSpPr/>
          <p:nvPr/>
        </p:nvSpPr>
        <p:spPr>
          <a:xfrm>
            <a:off x="548640" y="1417322"/>
            <a:ext cx="10607040" cy="347472"/>
          </a:xfrm>
          <a:prstGeom prst="rect">
            <a:avLst/>
          </a:prstGeom>
          <a:noFill/>
          <a:ln/>
        </p:spPr>
        <p:txBody>
          <a:bodyPr wrap="square" lIns="0" tIns="0" rIns="0" bIns="0" rtlCol="0" anchor="ctr"/>
          <a:lstStyle/>
          <a:p>
            <a:pPr marL="0" indent="0">
              <a:buNone/>
            </a:pPr>
            <a:r>
              <a:rPr lang="en-US" sz="1400" dirty="0">
                <a:latin typeface="Aptos" pitchFamily="34" charset="0"/>
                <a:ea typeface="Aptos" pitchFamily="34" charset="-122"/>
                <a:cs typeface="Aptos" pitchFamily="34" charset="-120"/>
              </a:rPr>
              <a:t>Use each SKU’s Non JSM purchase pattern as the baseline, then limit JSM promo eligibility, not total purchase quantity.</a:t>
            </a:r>
            <a:endParaRPr lang="en-US" sz="1400" dirty="0"/>
          </a:p>
        </p:txBody>
      </p:sp>
      <p:sp>
        <p:nvSpPr>
          <p:cNvPr id="6" name="Shape 3">
            <a:extLst>
              <a:ext uri="{FF2B5EF4-FFF2-40B4-BE49-F238E27FC236}">
                <a16:creationId xmlns:a16="http://schemas.microsoft.com/office/drawing/2014/main" id="{0852FCC6-1B09-FE9A-84F1-6FEDC3B4355F}"/>
              </a:ext>
            </a:extLst>
          </p:cNvPr>
          <p:cNvSpPr/>
          <p:nvPr/>
        </p:nvSpPr>
        <p:spPr>
          <a:xfrm>
            <a:off x="594360" y="1764792"/>
            <a:ext cx="11018520" cy="713232"/>
          </a:xfrm>
          <a:prstGeom prst="roundRect">
            <a:avLst/>
          </a:prstGeom>
          <a:solidFill>
            <a:srgbClr val="FFD919"/>
          </a:solidFill>
          <a:ln w="15240">
            <a:solidFill>
              <a:srgbClr val="E7C73E"/>
            </a:solidFill>
            <a:prstDash val="solid"/>
          </a:ln>
        </p:spPr>
        <p:txBody>
          <a:bodyPr/>
          <a:lstStyle/>
          <a:p>
            <a:endParaRPr lang="en-US"/>
          </a:p>
        </p:txBody>
      </p:sp>
      <p:sp>
        <p:nvSpPr>
          <p:cNvPr id="10" name="Text 4">
            <a:extLst>
              <a:ext uri="{FF2B5EF4-FFF2-40B4-BE49-F238E27FC236}">
                <a16:creationId xmlns:a16="http://schemas.microsoft.com/office/drawing/2014/main" id="{8FF50188-0FE1-FC4F-42BB-2E156DD81C55}"/>
              </a:ext>
            </a:extLst>
          </p:cNvPr>
          <p:cNvSpPr/>
          <p:nvPr/>
        </p:nvSpPr>
        <p:spPr>
          <a:xfrm>
            <a:off x="795528" y="2048258"/>
            <a:ext cx="1508760" cy="228600"/>
          </a:xfrm>
          <a:prstGeom prst="rect">
            <a:avLst/>
          </a:prstGeom>
          <a:noFill/>
          <a:ln/>
        </p:spPr>
        <p:txBody>
          <a:bodyPr wrap="square" lIns="0" tIns="0" rIns="0" bIns="0" rtlCol="0" anchor="ctr"/>
          <a:lstStyle/>
          <a:p>
            <a:pPr marL="0" indent="0">
              <a:buNone/>
            </a:pPr>
            <a:r>
              <a:rPr lang="en-US" sz="1600" b="1" kern="0" spc="50" dirty="0">
                <a:solidFill>
                  <a:srgbClr val="2B5CAA"/>
                </a:solidFill>
              </a:rPr>
              <a:t>RECOMMENDED</a:t>
            </a:r>
            <a:endParaRPr lang="en-US" sz="1000" dirty="0">
              <a:solidFill>
                <a:srgbClr val="2B5CAA"/>
              </a:solidFill>
            </a:endParaRPr>
          </a:p>
        </p:txBody>
      </p:sp>
      <p:sp>
        <p:nvSpPr>
          <p:cNvPr id="11" name="Text 5">
            <a:extLst>
              <a:ext uri="{FF2B5EF4-FFF2-40B4-BE49-F238E27FC236}">
                <a16:creationId xmlns:a16="http://schemas.microsoft.com/office/drawing/2014/main" id="{B4BA59CF-4D04-4254-FAC8-14EBFF2A68CC}"/>
              </a:ext>
            </a:extLst>
          </p:cNvPr>
          <p:cNvSpPr/>
          <p:nvPr/>
        </p:nvSpPr>
        <p:spPr>
          <a:xfrm>
            <a:off x="2563633" y="1984250"/>
            <a:ext cx="9098280" cy="365760"/>
          </a:xfrm>
          <a:prstGeom prst="rect">
            <a:avLst/>
          </a:prstGeom>
          <a:noFill/>
          <a:ln/>
        </p:spPr>
        <p:txBody>
          <a:bodyPr wrap="square" lIns="0" tIns="0" rIns="0" bIns="0" rtlCol="0" anchor="ctr"/>
          <a:lstStyle/>
          <a:p>
            <a:pPr marL="0" indent="0">
              <a:buNone/>
            </a:pPr>
            <a:r>
              <a:rPr lang="en-US" sz="1500" b="1" dirty="0">
                <a:latin typeface="Aptos" pitchFamily="34" charset="0"/>
                <a:ea typeface="Aptos" pitchFamily="34" charset="-122"/>
                <a:cs typeface="Aptos" pitchFamily="34" charset="-120"/>
              </a:rPr>
              <a:t>P95 per SKU → promo applies up to the cap. Excess units remain purchasable at regular price.</a:t>
            </a:r>
            <a:endParaRPr lang="en-US" sz="1500" dirty="0"/>
          </a:p>
        </p:txBody>
      </p:sp>
      <p:sp>
        <p:nvSpPr>
          <p:cNvPr id="14" name="Text 6">
            <a:extLst>
              <a:ext uri="{FF2B5EF4-FFF2-40B4-BE49-F238E27FC236}">
                <a16:creationId xmlns:a16="http://schemas.microsoft.com/office/drawing/2014/main" id="{C5363E0A-90FB-3BDD-044D-41B7B2EBCB57}"/>
              </a:ext>
            </a:extLst>
          </p:cNvPr>
          <p:cNvSpPr/>
          <p:nvPr/>
        </p:nvSpPr>
        <p:spPr>
          <a:xfrm>
            <a:off x="640080" y="2871218"/>
            <a:ext cx="1828800" cy="228600"/>
          </a:xfrm>
          <a:prstGeom prst="rect">
            <a:avLst/>
          </a:prstGeom>
          <a:noFill/>
          <a:ln/>
        </p:spPr>
        <p:txBody>
          <a:bodyPr wrap="square" lIns="0" tIns="0" rIns="0" bIns="0" rtlCol="0" anchor="ctr"/>
          <a:lstStyle/>
          <a:p>
            <a:pPr marL="0" indent="0">
              <a:buNone/>
            </a:pPr>
            <a:r>
              <a:rPr lang="en-US" sz="1200" b="1" kern="0" spc="50" dirty="0"/>
              <a:t>Policy Logic</a:t>
            </a:r>
            <a:endParaRPr lang="en-US" sz="1200" dirty="0"/>
          </a:p>
        </p:txBody>
      </p:sp>
      <p:sp>
        <p:nvSpPr>
          <p:cNvPr id="16" name="Shape 7">
            <a:extLst>
              <a:ext uri="{FF2B5EF4-FFF2-40B4-BE49-F238E27FC236}">
                <a16:creationId xmlns:a16="http://schemas.microsoft.com/office/drawing/2014/main" id="{3256D38D-4F7A-6FE2-8D62-BE4458DA166A}"/>
              </a:ext>
            </a:extLst>
          </p:cNvPr>
          <p:cNvSpPr/>
          <p:nvPr/>
        </p:nvSpPr>
        <p:spPr>
          <a:xfrm>
            <a:off x="640080" y="3172970"/>
            <a:ext cx="2331720" cy="960120"/>
          </a:xfrm>
          <a:prstGeom prst="roundRect">
            <a:avLst/>
          </a:prstGeom>
          <a:solidFill>
            <a:srgbClr val="EAF5EE"/>
          </a:solidFill>
          <a:ln w="12700">
            <a:solidFill>
              <a:srgbClr val="92D050"/>
            </a:solidFill>
            <a:prstDash val="solid"/>
          </a:ln>
        </p:spPr>
        <p:txBody>
          <a:bodyPr/>
          <a:lstStyle/>
          <a:p>
            <a:endParaRPr lang="en-US"/>
          </a:p>
        </p:txBody>
      </p:sp>
      <p:sp>
        <p:nvSpPr>
          <p:cNvPr id="29" name="Text 8">
            <a:extLst>
              <a:ext uri="{FF2B5EF4-FFF2-40B4-BE49-F238E27FC236}">
                <a16:creationId xmlns:a16="http://schemas.microsoft.com/office/drawing/2014/main" id="{B1A2B31D-3D7A-C2D8-3BF7-C35E5CCA36C2}"/>
              </a:ext>
            </a:extLst>
          </p:cNvPr>
          <p:cNvSpPr/>
          <p:nvPr/>
        </p:nvSpPr>
        <p:spPr>
          <a:xfrm>
            <a:off x="804672" y="3355850"/>
            <a:ext cx="1965960" cy="237744"/>
          </a:xfrm>
          <a:prstGeom prst="rect">
            <a:avLst/>
          </a:prstGeom>
          <a:noFill/>
          <a:ln/>
        </p:spPr>
        <p:txBody>
          <a:bodyPr wrap="square" lIns="0" tIns="0" rIns="0" bIns="0" rtlCol="0" anchor="ctr"/>
          <a:lstStyle/>
          <a:p>
            <a:pPr marL="0" indent="0" algn="ctr">
              <a:buNone/>
            </a:pPr>
            <a:r>
              <a:rPr lang="en-US" sz="1500" b="1" dirty="0"/>
              <a:t>qty ≤ P95 cap</a:t>
            </a:r>
            <a:endParaRPr lang="en-US" sz="1500" dirty="0"/>
          </a:p>
        </p:txBody>
      </p:sp>
      <p:sp>
        <p:nvSpPr>
          <p:cNvPr id="30" name="Text 9">
            <a:extLst>
              <a:ext uri="{FF2B5EF4-FFF2-40B4-BE49-F238E27FC236}">
                <a16:creationId xmlns:a16="http://schemas.microsoft.com/office/drawing/2014/main" id="{C2C5CA1E-8828-E991-BACE-967D7466E69A}"/>
              </a:ext>
            </a:extLst>
          </p:cNvPr>
          <p:cNvSpPr/>
          <p:nvPr/>
        </p:nvSpPr>
        <p:spPr>
          <a:xfrm>
            <a:off x="804672" y="3657602"/>
            <a:ext cx="1965960" cy="219456"/>
          </a:xfrm>
          <a:prstGeom prst="rect">
            <a:avLst/>
          </a:prstGeom>
          <a:noFill/>
          <a:ln/>
        </p:spPr>
        <p:txBody>
          <a:bodyPr wrap="square" lIns="0" tIns="0" rIns="0" bIns="0" rtlCol="0" anchor="ctr"/>
          <a:lstStyle/>
          <a:p>
            <a:pPr marL="0" indent="0" algn="ctr">
              <a:buNone/>
            </a:pPr>
            <a:r>
              <a:rPr lang="en-US" sz="1100" dirty="0">
                <a:solidFill>
                  <a:srgbClr val="1F2937"/>
                </a:solidFill>
              </a:rPr>
              <a:t>JSM promo price applies</a:t>
            </a:r>
            <a:endParaRPr lang="en-US" sz="1100" dirty="0"/>
          </a:p>
        </p:txBody>
      </p:sp>
      <p:sp>
        <p:nvSpPr>
          <p:cNvPr id="31" name="Text 10">
            <a:extLst>
              <a:ext uri="{FF2B5EF4-FFF2-40B4-BE49-F238E27FC236}">
                <a16:creationId xmlns:a16="http://schemas.microsoft.com/office/drawing/2014/main" id="{DDCA75E8-A8B4-705E-90C0-F3A279BE1984}"/>
              </a:ext>
            </a:extLst>
          </p:cNvPr>
          <p:cNvSpPr/>
          <p:nvPr/>
        </p:nvSpPr>
        <p:spPr>
          <a:xfrm>
            <a:off x="3044952" y="3456434"/>
            <a:ext cx="411480" cy="292608"/>
          </a:xfrm>
          <a:prstGeom prst="rect">
            <a:avLst/>
          </a:prstGeom>
          <a:noFill/>
          <a:ln/>
        </p:spPr>
        <p:txBody>
          <a:bodyPr wrap="square" lIns="0" tIns="0" rIns="0" bIns="0" rtlCol="0" anchor="ctr"/>
          <a:lstStyle/>
          <a:p>
            <a:pPr marL="0" indent="0" algn="ctr">
              <a:buNone/>
            </a:pPr>
            <a:r>
              <a:rPr lang="en-US" sz="2300" b="1" dirty="0">
                <a:solidFill>
                  <a:srgbClr val="667085"/>
                </a:solidFill>
              </a:rPr>
              <a:t>→</a:t>
            </a:r>
            <a:endParaRPr lang="en-US" sz="2300" dirty="0"/>
          </a:p>
        </p:txBody>
      </p:sp>
      <p:sp>
        <p:nvSpPr>
          <p:cNvPr id="32" name="Shape 11">
            <a:extLst>
              <a:ext uri="{FF2B5EF4-FFF2-40B4-BE49-F238E27FC236}">
                <a16:creationId xmlns:a16="http://schemas.microsoft.com/office/drawing/2014/main" id="{8F5E9092-59EF-1DAC-FC60-43A98BBAFEDA}"/>
              </a:ext>
            </a:extLst>
          </p:cNvPr>
          <p:cNvSpPr/>
          <p:nvPr/>
        </p:nvSpPr>
        <p:spPr>
          <a:xfrm>
            <a:off x="3520440" y="3172970"/>
            <a:ext cx="2606040" cy="960120"/>
          </a:xfrm>
          <a:prstGeom prst="roundRect">
            <a:avLst/>
          </a:prstGeom>
          <a:solidFill>
            <a:schemeClr val="accent2">
              <a:lumMod val="20000"/>
              <a:lumOff val="80000"/>
            </a:schemeClr>
          </a:solidFill>
          <a:ln w="12700">
            <a:solidFill>
              <a:srgbClr val="ED1B24"/>
            </a:solidFill>
            <a:prstDash val="solid"/>
          </a:ln>
        </p:spPr>
        <p:txBody>
          <a:bodyPr/>
          <a:lstStyle/>
          <a:p>
            <a:endParaRPr lang="en-US"/>
          </a:p>
        </p:txBody>
      </p:sp>
      <p:sp>
        <p:nvSpPr>
          <p:cNvPr id="33" name="Text 12">
            <a:extLst>
              <a:ext uri="{FF2B5EF4-FFF2-40B4-BE49-F238E27FC236}">
                <a16:creationId xmlns:a16="http://schemas.microsoft.com/office/drawing/2014/main" id="{A0FC060B-3AB4-D31F-D0E6-B4112D68E691}"/>
              </a:ext>
            </a:extLst>
          </p:cNvPr>
          <p:cNvSpPr/>
          <p:nvPr/>
        </p:nvSpPr>
        <p:spPr>
          <a:xfrm>
            <a:off x="3703320" y="3355850"/>
            <a:ext cx="2240280" cy="237744"/>
          </a:xfrm>
          <a:prstGeom prst="rect">
            <a:avLst/>
          </a:prstGeom>
          <a:noFill/>
          <a:ln/>
        </p:spPr>
        <p:txBody>
          <a:bodyPr wrap="square" lIns="0" tIns="0" rIns="0" bIns="0" rtlCol="0" anchor="ctr"/>
          <a:lstStyle/>
          <a:p>
            <a:pPr marL="0" indent="0" algn="ctr">
              <a:buNone/>
            </a:pPr>
            <a:r>
              <a:rPr lang="en-US" sz="1500" b="1" dirty="0"/>
              <a:t>qty &gt; P95 cap</a:t>
            </a:r>
            <a:endParaRPr lang="en-US" sz="1500" dirty="0"/>
          </a:p>
        </p:txBody>
      </p:sp>
      <p:sp>
        <p:nvSpPr>
          <p:cNvPr id="34" name="Text 13">
            <a:extLst>
              <a:ext uri="{FF2B5EF4-FFF2-40B4-BE49-F238E27FC236}">
                <a16:creationId xmlns:a16="http://schemas.microsoft.com/office/drawing/2014/main" id="{DDC4D9E9-DA38-6612-9125-B3750F4DCAC9}"/>
              </a:ext>
            </a:extLst>
          </p:cNvPr>
          <p:cNvSpPr/>
          <p:nvPr/>
        </p:nvSpPr>
        <p:spPr>
          <a:xfrm>
            <a:off x="3703320" y="3657602"/>
            <a:ext cx="2240280" cy="219456"/>
          </a:xfrm>
          <a:prstGeom prst="rect">
            <a:avLst/>
          </a:prstGeom>
          <a:noFill/>
          <a:ln/>
        </p:spPr>
        <p:txBody>
          <a:bodyPr wrap="square" lIns="0" tIns="0" rIns="0" bIns="0" rtlCol="0" anchor="ctr"/>
          <a:lstStyle/>
          <a:p>
            <a:pPr marL="0" indent="0" algn="ctr">
              <a:buNone/>
            </a:pPr>
            <a:r>
              <a:rPr lang="en-US" sz="1100" dirty="0">
                <a:solidFill>
                  <a:srgbClr val="1F2937"/>
                </a:solidFill>
              </a:rPr>
              <a:t>Excess units → regular price</a:t>
            </a:r>
            <a:endParaRPr lang="en-US" sz="1100" dirty="0"/>
          </a:p>
        </p:txBody>
      </p:sp>
      <p:sp>
        <p:nvSpPr>
          <p:cNvPr id="35" name="Text 14">
            <a:extLst>
              <a:ext uri="{FF2B5EF4-FFF2-40B4-BE49-F238E27FC236}">
                <a16:creationId xmlns:a16="http://schemas.microsoft.com/office/drawing/2014/main" id="{B46C668E-2068-7355-091C-E6B8297CE45F}"/>
              </a:ext>
            </a:extLst>
          </p:cNvPr>
          <p:cNvSpPr/>
          <p:nvPr/>
        </p:nvSpPr>
        <p:spPr>
          <a:xfrm>
            <a:off x="6446520" y="2871218"/>
            <a:ext cx="2560320" cy="228600"/>
          </a:xfrm>
          <a:prstGeom prst="rect">
            <a:avLst/>
          </a:prstGeom>
          <a:noFill/>
          <a:ln/>
        </p:spPr>
        <p:txBody>
          <a:bodyPr wrap="square" lIns="0" tIns="0" rIns="0" bIns="0" rtlCol="0" anchor="ctr"/>
          <a:lstStyle/>
          <a:p>
            <a:pPr marL="0" indent="0">
              <a:buNone/>
            </a:pPr>
            <a:r>
              <a:rPr lang="en-US" sz="1050" b="1" kern="0" spc="50" dirty="0"/>
              <a:t>Expected Policy Impact</a:t>
            </a:r>
            <a:endParaRPr lang="en-US" sz="1050" dirty="0"/>
          </a:p>
        </p:txBody>
      </p:sp>
      <p:sp>
        <p:nvSpPr>
          <p:cNvPr id="36" name="Shape 15">
            <a:extLst>
              <a:ext uri="{FF2B5EF4-FFF2-40B4-BE49-F238E27FC236}">
                <a16:creationId xmlns:a16="http://schemas.microsoft.com/office/drawing/2014/main" id="{6BA3AC9D-2F97-9B5E-397B-271FDD8C9DD3}"/>
              </a:ext>
            </a:extLst>
          </p:cNvPr>
          <p:cNvSpPr/>
          <p:nvPr/>
        </p:nvSpPr>
        <p:spPr>
          <a:xfrm>
            <a:off x="6446520" y="3172970"/>
            <a:ext cx="1600200" cy="960120"/>
          </a:xfrm>
          <a:prstGeom prst="roundRect">
            <a:avLst>
              <a:gd name="adj" fmla="val 7619"/>
            </a:avLst>
          </a:prstGeom>
          <a:solidFill>
            <a:srgbClr val="EAF6EE"/>
          </a:solidFill>
          <a:ln w="12700">
            <a:solidFill>
              <a:srgbClr val="92D050"/>
            </a:solidFill>
            <a:prstDash val="solid"/>
          </a:ln>
        </p:spPr>
        <p:txBody>
          <a:bodyPr/>
          <a:lstStyle/>
          <a:p>
            <a:endParaRPr lang="en-US"/>
          </a:p>
        </p:txBody>
      </p:sp>
      <p:sp>
        <p:nvSpPr>
          <p:cNvPr id="37" name="Text 16">
            <a:extLst>
              <a:ext uri="{FF2B5EF4-FFF2-40B4-BE49-F238E27FC236}">
                <a16:creationId xmlns:a16="http://schemas.microsoft.com/office/drawing/2014/main" id="{893010C1-D8BB-D7DB-DA55-19986611B674}"/>
              </a:ext>
            </a:extLst>
          </p:cNvPr>
          <p:cNvSpPr/>
          <p:nvPr/>
        </p:nvSpPr>
        <p:spPr>
          <a:xfrm>
            <a:off x="6574536" y="3291842"/>
            <a:ext cx="1344168" cy="320040"/>
          </a:xfrm>
          <a:prstGeom prst="rect">
            <a:avLst/>
          </a:prstGeom>
          <a:noFill/>
          <a:ln/>
        </p:spPr>
        <p:txBody>
          <a:bodyPr wrap="square" lIns="0" tIns="0" rIns="0" bIns="0" rtlCol="0" anchor="ctr"/>
          <a:lstStyle/>
          <a:p>
            <a:pPr marL="0" indent="0" algn="l">
              <a:buNone/>
            </a:pPr>
            <a:r>
              <a:rPr lang="en-US" sz="2200" b="1" dirty="0">
                <a:latin typeface="Aptos Display" pitchFamily="34" charset="0"/>
                <a:ea typeface="Aptos Display" pitchFamily="34" charset="-122"/>
                <a:cs typeface="Aptos Display" pitchFamily="34" charset="-120"/>
              </a:rPr>
              <a:t>19.36%</a:t>
            </a:r>
            <a:endParaRPr lang="en-US" sz="2200" dirty="0"/>
          </a:p>
        </p:txBody>
      </p:sp>
      <p:sp>
        <p:nvSpPr>
          <p:cNvPr id="38" name="Text 17">
            <a:extLst>
              <a:ext uri="{FF2B5EF4-FFF2-40B4-BE49-F238E27FC236}">
                <a16:creationId xmlns:a16="http://schemas.microsoft.com/office/drawing/2014/main" id="{95567FBB-5DBF-F0BB-6F50-341455C18603}"/>
              </a:ext>
            </a:extLst>
          </p:cNvPr>
          <p:cNvSpPr/>
          <p:nvPr/>
        </p:nvSpPr>
        <p:spPr>
          <a:xfrm>
            <a:off x="6574536" y="3685034"/>
            <a:ext cx="1344168" cy="338328"/>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Transactions affected</a:t>
            </a:r>
            <a:endParaRPr lang="en-US" sz="1050" dirty="0"/>
          </a:p>
        </p:txBody>
      </p:sp>
      <p:sp>
        <p:nvSpPr>
          <p:cNvPr id="39" name="Shape 18">
            <a:extLst>
              <a:ext uri="{FF2B5EF4-FFF2-40B4-BE49-F238E27FC236}">
                <a16:creationId xmlns:a16="http://schemas.microsoft.com/office/drawing/2014/main" id="{0376D9DE-8C61-EBFB-8EE6-693811DF34EE}"/>
              </a:ext>
            </a:extLst>
          </p:cNvPr>
          <p:cNvSpPr/>
          <p:nvPr/>
        </p:nvSpPr>
        <p:spPr>
          <a:xfrm>
            <a:off x="8183880" y="3172970"/>
            <a:ext cx="1600200" cy="960120"/>
          </a:xfrm>
          <a:prstGeom prst="roundRect">
            <a:avLst>
              <a:gd name="adj" fmla="val 7619"/>
            </a:avLst>
          </a:prstGeom>
          <a:solidFill>
            <a:srgbClr val="EAF6EE"/>
          </a:solidFill>
          <a:ln w="12700">
            <a:solidFill>
              <a:srgbClr val="92D050"/>
            </a:solidFill>
            <a:prstDash val="solid"/>
          </a:ln>
        </p:spPr>
        <p:txBody>
          <a:bodyPr/>
          <a:lstStyle/>
          <a:p>
            <a:endParaRPr lang="en-US"/>
          </a:p>
        </p:txBody>
      </p:sp>
      <p:sp>
        <p:nvSpPr>
          <p:cNvPr id="40" name="Text 19">
            <a:extLst>
              <a:ext uri="{FF2B5EF4-FFF2-40B4-BE49-F238E27FC236}">
                <a16:creationId xmlns:a16="http://schemas.microsoft.com/office/drawing/2014/main" id="{34919A09-84B9-7F46-BF10-EC38C230FFE0}"/>
              </a:ext>
            </a:extLst>
          </p:cNvPr>
          <p:cNvSpPr/>
          <p:nvPr/>
        </p:nvSpPr>
        <p:spPr>
          <a:xfrm>
            <a:off x="8311896" y="3291842"/>
            <a:ext cx="1344168" cy="320040"/>
          </a:xfrm>
          <a:prstGeom prst="rect">
            <a:avLst/>
          </a:prstGeom>
          <a:noFill/>
          <a:ln/>
        </p:spPr>
        <p:txBody>
          <a:bodyPr wrap="square" lIns="0" tIns="0" rIns="0" bIns="0" rtlCol="0" anchor="ctr"/>
          <a:lstStyle/>
          <a:p>
            <a:pPr marL="0" indent="0" algn="l">
              <a:buNone/>
            </a:pPr>
            <a:r>
              <a:rPr lang="en-US" sz="2200" b="1" dirty="0">
                <a:latin typeface="Aptos Display" pitchFamily="34" charset="0"/>
                <a:ea typeface="Aptos Display" pitchFamily="34" charset="-122"/>
                <a:cs typeface="Aptos Display" pitchFamily="34" charset="-120"/>
              </a:rPr>
              <a:t>Rp1.45B</a:t>
            </a:r>
            <a:endParaRPr lang="en-US" sz="2200" dirty="0"/>
          </a:p>
        </p:txBody>
      </p:sp>
      <p:sp>
        <p:nvSpPr>
          <p:cNvPr id="41" name="Text 20">
            <a:extLst>
              <a:ext uri="{FF2B5EF4-FFF2-40B4-BE49-F238E27FC236}">
                <a16:creationId xmlns:a16="http://schemas.microsoft.com/office/drawing/2014/main" id="{A103D26D-39BC-DB51-FFC4-5CC5122369B4}"/>
              </a:ext>
            </a:extLst>
          </p:cNvPr>
          <p:cNvSpPr/>
          <p:nvPr/>
        </p:nvSpPr>
        <p:spPr>
          <a:xfrm>
            <a:off x="8311896" y="3685034"/>
            <a:ext cx="1344168" cy="338328"/>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Potential discount exposure reduction</a:t>
            </a:r>
            <a:endParaRPr lang="en-US" sz="1050" dirty="0"/>
          </a:p>
        </p:txBody>
      </p:sp>
      <p:sp>
        <p:nvSpPr>
          <p:cNvPr id="42" name="Shape 21">
            <a:extLst>
              <a:ext uri="{FF2B5EF4-FFF2-40B4-BE49-F238E27FC236}">
                <a16:creationId xmlns:a16="http://schemas.microsoft.com/office/drawing/2014/main" id="{6D0E9309-EC41-EA06-85EB-7AFF5496DE55}"/>
              </a:ext>
            </a:extLst>
          </p:cNvPr>
          <p:cNvSpPr/>
          <p:nvPr/>
        </p:nvSpPr>
        <p:spPr>
          <a:xfrm>
            <a:off x="9921240" y="3172970"/>
            <a:ext cx="1600200" cy="960120"/>
          </a:xfrm>
          <a:prstGeom prst="roundRect">
            <a:avLst>
              <a:gd name="adj" fmla="val 7619"/>
            </a:avLst>
          </a:prstGeom>
          <a:solidFill>
            <a:srgbClr val="EAF6EE"/>
          </a:solidFill>
          <a:ln w="12700">
            <a:solidFill>
              <a:srgbClr val="92D050"/>
            </a:solidFill>
            <a:prstDash val="solid"/>
          </a:ln>
        </p:spPr>
        <p:txBody>
          <a:bodyPr/>
          <a:lstStyle/>
          <a:p>
            <a:endParaRPr lang="en-US"/>
          </a:p>
        </p:txBody>
      </p:sp>
      <p:sp>
        <p:nvSpPr>
          <p:cNvPr id="43" name="Text 22">
            <a:extLst>
              <a:ext uri="{FF2B5EF4-FFF2-40B4-BE49-F238E27FC236}">
                <a16:creationId xmlns:a16="http://schemas.microsoft.com/office/drawing/2014/main" id="{764C3122-87F7-205D-FCA6-FAED87F3F0B0}"/>
              </a:ext>
            </a:extLst>
          </p:cNvPr>
          <p:cNvSpPr/>
          <p:nvPr/>
        </p:nvSpPr>
        <p:spPr>
          <a:xfrm>
            <a:off x="10049256" y="3291842"/>
            <a:ext cx="1344168" cy="320040"/>
          </a:xfrm>
          <a:prstGeom prst="rect">
            <a:avLst/>
          </a:prstGeom>
          <a:noFill/>
          <a:ln/>
        </p:spPr>
        <p:txBody>
          <a:bodyPr wrap="square" lIns="0" tIns="0" rIns="0" bIns="0" rtlCol="0" anchor="ctr"/>
          <a:lstStyle/>
          <a:p>
            <a:pPr marL="0" indent="0" algn="l">
              <a:buNone/>
            </a:pPr>
            <a:r>
              <a:rPr lang="en-US" sz="2200" b="1" dirty="0">
                <a:latin typeface="Aptos Display" pitchFamily="34" charset="0"/>
                <a:ea typeface="Aptos Display" pitchFamily="34" charset="-122"/>
                <a:cs typeface="Aptos Display" pitchFamily="34" charset="-120"/>
              </a:rPr>
              <a:t>18.20%</a:t>
            </a:r>
            <a:endParaRPr lang="en-US" sz="2200" dirty="0"/>
          </a:p>
        </p:txBody>
      </p:sp>
      <p:sp>
        <p:nvSpPr>
          <p:cNvPr id="44" name="Text 23">
            <a:extLst>
              <a:ext uri="{FF2B5EF4-FFF2-40B4-BE49-F238E27FC236}">
                <a16:creationId xmlns:a16="http://schemas.microsoft.com/office/drawing/2014/main" id="{BE14D81D-5AB8-8AB8-A48E-74DD61D54516}"/>
              </a:ext>
            </a:extLst>
          </p:cNvPr>
          <p:cNvSpPr/>
          <p:nvPr/>
        </p:nvSpPr>
        <p:spPr>
          <a:xfrm>
            <a:off x="10049256" y="3685034"/>
            <a:ext cx="1344168" cy="338328"/>
          </a:xfrm>
          <a:prstGeom prst="rect">
            <a:avLst/>
          </a:prstGeom>
          <a:noFill/>
          <a:ln/>
        </p:spPr>
        <p:txBody>
          <a:bodyPr wrap="square" lIns="0" tIns="0" rIns="0" bIns="0" rtlCol="0" anchor="t"/>
          <a:lstStyle/>
          <a:p>
            <a:pPr marL="0" indent="0">
              <a:buNone/>
            </a:pPr>
            <a:r>
              <a:rPr lang="en-US" sz="1050" dirty="0">
                <a:solidFill>
                  <a:srgbClr val="1F2937"/>
                </a:solidFill>
                <a:latin typeface="Aptos" pitchFamily="34" charset="0"/>
                <a:ea typeface="Aptos" pitchFamily="34" charset="-122"/>
                <a:cs typeface="Aptos" pitchFamily="34" charset="-120"/>
              </a:rPr>
              <a:t>Share of total JSM discount exposure</a:t>
            </a:r>
            <a:endParaRPr lang="en-US" sz="1050" dirty="0"/>
          </a:p>
        </p:txBody>
      </p:sp>
      <p:sp>
        <p:nvSpPr>
          <p:cNvPr id="45" name="Text 24">
            <a:extLst>
              <a:ext uri="{FF2B5EF4-FFF2-40B4-BE49-F238E27FC236}">
                <a16:creationId xmlns:a16="http://schemas.microsoft.com/office/drawing/2014/main" id="{DE64E7BA-095E-93B1-6236-E655EB3A1F83}"/>
              </a:ext>
            </a:extLst>
          </p:cNvPr>
          <p:cNvSpPr/>
          <p:nvPr/>
        </p:nvSpPr>
        <p:spPr>
          <a:xfrm>
            <a:off x="640080" y="4498850"/>
            <a:ext cx="2148840" cy="228600"/>
          </a:xfrm>
          <a:prstGeom prst="rect">
            <a:avLst/>
          </a:prstGeom>
          <a:noFill/>
          <a:ln/>
        </p:spPr>
        <p:txBody>
          <a:bodyPr wrap="square" lIns="0" tIns="0" rIns="0" bIns="0" rtlCol="0" anchor="ctr"/>
          <a:lstStyle/>
          <a:p>
            <a:pPr marL="0" indent="0">
              <a:buNone/>
            </a:pPr>
            <a:r>
              <a:rPr lang="en-US" sz="1200" b="1" kern="0" spc="50" dirty="0"/>
              <a:t>Implementation Priority</a:t>
            </a:r>
            <a:endParaRPr lang="en-US" sz="1200" dirty="0"/>
          </a:p>
        </p:txBody>
      </p:sp>
      <p:sp>
        <p:nvSpPr>
          <p:cNvPr id="46" name="Shape 25">
            <a:extLst>
              <a:ext uri="{FF2B5EF4-FFF2-40B4-BE49-F238E27FC236}">
                <a16:creationId xmlns:a16="http://schemas.microsoft.com/office/drawing/2014/main" id="{3036F706-C049-0E51-E689-CA4D961830E3}"/>
              </a:ext>
            </a:extLst>
          </p:cNvPr>
          <p:cNvSpPr/>
          <p:nvPr/>
        </p:nvSpPr>
        <p:spPr>
          <a:xfrm>
            <a:off x="640080" y="4791458"/>
            <a:ext cx="2624328" cy="1124712"/>
          </a:xfrm>
          <a:prstGeom prst="roundRect">
            <a:avLst/>
          </a:prstGeom>
          <a:solidFill>
            <a:srgbClr val="FFFFFF"/>
          </a:solidFill>
          <a:ln w="12700">
            <a:solidFill>
              <a:srgbClr val="D7DEE8"/>
            </a:solidFill>
            <a:prstDash val="solid"/>
          </a:ln>
        </p:spPr>
        <p:txBody>
          <a:bodyPr/>
          <a:lstStyle/>
          <a:p>
            <a:endParaRPr lang="en-US"/>
          </a:p>
        </p:txBody>
      </p:sp>
      <p:sp>
        <p:nvSpPr>
          <p:cNvPr id="47" name="Shape 26">
            <a:extLst>
              <a:ext uri="{FF2B5EF4-FFF2-40B4-BE49-F238E27FC236}">
                <a16:creationId xmlns:a16="http://schemas.microsoft.com/office/drawing/2014/main" id="{3661389C-B771-1DC8-0E81-721ACC3EED5E}"/>
              </a:ext>
            </a:extLst>
          </p:cNvPr>
          <p:cNvSpPr/>
          <p:nvPr/>
        </p:nvSpPr>
        <p:spPr>
          <a:xfrm>
            <a:off x="786384" y="4956050"/>
            <a:ext cx="347472" cy="347472"/>
          </a:xfrm>
          <a:prstGeom prst="ellipse">
            <a:avLst/>
          </a:prstGeom>
          <a:solidFill>
            <a:srgbClr val="2B5CAA"/>
          </a:solidFill>
          <a:ln w="12700">
            <a:noFill/>
            <a:prstDash val="solid"/>
          </a:ln>
        </p:spPr>
        <p:txBody>
          <a:bodyPr/>
          <a:lstStyle/>
          <a:p>
            <a:endParaRPr lang="en-US"/>
          </a:p>
        </p:txBody>
      </p:sp>
      <p:sp>
        <p:nvSpPr>
          <p:cNvPr id="48" name="Text 27">
            <a:extLst>
              <a:ext uri="{FF2B5EF4-FFF2-40B4-BE49-F238E27FC236}">
                <a16:creationId xmlns:a16="http://schemas.microsoft.com/office/drawing/2014/main" id="{D7F83DBA-C0DA-B59A-13B6-3B4B06B517EE}"/>
              </a:ext>
            </a:extLst>
          </p:cNvPr>
          <p:cNvSpPr/>
          <p:nvPr/>
        </p:nvSpPr>
        <p:spPr>
          <a:xfrm>
            <a:off x="786384" y="5019623"/>
            <a:ext cx="347472" cy="228600"/>
          </a:xfrm>
          <a:prstGeom prst="rect">
            <a:avLst/>
          </a:prstGeom>
          <a:noFill/>
          <a:ln/>
        </p:spPr>
        <p:txBody>
          <a:bodyPr wrap="square" lIns="0" tIns="0" rIns="0" bIns="0" rtlCol="0" anchor="ctr"/>
          <a:lstStyle/>
          <a:p>
            <a:pPr marL="0" indent="0" algn="ctr">
              <a:buNone/>
            </a:pPr>
            <a:r>
              <a:rPr lang="en-US" sz="1100" b="1" dirty="0">
                <a:solidFill>
                  <a:schemeClr val="bg1"/>
                </a:solidFill>
              </a:rPr>
              <a:t>1</a:t>
            </a:r>
            <a:endParaRPr lang="en-US" sz="1100" dirty="0">
              <a:solidFill>
                <a:schemeClr val="bg1"/>
              </a:solidFill>
            </a:endParaRPr>
          </a:p>
        </p:txBody>
      </p:sp>
      <p:sp>
        <p:nvSpPr>
          <p:cNvPr id="49" name="Text 28">
            <a:extLst>
              <a:ext uri="{FF2B5EF4-FFF2-40B4-BE49-F238E27FC236}">
                <a16:creationId xmlns:a16="http://schemas.microsoft.com/office/drawing/2014/main" id="{40C3A512-4050-218A-ED0C-D4AB50A09032}"/>
              </a:ext>
            </a:extLst>
          </p:cNvPr>
          <p:cNvSpPr/>
          <p:nvPr/>
        </p:nvSpPr>
        <p:spPr>
          <a:xfrm>
            <a:off x="1225296" y="4977386"/>
            <a:ext cx="1828800" cy="237744"/>
          </a:xfrm>
          <a:prstGeom prst="rect">
            <a:avLst/>
          </a:prstGeom>
          <a:noFill/>
          <a:ln/>
        </p:spPr>
        <p:txBody>
          <a:bodyPr wrap="square" lIns="0" tIns="0" rIns="0" bIns="0" rtlCol="0" anchor="ctr"/>
          <a:lstStyle/>
          <a:p>
            <a:pPr marL="0" indent="0">
              <a:buNone/>
            </a:pPr>
            <a:r>
              <a:rPr lang="en-US" sz="1200" b="1" dirty="0">
                <a:solidFill>
                  <a:srgbClr val="0B2E59"/>
                </a:solidFill>
              </a:rPr>
              <a:t>Pilot</a:t>
            </a:r>
            <a:endParaRPr lang="en-US" sz="1200" dirty="0"/>
          </a:p>
        </p:txBody>
      </p:sp>
      <p:sp>
        <p:nvSpPr>
          <p:cNvPr id="50" name="Text 29">
            <a:extLst>
              <a:ext uri="{FF2B5EF4-FFF2-40B4-BE49-F238E27FC236}">
                <a16:creationId xmlns:a16="http://schemas.microsoft.com/office/drawing/2014/main" id="{920A2A78-75E5-0B58-A297-BFD265A04202}"/>
              </a:ext>
            </a:extLst>
          </p:cNvPr>
          <p:cNvSpPr/>
          <p:nvPr/>
        </p:nvSpPr>
        <p:spPr>
          <a:xfrm>
            <a:off x="1225296" y="5230370"/>
            <a:ext cx="1847088" cy="502920"/>
          </a:xfrm>
          <a:prstGeom prst="rect">
            <a:avLst/>
          </a:prstGeom>
          <a:noFill/>
          <a:ln/>
        </p:spPr>
        <p:txBody>
          <a:bodyPr wrap="square" lIns="0" tIns="0" rIns="0" bIns="0" rtlCol="0" anchor="t"/>
          <a:lstStyle/>
          <a:p>
            <a:pPr marL="0" indent="0">
              <a:buNone/>
            </a:pPr>
            <a:r>
              <a:rPr lang="en-US" sz="1000" dirty="0">
                <a:solidFill>
                  <a:srgbClr val="1F2937"/>
                </a:solidFill>
              </a:rPr>
              <a:t>Start with Near Market / Wholesale stores, where modeled P95 impact is concentrated.</a:t>
            </a:r>
            <a:endParaRPr lang="en-US" sz="1000" dirty="0"/>
          </a:p>
        </p:txBody>
      </p:sp>
      <p:sp>
        <p:nvSpPr>
          <p:cNvPr id="51" name="Shape 30">
            <a:extLst>
              <a:ext uri="{FF2B5EF4-FFF2-40B4-BE49-F238E27FC236}">
                <a16:creationId xmlns:a16="http://schemas.microsoft.com/office/drawing/2014/main" id="{6DAC354D-51FD-47BB-165C-2A3334670C1A}"/>
              </a:ext>
            </a:extLst>
          </p:cNvPr>
          <p:cNvSpPr/>
          <p:nvPr/>
        </p:nvSpPr>
        <p:spPr>
          <a:xfrm>
            <a:off x="3401568" y="4791458"/>
            <a:ext cx="2624328" cy="1124712"/>
          </a:xfrm>
          <a:prstGeom prst="roundRect">
            <a:avLst/>
          </a:prstGeom>
          <a:solidFill>
            <a:srgbClr val="FFFFFF"/>
          </a:solidFill>
          <a:ln w="12700">
            <a:solidFill>
              <a:srgbClr val="D7DEE8"/>
            </a:solidFill>
            <a:prstDash val="solid"/>
          </a:ln>
        </p:spPr>
        <p:txBody>
          <a:bodyPr/>
          <a:lstStyle/>
          <a:p>
            <a:endParaRPr lang="en-US"/>
          </a:p>
        </p:txBody>
      </p:sp>
      <p:sp>
        <p:nvSpPr>
          <p:cNvPr id="60" name="Shape 31">
            <a:extLst>
              <a:ext uri="{FF2B5EF4-FFF2-40B4-BE49-F238E27FC236}">
                <a16:creationId xmlns:a16="http://schemas.microsoft.com/office/drawing/2014/main" id="{E31638F9-E72D-CB29-7B09-18A56AC308A3}"/>
              </a:ext>
            </a:extLst>
          </p:cNvPr>
          <p:cNvSpPr/>
          <p:nvPr/>
        </p:nvSpPr>
        <p:spPr>
          <a:xfrm>
            <a:off x="3547872" y="4956050"/>
            <a:ext cx="347472" cy="347472"/>
          </a:xfrm>
          <a:prstGeom prst="ellipse">
            <a:avLst/>
          </a:prstGeom>
          <a:solidFill>
            <a:srgbClr val="2B5CAA"/>
          </a:solidFill>
          <a:ln w="12700">
            <a:noFill/>
            <a:prstDash val="solid"/>
          </a:ln>
        </p:spPr>
        <p:txBody>
          <a:bodyPr/>
          <a:lstStyle/>
          <a:p>
            <a:endParaRPr lang="en-US"/>
          </a:p>
        </p:txBody>
      </p:sp>
      <p:sp>
        <p:nvSpPr>
          <p:cNvPr id="61" name="Text 32">
            <a:extLst>
              <a:ext uri="{FF2B5EF4-FFF2-40B4-BE49-F238E27FC236}">
                <a16:creationId xmlns:a16="http://schemas.microsoft.com/office/drawing/2014/main" id="{3D8A5E89-B082-AE15-FECC-41C34038837F}"/>
              </a:ext>
            </a:extLst>
          </p:cNvPr>
          <p:cNvSpPr/>
          <p:nvPr/>
        </p:nvSpPr>
        <p:spPr>
          <a:xfrm>
            <a:off x="3547872" y="5019623"/>
            <a:ext cx="347472" cy="228600"/>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62" name="Text 33">
            <a:extLst>
              <a:ext uri="{FF2B5EF4-FFF2-40B4-BE49-F238E27FC236}">
                <a16:creationId xmlns:a16="http://schemas.microsoft.com/office/drawing/2014/main" id="{AC3C7877-4390-DA69-9882-E6BF5FC86575}"/>
              </a:ext>
            </a:extLst>
          </p:cNvPr>
          <p:cNvSpPr/>
          <p:nvPr/>
        </p:nvSpPr>
        <p:spPr>
          <a:xfrm>
            <a:off x="3986784" y="4977386"/>
            <a:ext cx="1828800" cy="237744"/>
          </a:xfrm>
          <a:prstGeom prst="rect">
            <a:avLst/>
          </a:prstGeom>
          <a:noFill/>
          <a:ln/>
        </p:spPr>
        <p:txBody>
          <a:bodyPr wrap="square" lIns="0" tIns="0" rIns="0" bIns="0" rtlCol="0" anchor="ctr"/>
          <a:lstStyle/>
          <a:p>
            <a:pPr marL="0" indent="0">
              <a:buNone/>
            </a:pPr>
            <a:r>
              <a:rPr lang="en-US" sz="1200" b="1" dirty="0">
                <a:solidFill>
                  <a:srgbClr val="0B2E59"/>
                </a:solidFill>
              </a:rPr>
              <a:t>Monitor</a:t>
            </a:r>
            <a:endParaRPr lang="en-US" sz="1200" dirty="0"/>
          </a:p>
        </p:txBody>
      </p:sp>
      <p:sp>
        <p:nvSpPr>
          <p:cNvPr id="63" name="Text 34">
            <a:extLst>
              <a:ext uri="{FF2B5EF4-FFF2-40B4-BE49-F238E27FC236}">
                <a16:creationId xmlns:a16="http://schemas.microsoft.com/office/drawing/2014/main" id="{560B8741-1941-36C5-3190-B240368B6909}"/>
              </a:ext>
            </a:extLst>
          </p:cNvPr>
          <p:cNvSpPr/>
          <p:nvPr/>
        </p:nvSpPr>
        <p:spPr>
          <a:xfrm>
            <a:off x="3986784" y="5230370"/>
            <a:ext cx="1847088" cy="502920"/>
          </a:xfrm>
          <a:prstGeom prst="rect">
            <a:avLst/>
          </a:prstGeom>
          <a:noFill/>
          <a:ln/>
        </p:spPr>
        <p:txBody>
          <a:bodyPr wrap="square" lIns="0" tIns="0" rIns="0" bIns="0" rtlCol="0" anchor="t"/>
          <a:lstStyle/>
          <a:p>
            <a:pPr marL="0" indent="0">
              <a:buNone/>
            </a:pPr>
            <a:r>
              <a:rPr lang="en-US" sz="1000" dirty="0">
                <a:solidFill>
                  <a:srgbClr val="1F2937"/>
                </a:solidFill>
              </a:rPr>
              <a:t>Track sales, basket size, discount exposure, complaints, and split transactions.</a:t>
            </a:r>
            <a:endParaRPr lang="en-US" sz="1000" dirty="0"/>
          </a:p>
        </p:txBody>
      </p:sp>
      <p:sp>
        <p:nvSpPr>
          <p:cNvPr id="64" name="Shape 35">
            <a:extLst>
              <a:ext uri="{FF2B5EF4-FFF2-40B4-BE49-F238E27FC236}">
                <a16:creationId xmlns:a16="http://schemas.microsoft.com/office/drawing/2014/main" id="{8166CE6B-D002-1471-2448-9FDE819F1CF5}"/>
              </a:ext>
            </a:extLst>
          </p:cNvPr>
          <p:cNvSpPr/>
          <p:nvPr/>
        </p:nvSpPr>
        <p:spPr>
          <a:xfrm>
            <a:off x="6163056" y="4791458"/>
            <a:ext cx="2624328" cy="1124712"/>
          </a:xfrm>
          <a:prstGeom prst="roundRect">
            <a:avLst/>
          </a:prstGeom>
          <a:solidFill>
            <a:srgbClr val="FFFFFF"/>
          </a:solidFill>
          <a:ln w="12700">
            <a:solidFill>
              <a:srgbClr val="D7DEE8"/>
            </a:solidFill>
            <a:prstDash val="solid"/>
          </a:ln>
        </p:spPr>
        <p:txBody>
          <a:bodyPr/>
          <a:lstStyle/>
          <a:p>
            <a:endParaRPr lang="en-US"/>
          </a:p>
        </p:txBody>
      </p:sp>
      <p:sp>
        <p:nvSpPr>
          <p:cNvPr id="65" name="Shape 36">
            <a:extLst>
              <a:ext uri="{FF2B5EF4-FFF2-40B4-BE49-F238E27FC236}">
                <a16:creationId xmlns:a16="http://schemas.microsoft.com/office/drawing/2014/main" id="{FD41C443-5CB7-FC88-C2EC-BB1EA42B12BE}"/>
              </a:ext>
            </a:extLst>
          </p:cNvPr>
          <p:cNvSpPr/>
          <p:nvPr/>
        </p:nvSpPr>
        <p:spPr>
          <a:xfrm>
            <a:off x="6309360" y="4956050"/>
            <a:ext cx="347472" cy="347472"/>
          </a:xfrm>
          <a:prstGeom prst="ellipse">
            <a:avLst/>
          </a:prstGeom>
          <a:solidFill>
            <a:srgbClr val="2B5CAA"/>
          </a:solidFill>
          <a:ln w="12700">
            <a:noFill/>
            <a:prstDash val="solid"/>
          </a:ln>
        </p:spPr>
        <p:txBody>
          <a:bodyPr/>
          <a:lstStyle/>
          <a:p>
            <a:endParaRPr lang="en-US"/>
          </a:p>
        </p:txBody>
      </p:sp>
      <p:sp>
        <p:nvSpPr>
          <p:cNvPr id="66" name="Text 37">
            <a:extLst>
              <a:ext uri="{FF2B5EF4-FFF2-40B4-BE49-F238E27FC236}">
                <a16:creationId xmlns:a16="http://schemas.microsoft.com/office/drawing/2014/main" id="{975F00C7-41C3-9987-7399-4042E1192FC5}"/>
              </a:ext>
            </a:extLst>
          </p:cNvPr>
          <p:cNvSpPr/>
          <p:nvPr/>
        </p:nvSpPr>
        <p:spPr>
          <a:xfrm>
            <a:off x="6309360" y="5019623"/>
            <a:ext cx="347472" cy="228600"/>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67" name="Text 38">
            <a:extLst>
              <a:ext uri="{FF2B5EF4-FFF2-40B4-BE49-F238E27FC236}">
                <a16:creationId xmlns:a16="http://schemas.microsoft.com/office/drawing/2014/main" id="{11D8BF25-0C63-1ED9-DB6F-BA2FAF41952B}"/>
              </a:ext>
            </a:extLst>
          </p:cNvPr>
          <p:cNvSpPr/>
          <p:nvPr/>
        </p:nvSpPr>
        <p:spPr>
          <a:xfrm>
            <a:off x="6748272" y="4977386"/>
            <a:ext cx="1828800" cy="237744"/>
          </a:xfrm>
          <a:prstGeom prst="rect">
            <a:avLst/>
          </a:prstGeom>
          <a:noFill/>
          <a:ln/>
        </p:spPr>
        <p:txBody>
          <a:bodyPr wrap="square" lIns="0" tIns="0" rIns="0" bIns="0" rtlCol="0" anchor="ctr"/>
          <a:lstStyle/>
          <a:p>
            <a:pPr marL="0" indent="0">
              <a:buNone/>
            </a:pPr>
            <a:r>
              <a:rPr lang="en-US" sz="1200" b="1" dirty="0">
                <a:solidFill>
                  <a:srgbClr val="0B2E59"/>
                </a:solidFill>
              </a:rPr>
              <a:t>Recalibrate</a:t>
            </a:r>
            <a:endParaRPr lang="en-US" sz="1200" dirty="0"/>
          </a:p>
        </p:txBody>
      </p:sp>
      <p:sp>
        <p:nvSpPr>
          <p:cNvPr id="68" name="Text 39">
            <a:extLst>
              <a:ext uri="{FF2B5EF4-FFF2-40B4-BE49-F238E27FC236}">
                <a16:creationId xmlns:a16="http://schemas.microsoft.com/office/drawing/2014/main" id="{B6F8A6B9-084C-4E1D-2842-94ED2FA97F9B}"/>
              </a:ext>
            </a:extLst>
          </p:cNvPr>
          <p:cNvSpPr/>
          <p:nvPr/>
        </p:nvSpPr>
        <p:spPr>
          <a:xfrm>
            <a:off x="6748272" y="5230370"/>
            <a:ext cx="1847088" cy="502920"/>
          </a:xfrm>
          <a:prstGeom prst="rect">
            <a:avLst/>
          </a:prstGeom>
          <a:noFill/>
          <a:ln/>
        </p:spPr>
        <p:txBody>
          <a:bodyPr wrap="square" lIns="0" tIns="0" rIns="0" bIns="0" rtlCol="0" anchor="t"/>
          <a:lstStyle/>
          <a:p>
            <a:pPr marL="0" indent="0">
              <a:buNone/>
            </a:pPr>
            <a:r>
              <a:rPr lang="en-US" sz="1000" dirty="0">
                <a:solidFill>
                  <a:srgbClr val="1F2937"/>
                </a:solidFill>
              </a:rPr>
              <a:t>Refresh P95 caps periodically using the latest Non JSM baseline.</a:t>
            </a:r>
            <a:endParaRPr lang="en-US" sz="1000" dirty="0"/>
          </a:p>
        </p:txBody>
      </p:sp>
      <p:sp>
        <p:nvSpPr>
          <p:cNvPr id="69" name="Shape 40">
            <a:extLst>
              <a:ext uri="{FF2B5EF4-FFF2-40B4-BE49-F238E27FC236}">
                <a16:creationId xmlns:a16="http://schemas.microsoft.com/office/drawing/2014/main" id="{C02A41D1-48DE-FF53-89D4-B6D3A674CF9B}"/>
              </a:ext>
            </a:extLst>
          </p:cNvPr>
          <p:cNvSpPr/>
          <p:nvPr/>
        </p:nvSpPr>
        <p:spPr>
          <a:xfrm>
            <a:off x="8924544" y="4791458"/>
            <a:ext cx="2624328" cy="1124712"/>
          </a:xfrm>
          <a:prstGeom prst="roundRect">
            <a:avLst/>
          </a:prstGeom>
          <a:solidFill>
            <a:srgbClr val="FFFFFF"/>
          </a:solidFill>
          <a:ln w="12700">
            <a:solidFill>
              <a:srgbClr val="D7DEE8"/>
            </a:solidFill>
            <a:prstDash val="solid"/>
          </a:ln>
        </p:spPr>
        <p:txBody>
          <a:bodyPr/>
          <a:lstStyle/>
          <a:p>
            <a:endParaRPr lang="en-US"/>
          </a:p>
        </p:txBody>
      </p:sp>
      <p:sp>
        <p:nvSpPr>
          <p:cNvPr id="70" name="Shape 41">
            <a:extLst>
              <a:ext uri="{FF2B5EF4-FFF2-40B4-BE49-F238E27FC236}">
                <a16:creationId xmlns:a16="http://schemas.microsoft.com/office/drawing/2014/main" id="{3D5D455A-ECC6-C085-FC12-828EBEFAC496}"/>
              </a:ext>
            </a:extLst>
          </p:cNvPr>
          <p:cNvSpPr/>
          <p:nvPr/>
        </p:nvSpPr>
        <p:spPr>
          <a:xfrm>
            <a:off x="9070848" y="4956050"/>
            <a:ext cx="347472" cy="347472"/>
          </a:xfrm>
          <a:prstGeom prst="ellipse">
            <a:avLst/>
          </a:prstGeom>
          <a:solidFill>
            <a:srgbClr val="2B5CAA"/>
          </a:solidFill>
          <a:ln w="12700">
            <a:noFill/>
            <a:prstDash val="solid"/>
          </a:ln>
        </p:spPr>
        <p:txBody>
          <a:bodyPr/>
          <a:lstStyle/>
          <a:p>
            <a:endParaRPr lang="en-US"/>
          </a:p>
        </p:txBody>
      </p:sp>
      <p:sp>
        <p:nvSpPr>
          <p:cNvPr id="71" name="Text 42">
            <a:extLst>
              <a:ext uri="{FF2B5EF4-FFF2-40B4-BE49-F238E27FC236}">
                <a16:creationId xmlns:a16="http://schemas.microsoft.com/office/drawing/2014/main" id="{DF638FF5-55AA-0387-56A4-9992D947224C}"/>
              </a:ext>
            </a:extLst>
          </p:cNvPr>
          <p:cNvSpPr/>
          <p:nvPr/>
        </p:nvSpPr>
        <p:spPr>
          <a:xfrm>
            <a:off x="9070848" y="5019623"/>
            <a:ext cx="347472" cy="228600"/>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72" name="Text 43">
            <a:extLst>
              <a:ext uri="{FF2B5EF4-FFF2-40B4-BE49-F238E27FC236}">
                <a16:creationId xmlns:a16="http://schemas.microsoft.com/office/drawing/2014/main" id="{BB463EE7-9537-58CD-E03D-6063874C0565}"/>
              </a:ext>
            </a:extLst>
          </p:cNvPr>
          <p:cNvSpPr/>
          <p:nvPr/>
        </p:nvSpPr>
        <p:spPr>
          <a:xfrm>
            <a:off x="9509760" y="4977386"/>
            <a:ext cx="1828800" cy="237744"/>
          </a:xfrm>
          <a:prstGeom prst="rect">
            <a:avLst/>
          </a:prstGeom>
          <a:noFill/>
          <a:ln/>
        </p:spPr>
        <p:txBody>
          <a:bodyPr wrap="square" lIns="0" tIns="0" rIns="0" bIns="0" rtlCol="0" anchor="ctr"/>
          <a:lstStyle/>
          <a:p>
            <a:pPr marL="0" indent="0">
              <a:buNone/>
            </a:pPr>
            <a:r>
              <a:rPr lang="en-US" sz="1200" b="1" dirty="0">
                <a:solidFill>
                  <a:srgbClr val="0B2E59"/>
                </a:solidFill>
              </a:rPr>
              <a:t>Scale</a:t>
            </a:r>
            <a:endParaRPr lang="en-US" sz="1200" dirty="0"/>
          </a:p>
        </p:txBody>
      </p:sp>
      <p:sp>
        <p:nvSpPr>
          <p:cNvPr id="73" name="Text 44">
            <a:extLst>
              <a:ext uri="{FF2B5EF4-FFF2-40B4-BE49-F238E27FC236}">
                <a16:creationId xmlns:a16="http://schemas.microsoft.com/office/drawing/2014/main" id="{831EB461-8AC0-6F25-3A2C-8C3357884DC5}"/>
              </a:ext>
            </a:extLst>
          </p:cNvPr>
          <p:cNvSpPr/>
          <p:nvPr/>
        </p:nvSpPr>
        <p:spPr>
          <a:xfrm>
            <a:off x="9509760" y="5230370"/>
            <a:ext cx="1847088" cy="502920"/>
          </a:xfrm>
          <a:prstGeom prst="rect">
            <a:avLst/>
          </a:prstGeom>
          <a:noFill/>
          <a:ln/>
        </p:spPr>
        <p:txBody>
          <a:bodyPr wrap="square" lIns="0" tIns="0" rIns="0" bIns="0" rtlCol="0" anchor="t"/>
          <a:lstStyle/>
          <a:p>
            <a:pPr marL="0" indent="0">
              <a:buNone/>
            </a:pPr>
            <a:r>
              <a:rPr lang="en-US" sz="1000" dirty="0">
                <a:solidFill>
                  <a:srgbClr val="1F2937"/>
                </a:solidFill>
              </a:rPr>
              <a:t>Expand only if pilot KPI remain stable and customer impact is acceptable.</a:t>
            </a:r>
            <a:endParaRPr lang="en-US" sz="1000" dirty="0"/>
          </a:p>
        </p:txBody>
      </p:sp>
    </p:spTree>
    <p:extLst>
      <p:ext uri="{BB962C8B-B14F-4D97-AF65-F5344CB8AC3E}">
        <p14:creationId xmlns:p14="http://schemas.microsoft.com/office/powerpoint/2010/main" val="2819539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B121A-730B-496E-07FE-FD0FDD385B3E}"/>
            </a:ext>
          </a:extLst>
        </p:cNvPr>
        <p:cNvGrpSpPr/>
        <p:nvPr/>
      </p:nvGrpSpPr>
      <p:grpSpPr>
        <a:xfrm>
          <a:off x="0" y="0"/>
          <a:ext cx="0" cy="0"/>
          <a:chOff x="0" y="0"/>
          <a:chExt cx="0" cy="0"/>
        </a:xfrm>
      </p:grpSpPr>
      <p:pic>
        <p:nvPicPr>
          <p:cNvPr id="9218" name="Picture 2" descr="Generated image 1">
            <a:extLst>
              <a:ext uri="{FF2B5EF4-FFF2-40B4-BE49-F238E27FC236}">
                <a16:creationId xmlns:a16="http://schemas.microsoft.com/office/drawing/2014/main" id="{AF3ED4D3-A80A-F23E-643D-FCF263DD5F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121856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445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564</TotalTime>
  <Words>1801</Words>
  <Application>Microsoft Macintosh PowerPoint</Application>
  <PresentationFormat>Widescreen</PresentationFormat>
  <Paragraphs>379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Aptos</vt:lpstr>
      <vt:lpstr>Aptos Display</vt:lpstr>
      <vt:lpstr>Arial</vt:lpstr>
      <vt:lpstr>Calibri</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rsudarmaji413</cp:lastModifiedBy>
  <cp:revision>9</cp:revision>
  <dcterms:created xsi:type="dcterms:W3CDTF">2013-01-27T09:14:16Z</dcterms:created>
  <dcterms:modified xsi:type="dcterms:W3CDTF">2026-10-19T15:19:01Z</dcterms:modified>
  <cp:category/>
</cp:coreProperties>
</file>